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webextensions/webextension2.xml" ContentType="application/vnd.ms-office.webextension+xml"/>
  <Override PartName="/ppt/webextensions/webextension3.xml" ContentType="application/vnd.ms-office.webextension+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57" r:id="rId3"/>
    <p:sldId id="258" r:id="rId4"/>
    <p:sldId id="278" r:id="rId5"/>
    <p:sldId id="260" r:id="rId6"/>
    <p:sldId id="279" r:id="rId7"/>
    <p:sldId id="285" r:id="rId8"/>
    <p:sldId id="262" r:id="rId9"/>
    <p:sldId id="263" r:id="rId10"/>
    <p:sldId id="264" r:id="rId11"/>
    <p:sldId id="295" r:id="rId12"/>
    <p:sldId id="265" r:id="rId13"/>
    <p:sldId id="297" r:id="rId14"/>
    <p:sldId id="298" r:id="rId15"/>
    <p:sldId id="302" r:id="rId16"/>
    <p:sldId id="303" r:id="rId17"/>
    <p:sldId id="286" r:id="rId18"/>
    <p:sldId id="269" r:id="rId19"/>
    <p:sldId id="271" r:id="rId20"/>
    <p:sldId id="268" r:id="rId21"/>
    <p:sldId id="304" r:id="rId22"/>
    <p:sldId id="270" r:id="rId23"/>
    <p:sldId id="307" r:id="rId24"/>
    <p:sldId id="272" r:id="rId25"/>
    <p:sldId id="310" r:id="rId26"/>
    <p:sldId id="273" r:id="rId27"/>
    <p:sldId id="311" r:id="rId28"/>
    <p:sldId id="316" r:id="rId29"/>
    <p:sldId id="312" r:id="rId30"/>
    <p:sldId id="313" r:id="rId31"/>
    <p:sldId id="314" r:id="rId32"/>
    <p:sldId id="315" r:id="rId33"/>
    <p:sldId id="274" r:id="rId34"/>
    <p:sldId id="317" r:id="rId35"/>
    <p:sldId id="276" r:id="rId36"/>
    <p:sldId id="277" r:id="rId37"/>
  </p:sldIdLst>
  <p:sldSz cx="9144000" cy="5143500" type="screen16x9"/>
  <p:notesSz cx="5143500" cy="9144000"/>
  <p:custDataLst>
    <p:tags r:id="rId39"/>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er" id="{8833E8AD-F744-62AC-AEE7-1D4AB9C31DAD}">
          <p14:sldIdLst>
            <p14:sldId id="256"/>
            <p14:sldId id="257"/>
            <p14:sldId id="258"/>
            <p14:sldId id="278"/>
            <p14:sldId id="260"/>
            <p14:sldId id="279"/>
            <p14:sldId id="285"/>
            <p14:sldId id="262"/>
            <p14:sldId id="263"/>
          </p14:sldIdLst>
        </p14:section>
        <p14:section name="Part 1: Learning" id="{403CC32E-42BE-DD0D-C296-2DD20B411C6A}">
          <p14:sldIdLst>
            <p14:sldId id="264"/>
            <p14:sldId id="295"/>
            <p14:sldId id="265"/>
            <p14:sldId id="297"/>
            <p14:sldId id="298"/>
            <p14:sldId id="302"/>
            <p14:sldId id="303"/>
            <p14:sldId id="286"/>
            <p14:sldId id="269"/>
            <p14:sldId id="271"/>
            <p14:sldId id="268"/>
            <p14:sldId id="304"/>
            <p14:sldId id="270"/>
            <p14:sldId id="307"/>
            <p14:sldId id="272"/>
            <p14:sldId id="310"/>
            <p14:sldId id="273"/>
            <p14:sldId id="311"/>
            <p14:sldId id="316"/>
            <p14:sldId id="312"/>
            <p14:sldId id="313"/>
            <p14:sldId id="314"/>
            <p14:sldId id="315"/>
            <p14:sldId id="274"/>
            <p14:sldId id="317"/>
          </p14:sldIdLst>
        </p14:section>
        <p14:section name="Work time and debrief" id="{18E1069A-10C9-D1F8-EEEA-67997AF6010F}">
          <p14:sldIdLst>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844126-18E0-450D-95F0-DF2753FAAE85}" v="101" dt="2026-10-15T13:52:40.4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5"/>
    <p:restoredTop sz="60647"/>
  </p:normalViewPr>
  <p:slideViewPr>
    <p:cSldViewPr snapToGrid="0" snapToObjects="1">
      <p:cViewPr varScale="1">
        <p:scale>
          <a:sx n="94" d="100"/>
          <a:sy n="94" d="100"/>
        </p:scale>
        <p:origin x="68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gs" Target="tags/tag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2D42C8DD-A3F8-4358-9D0C-5514F98A529C}" type="datetimeFigureOut">
              <a:t>10/15/26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67A92129-0E56-4C80-8CE1-B22300BCD2D3}" type="slidenum">
              <a:t>‹#›</a:t>
            </a:fld>
            <a:endParaRPr lang="en-US"/>
          </a:p>
        </p:txBody>
      </p:sp>
    </p:spTree>
    <p:extLst>
      <p:ext uri="{BB962C8B-B14F-4D97-AF65-F5344CB8AC3E}">
        <p14:creationId xmlns:p14="http://schemas.microsoft.com/office/powerpoint/2010/main" val="23649586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Welcome as people arrive. In person: settle the room. Virtual: welcome people in the chat.
· Introduce yourself; Amy introduces herself (she is joining virtually in both sessions).
· This is a conversation about teaching and research, not a sales pitch for tools. No one is being asked to love AI today.
· [Title is a working title. Edit as needed.]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0:01 · Two halves, one thread: human judgment stays in charge, in learning and in research.
· Part 1 (Megan): diagnosing where AI could weaken or support the thinking your assignment exists to build.
· Part 2 (Amy): the research side of the same question.
· Then work time with tools from both of us, and a debrief. Five minutes of wiggle room built in.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0:02 · Let the quote land. Name any resistance in the room as reasonable.
· Then the turn: our students did not ask for it either, and they are using 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0:06 · The through-line for the whole session: AT Baylor we are focused on human flourishing. When it comes to AI this means stewarding AI in ways that amplify humans in the loop and keep the human in control of the machine.
</a:t>
            </a:r>
          </a:p>
          <a:p>
            <a:r>
              <a:rPr lang="en-US" dirty="0"/>
              <a:t>You are in a learning loop too. So are your students. So are all of us, figuring this out together.</a:t>
            </a:r>
          </a:p>
          <a:p>
            <a:endParaRPr lang="en-US" dirty="0"/>
          </a:p>
          <a:p>
            <a:r>
              <a:rPr lang="en-US" dirty="0"/>
              <a:t>Our objective today is to equip you with strategies that keep you directing the learning loop and deciding when to invite AI into the process with clearly defined boundaries that keep students doing the thinking and making the decisions, not the other way around. </a:t>
            </a:r>
          </a:p>
          <a:p>
            <a:r>
              <a:rPr lang="en-US" dirty="0"/>
              <a:t>
Part 1 is the learning loop. </a:t>
            </a:r>
          </a:p>
          <a:p>
            <a:r>
              <a:rPr lang="en-US" dirty="0"/>
              <a:t>Part 2 (Amy) is the research loop.
· (HITL² framing: Alstot, 2026.)</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0:08 · 3 minutes. A frame for thinking, not a checklist.</a:t>
            </a:r>
          </a:p>
          <a:p>
            <a:endParaRPr lang="en-US" dirty="0"/>
          </a:p>
          <a:p>
            <a:r>
              <a:rPr lang="en-US" dirty="0"/>
              <a:t>Anthropic introduced a framework for AI fluency – rather than thinking about specific skills the 4Ds are an interconnected collection of skills, knowledge, insights, and values., Anthropic frames AI Fluency as interacting with AI systems in ways that are  effective, efficient, ethical, and safe.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Consider this a mental model for the decision-making process - this is not a learning theory or set of rules. </a:t>
            </a:r>
          </a:p>
          <a:p>
            <a:r>
              <a:rPr lang="en-US" dirty="0"/>
              <a:t>
· Delegation comes first: what is the goal, and would AI support or undermine reaching it?
· Description: say what you want, and what you do not want.
· Discernment and Diligence keep the human accountable for what comes back.
· Delegation is highlighted on purpose: Part 1 is a delegation question about your assignment.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0:08 · 3 minutes. A frame for thinking, not a checklist.</a:t>
            </a:r>
          </a:p>
          <a:p>
            <a:endParaRPr lang="en-US" dirty="0"/>
          </a:p>
          <a:p>
            <a:r>
              <a:rPr lang="en-US" dirty="0"/>
              <a:t>The other consideration is the role you tell AI to take. </a:t>
            </a:r>
          </a:p>
          <a:p>
            <a:endParaRPr lang="en-US" dirty="0"/>
          </a:p>
          <a:p>
            <a:r>
              <a:rPr lang="en-US" dirty="0"/>
              <a:t>Automation: Drafting an announcement with reminders for upcoming deadlines. You review and make minor edits. But AI did most of the generating</a:t>
            </a:r>
          </a:p>
          <a:p>
            <a:endParaRPr lang="en-US" dirty="0"/>
          </a:p>
          <a:p>
            <a:r>
              <a:rPr lang="en-US" dirty="0"/>
              <a:t>Augmentation: Most of your assignments are papers. You brainstorm with AI alternative types of assessment. You work with AI to develop two alternative assignments complete with directions, a rubric that can assess all three, and cross check each assignment with the learning objectives. </a:t>
            </a:r>
          </a:p>
          <a:p>
            <a:endParaRPr lang="en-US" dirty="0"/>
          </a:p>
          <a:p>
            <a:r>
              <a:rPr lang="en-US" dirty="0"/>
              <a:t>Agency: You write a prompt that directs AI on how to act as a   Socratic coach that gives students feedback on a task, but not do the work for them. Then you give students the prompt and AI engages the student.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0:11 · 3 minutes. Each level builds on the last. Read the WHY row left to right: what each level is for.
· The continuum describes where an assignment sits, not whether it is good. Level 1 can be the right call.
· Quick reflection: where does one of your assignments sit today? Where would you want it to sit? In person: tell a neighbor. Virtual: drop a level number in the chat.
· Bridge: the stress test is how you decide, task by task, where AI belongs.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0:13 · 2 minutes. Same continuum, now read for what each level develops in the learner.
· The level follows from the cognitive goal of the assignment, not from how much AI is available.
· Point to Level 1: "No, not here" is a fluent answer when the unaided effort is the learning.
· Bridge: the stress test shows, task by task, which goal each part of your assignment serves.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 · Part 1. We are going to look at an assignment the way a student with AI would, and then the way you would.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Reused from Truett. Working memory is limited.
We can't change intrinsic much. We can design to reduce extraneous and invite germane.</a:t>
            </a:r>
          </a:p>
          <a:p>
            <a:endParaRPr lang="en-US" dirty="0"/>
          </a:p>
          <a:p>
            <a:r>
              <a:rPr lang="en-US" dirty="0"/>
              <a:t>Intrinsic: A lesson plan: The inherent complexity that considers </a:t>
            </a:r>
          </a:p>
          <a:p>
            <a:pPr marL="171450" indent="-171450">
              <a:buFont typeface="Arial" panose="020B0604020202020204" pitchFamily="34" charset="0"/>
              <a:buChar char="•"/>
            </a:pPr>
            <a:r>
              <a:rPr lang="en-US" dirty="0"/>
              <a:t>alignment of standard, learning objective, content, and assessment</a:t>
            </a:r>
          </a:p>
          <a:p>
            <a:pPr marL="171450" indent="-171450">
              <a:buFont typeface="Arial" panose="020B0604020202020204" pitchFamily="34" charset="0"/>
              <a:buChar char="•"/>
            </a:pPr>
            <a:r>
              <a:rPr lang="en-US" dirty="0"/>
              <a:t>Sequencing from the anticipatory set through independent practice and assessment</a:t>
            </a:r>
          </a:p>
          <a:p>
            <a:pPr marL="171450" indent="-171450">
              <a:buFont typeface="Arial" panose="020B0604020202020204" pitchFamily="34" charset="0"/>
              <a:buChar char="•"/>
            </a:pPr>
            <a:r>
              <a:rPr lang="en-US" dirty="0"/>
              <a:t>Access – universal design considerations that support varying readiness levels, language needs, and IEP/504 accommodations </a:t>
            </a:r>
          </a:p>
          <a:p>
            <a:pPr marL="171450" indent="-171450">
              <a:buFont typeface="Arial" panose="020B0604020202020204" pitchFamily="34" charset="0"/>
              <a:buChar char="•"/>
            </a:pPr>
            <a:r>
              <a:rPr lang="en-US" dirty="0"/>
              <a:t>Classroom Management – guiding 5 </a:t>
            </a:r>
            <a:r>
              <a:rPr lang="en-US" dirty="0" err="1"/>
              <a:t>yearolds</a:t>
            </a:r>
            <a:r>
              <a:rPr lang="en-US" dirty="0"/>
              <a:t> and keeping their attention through a structured lesson </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dirty="0"/>
              <a:t>Extraneous – how the material is presented in your instruction, Canvas course, and assignment directions</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German – how the student approaches the task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 · Part 1 in one line.
· "When used well" carries the weight. The next 20 minutes are about finding where "well" is at stake in your own assignment.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Let the word land. This is what students type.
· It is not a prompt. It is a request to be relieved of the task.
· Editing and improving writing is among the most common student uses (Chung et al., 2026; Alstot, 2026).</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0:18 · OPTIONAL. Skip if behind time; the grid slides matter more.
· HELP is the word students type. It is a request to be relieved of the task.
· Access to an explanation inflates our sense of what we know ourselves (Fisher et al., 2015).
· Klein and Klein call this illusory competence: access mistaken for ability.
· In my interviews, students realized how little they understood only when asked to explain it (Alstot, 2026).</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6591777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A92129-0E56-4C80-8CE1-B22300BCD2D3}" type="slidenum">
              <a:rPr lang="en-US" smtClean="0"/>
              <a:t>15</a:t>
            </a:fld>
            <a:endParaRPr lang="en-US"/>
          </a:p>
        </p:txBody>
      </p:sp>
    </p:spTree>
    <p:extLst>
      <p:ext uri="{BB962C8B-B14F-4D97-AF65-F5344CB8AC3E}">
        <p14:creationId xmlns:p14="http://schemas.microsoft.com/office/powerpoint/2010/main" val="3650467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0:16 · Same tool, two outcomes. The difference is how it is used and who does the thinking.
· Germane load is where understanding is built. Fragile learning skips it; fortified learning keeps the learner doing it.
· Fortified does not mean AI-free. It means the learner keeps the thinking.
· Source note: Klein and Klein's term is the "hollowed" mind; "fragile" is our label for the same pattern.
· If asked: later cognitive load theory treats germane load as the resources devoted to intrinsic load (Sweller et al., 2019).</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0AA5A-C184-D27A-869F-0A5F6037E3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47E9F0-6D35-EE3A-590E-9CB741B2A1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67B3EF-9E38-6878-3F8A-F212217E52BA}"/>
              </a:ext>
            </a:extLst>
          </p:cNvPr>
          <p:cNvSpPr>
            <a:spLocks noGrp="1"/>
          </p:cNvSpPr>
          <p:nvPr>
            <p:ph type="body" idx="1"/>
          </p:nvPr>
        </p:nvSpPr>
        <p:spPr/>
        <p:txBody>
          <a:bodyPr/>
          <a:lstStyle/>
          <a:p>
            <a:r>
              <a:rPr lang="en-US" dirty="0"/>
              <a:t>0:11 · 3 minutes. Each level builds on the last. Read the WHY row left to right: what each level is for.
· The continuum describes where an assignment sits, not whether it is good. Level 1 can be the right call.
· Quick reflection: where does one of your assignments sit today? Where would you want it to sit? In person: tell a neighbor. Virtual: drop a level number in the chat.
· Bridge: the stress test is how you decide, task by task, where AI belongs.</a:t>
            </a:r>
          </a:p>
        </p:txBody>
      </p:sp>
      <p:sp>
        <p:nvSpPr>
          <p:cNvPr id="4" name="Slide Number Placeholder 3">
            <a:extLst>
              <a:ext uri="{FF2B5EF4-FFF2-40B4-BE49-F238E27FC236}">
                <a16:creationId xmlns:a16="http://schemas.microsoft.com/office/drawing/2014/main" id="{06244BF3-606A-C00A-1665-277733FA2901}"/>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7772768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0:21 · The process you will start in work time. The guide walks through each move.
· List and Name are different: the deliverable is what they hand in; the thinking is what it is supposed to build.
· Run it through AI the way a student would: paste the prompt, ask for help, see what comes back.
· Then read each task on two axes. Next slide.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0:26 · 3 minutes. Five of the nine tasks from the Bundle 1 stress test.
· Context: AI invented a class. Candidates have a semester in the placement. Preserve: AI receives this, never generates it.
· Sequencing: AI strong, candidates struggle. They have never seen a fully reasoned sequence. Vulnerable, and a candidate for a designed AI role.
· Theory: weak on both sides. That is direct instruction, not an AI task.
· Strategy Book: both strong. The task no longer discriminates. Cut it and reclaim the space.
· Note the rationale row. Next slide.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0:19 · This is not about students struggling with AI. It is about what students do on their own, without AI.
· You know these places: where students historically do not do well, get confused, or get stuck.
· Decoding the Disciplines starts there: the bottleneck (Middendorf &amp; Pace, 2004).
· The stress test compares that with what AI does on its own.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AB58C-EB6C-A891-9BAE-4531EF9E60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1E87B0-C114-D3C4-93EF-D7F628808F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6E4E74-92A3-3466-98B3-0278442E3744}"/>
              </a:ext>
            </a:extLst>
          </p:cNvPr>
          <p:cNvSpPr>
            <a:spLocks noGrp="1"/>
          </p:cNvSpPr>
          <p:nvPr>
            <p:ph type="body" idx="1"/>
          </p:nvPr>
        </p:nvSpPr>
        <p:spPr/>
        <p:txBody>
          <a:bodyPr/>
          <a:lstStyle/>
          <a:p>
            <a:r>
              <a:rPr lang="en-US" dirty="0"/>
              <a:t>0:26 · 3 minutes. Five of the nine tasks from the Bundle 1 stress test.
· Context: AI invented a class. Candidates have a semester in the placement. Preserve: AI receives this, never generates it.
· Sequencing: AI strong, candidates struggle. They have never seen a fully reasoned sequence. Vulnerable, and a candidate for a designed AI role.
· Theory: weak on both sides. That is direct instruction, not an AI task.
· Strategy Book: both strong. The task no longer discriminates. Cut it and reclaim the space.
· Note the rationale row. Next slide.</a:t>
            </a:r>
          </a:p>
        </p:txBody>
      </p:sp>
      <p:sp>
        <p:nvSpPr>
          <p:cNvPr id="4" name="Slide Number Placeholder 3">
            <a:extLst>
              <a:ext uri="{FF2B5EF4-FFF2-40B4-BE49-F238E27FC236}">
                <a16:creationId xmlns:a16="http://schemas.microsoft.com/office/drawing/2014/main" id="{DF5396CD-11D9-F832-A182-8A694DEC1813}"/>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1163410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0:23 · 3 minutes. The heart of the session.
· Two axes: what AI does on its own, and what students do on their own. Your expertise supplies the second axis.
· Top left is the vulnerable point: AI is strong where students struggle. That is where cognitive offloading can produce fragile learning.
· The decision there is whether to integrate AI, and if so, in what role, so the student works at the germane level instead of skipping it.
· A task AI performs well is only a problem if students already do it well too (Cut or Compress), or if it lands where they struggle without a designed role.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B7B8D-2A33-2999-3581-CA69E0C7D1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3F9D04-6032-C58D-2172-35B45E0A1E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BA16A5-7095-D94A-5102-85B5E07BBC6C}"/>
              </a:ext>
            </a:extLst>
          </p:cNvPr>
          <p:cNvSpPr>
            <a:spLocks noGrp="1"/>
          </p:cNvSpPr>
          <p:nvPr>
            <p:ph type="body" idx="1"/>
          </p:nvPr>
        </p:nvSpPr>
        <p:spPr/>
        <p:txBody>
          <a:bodyPr/>
          <a:lstStyle/>
          <a:p>
            <a:r>
              <a:rPr lang="en-US" dirty="0"/>
              <a:t>0:26 · 3 minutes. Five of the nine tasks from the Bundle 1 stress test.
· Context: AI invented a class. Candidates have a semester in the placement. Preserve: AI receives this, never generates it.
· Sequencing: AI strong, candidates struggle. They have never seen a fully reasoned sequence. Vulnerable, and a candidate for a designed AI role.
· Theory: weak on both sides. That is direct instruction, not an AI task.
· Strategy Book: both strong. The task no longer discriminates. Cut it and reclaim the space.
· Note the rationale row. Next slide.</a:t>
            </a:r>
          </a:p>
        </p:txBody>
      </p:sp>
      <p:sp>
        <p:nvSpPr>
          <p:cNvPr id="4" name="Slide Number Placeholder 3">
            <a:extLst>
              <a:ext uri="{FF2B5EF4-FFF2-40B4-BE49-F238E27FC236}">
                <a16:creationId xmlns:a16="http://schemas.microsoft.com/office/drawing/2014/main" id="{A4882939-C632-08FD-BDAE-81955547DF0F}"/>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4609997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0:29 · The most dangerous cell in the bundle.
· AI's rationale reads as fully reasoned. The student sample stopped at "Students are also."
· If we assess the document, fluency alone can meet the criterion. That is where learning becomes fragile.
· In the redesign, AI never drafts here. It asks; the candidate answers and writes.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C3FB0-5F49-21D8-3867-D2672273E0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3C16F0-9DC8-7FE8-6426-371919F81B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B59263-D9FF-A417-14FB-08D253BDA518}"/>
              </a:ext>
            </a:extLst>
          </p:cNvPr>
          <p:cNvSpPr>
            <a:spLocks noGrp="1"/>
          </p:cNvSpPr>
          <p:nvPr>
            <p:ph type="body" idx="1"/>
          </p:nvPr>
        </p:nvSpPr>
        <p:spPr/>
        <p:txBody>
          <a:bodyPr/>
          <a:lstStyle/>
          <a:p>
            <a:r>
              <a:rPr lang="en-US" dirty="0"/>
              <a:t>0:11 · 3 minutes. Each level builds on the last. Read the WHY row left to right: what each level is for.
· The continuum describes where an assignment sits, not whether it is good. Level 1 can be the right call.
· Quick reflection: where does one of your assignments sit today? Where would you want it to sit? In person: tell a neighbor. Virtual: drop a level number in the chat.
· Bridge: the stress test is how you decide, task by task, where AI belongs.</a:t>
            </a:r>
          </a:p>
        </p:txBody>
      </p:sp>
      <p:sp>
        <p:nvSpPr>
          <p:cNvPr id="4" name="Slide Number Placeholder 3">
            <a:extLst>
              <a:ext uri="{FF2B5EF4-FFF2-40B4-BE49-F238E27FC236}">
                <a16:creationId xmlns:a16="http://schemas.microsoft.com/office/drawing/2014/main" id="{A9E95FF0-2460-8220-9FC3-B634878D0AF7}"/>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7968961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0:31 · 3 minutes. Back to the decision at the vulnerable point: integrate AI here? If so, in what role?
· Read the pyramid upward: learner agency and cognitive load increase (Scott, 2026).
· Executor is not illegitimate in every workflow, but at a vulnerable point it is where offloading lives.
· Bundle 1 example: on sequencing and the rationale, AI works as a Reflector. It asks where the sequence breaks; the candidate decides.
· The roles above Executor keep the student working at the germane level instead of skipping it.
· Copy-and-paste role templates come after the workshop. Today's focus is the gap analysis.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3C2F9-1A92-CF70-E17E-C48306690D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5153AF-C355-BF0A-34F2-A01969BB45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E9B602-081B-A19E-F0CA-82A9DB918C2A}"/>
              </a:ext>
            </a:extLst>
          </p:cNvPr>
          <p:cNvSpPr>
            <a:spLocks noGrp="1"/>
          </p:cNvSpPr>
          <p:nvPr>
            <p:ph type="body" idx="1"/>
          </p:nvPr>
        </p:nvSpPr>
        <p:spPr/>
        <p:txBody>
          <a:bodyPr/>
          <a:lstStyle/>
          <a:p>
            <a:r>
              <a:rPr lang="en-US" dirty="0"/>
              <a:t>Show decisions made here</a:t>
            </a:r>
          </a:p>
          <a:p>
            <a:endParaRPr lang="en-US" dirty="0"/>
          </a:p>
          <a:p>
            <a:r>
              <a:rPr lang="en-US" dirty="0"/>
              <a:t>Ds are my “care prompt” Diligence as the “guardrails” </a:t>
            </a:r>
          </a:p>
        </p:txBody>
      </p:sp>
      <p:sp>
        <p:nvSpPr>
          <p:cNvPr id="4" name="Slide Number Placeholder 3">
            <a:extLst>
              <a:ext uri="{FF2B5EF4-FFF2-40B4-BE49-F238E27FC236}">
                <a16:creationId xmlns:a16="http://schemas.microsoft.com/office/drawing/2014/main" id="{5F12D688-61CC-27DC-C3CD-C65266FC487D}"/>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35722740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How this all works, in five steps. 1. Stress test the assignment to find the vulnerable point, where AI is strong and students struggle. 2. Pick a role from the pyramid for that point. 3. Write the role, starting from the templates in the workbook. 4. Test and refine until the AI interacts the way you want students to experience it. My coaching prompt started as the Reflector template, then I added my Bundle 1 grading criteria and kept testing until it behaved. 5. Consider building or testing it in class with students. Then: demo.</a:t>
            </a:r>
            <a:endParaRPr lang="en-US" dirty="0"/>
          </a:p>
          <a:p>
            <a:endParaRPr lang="en-US" dirty="0"/>
          </a:p>
          <a:p>
            <a:r>
              <a:rPr lang="en-US" dirty="0"/>
              <a:t>https://</a:t>
            </a:r>
            <a:r>
              <a:rPr lang="en-US" dirty="0" err="1"/>
              <a:t>docs.google.com</a:t>
            </a:r>
            <a:r>
              <a:rPr lang="en-US" dirty="0"/>
              <a:t>/document/d/1Fq3YmgguQzN2fA92KQMRsZlrkUGAN4LiI1Jawudho4o/</a:t>
            </a:r>
            <a:r>
              <a:rPr lang="en-US" dirty="0" err="1"/>
              <a:t>edit?usp</a:t>
            </a:r>
            <a:r>
              <a:rPr lang="en-US" dirty="0"/>
              <a:t>=sharing</a:t>
            </a:r>
          </a:p>
          <a:p>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9570644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The original Bundle 1: one plan, a rationale, a resource, and a Strategy Book entry.</a:t>
            </a:r>
          </a:p>
          <a:p>
            <a:r>
              <a:t>· Dashed boxes are where the redesign adds steps. Watch what fills them.</a:t>
            </a:r>
          </a:p>
          <a:p>
            <a:r>
              <a:t>· [Confirm: the original had a single draft and no peer discussion.]</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Gold is new: an AI-free first draft and self-check, two coaching sessions, a revision and reflection after each, peer discussion, and a disclosure reflection.</a:t>
            </a:r>
          </a:p>
          <a:p>
            <a:r>
              <a:t>· Kept: the class context and the rationale. Cut: the teacher resource and the Strategy Book entry.</a:t>
            </a:r>
          </a:p>
          <a:p>
            <a:r>
              <a:t>· In their place: tasks that ask candidates to reflect on their thinking after each AI interaction. Metacognition is an expert-level skill I had not assessed before, and I would not have had the capacity to grade one more thing.</a:t>
            </a:r>
          </a:p>
          <a:p>
            <a:r>
              <a:t>· With AI giving first-line feedback, my hope is better lesson plans, and grading that shifts to the thinking and judgment process.</a:t>
            </a:r>
          </a:p>
          <a:p>
            <a:r>
              <a:t>· The lesson plan stopped being the evidence and became the material.</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Where AI comes in, and where it stays out.</a:t>
            </a:r>
          </a:p>
          <a:p>
            <a:r>
              <a:t>· AI enters only in the coaching sessions, where it asks and the candidate answers. Every revision happens alone.</a:t>
            </a:r>
          </a:p>
          <a:p>
            <a:r>
              <a:t>· After each session the candidate revises alone and reflects on what changed in their thinking.</a:t>
            </a:r>
          </a:p>
          <a:p>
            <a:r>
              <a:t>· At the end, AI may check spelling and grammar, disclosed.</a:t>
            </a:r>
          </a:p>
          <a:p>
            <a:r>
              <a:t>· From the student-facing bundle: "Not to write your lesson. To ask you questions about it."</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The whole picture. Top band: decisions I made before candidates arrive: what goes to AI (Delegation) and the coach I configured (Agency).</a:t>
            </a:r>
          </a:p>
          <a:p>
            <a:r>
              <a:t>· Continuum row: the assignment travels. Level 1 for most stages, Level 3 in the coaching sessions, Level 2 for the final spelling and grammar check.</a:t>
            </a:r>
          </a:p>
          <a:p>
            <a:r>
              <a:t>· Why Level 3: the feedback comes from AI as a thought partner, asking questions, not as editing suggestions on a draft. The type of feedback and how it is provided set the level.</a:t>
            </a:r>
          </a:p>
          <a:p>
            <a:r>
              <a:t>· Level 2 is feedback too: a final spelling and grammar check on finished work.</a:t>
            </a:r>
          </a:p>
          <a:p>
            <a:r>
              <a:t>· 3As row: Augmentation in coaching, Automation for the spelling check, no AI elsewhere.</a:t>
            </a:r>
          </a:p>
          <a:p>
            <a:r>
              <a:t>· 4Ds row: the D the candidate practices at each stage.</a:t>
            </a:r>
          </a:p>
          <a:p>
            <a:r>
              <a:t>· The continuum describes a stage, not the whole assignment.</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0:34 · Close Part 1 and hand off to Amy.
· Same question, different loop: where does the human stay in charge?
· Hand off to Amy (virtual). In person: confirm her audio and screen share before you stop sharing.</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 · 20 minutes. Faculty choose one option.
· Option A: the goal is a start, not a finished analysis. Get through List and Name for three or four tasks, then run them.
· In person: circulate; listen for moments faculty correct the AI. Virtual: [breakout rooms by option? confirm with Amy].
· [Insert Stress Test Guide link or QR. Amy to complete Option B.]</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 10 minutes. Aha moments, discoveries, next steps.
· In person: take three voices aloud. Virtual: chat waterfall, then call on two or three.
· Close on next steps: role templates will follow; consultations are available.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up while people transition. Pyramid adapted under CC BY-NC-SA 4.0 (Scott, 2026). Continuum: IWU (Bleistein &amp; Snyder, 2026), adapted from the AIAS (Perkins et al., 2024).</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rgbClr val="154734"/>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371600"/>
            <a:ext cx="6583680" cy="137160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54734"/>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C9CCCA"/>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85800"/>
          </a:xfrm>
          <a:prstGeom prst="rect">
            <a:avLst/>
          </a:prstGeom>
          <a:noFill/>
          <a:ln/>
        </p:spPr>
        <p:txBody>
          <a:bodyPr wrap="square" rtlCol="0"/>
          <a:lstStyle>
            <a:lvl1pPr marL="0" indent="0" algn="ctr">
              <a:buNone/>
              <a:defRPr lang="en-US" sz="3400" b="1" dirty="0">
                <a:solidFill>
                  <a:schemeClr val="tx2"/>
                </a:solidFill>
              </a:defRPr>
            </a:lvl1pPr>
          </a:lstStyle>
          <a:p>
            <a:pPr marL="0" indent="0" algn="ctr">
              <a:buNone/>
            </a:pPr>
            <a:endParaRPr lang="en-US" sz="3400" dirty="0"/>
          </a:p>
        </p:txBody>
      </p:sp>
      <p:sp>
        <p:nvSpPr>
          <p:cNvPr id="25" name="Slide Number Placeholder 0"/>
          <p:cNvSpPr>
            <a:spLocks noGrp="1"/>
          </p:cNvSpPr>
          <p:nvPr>
            <p:ph type="sldNum" sz="quarter" idx="4294967295"/>
          </p:nvPr>
        </p:nvSpPr>
        <p:spPr>
          <a:xfrm>
            <a:off x="841248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3"/>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C9CCCA"/>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1/relationships/webextension" Target="../webextensions/webextension2.xml"/><Relationship Id="rId1" Type="http://schemas.openxmlformats.org/officeDocument/2006/relationships/slideLayout" Target="../slideLayouts/slideLayout1.xml"/><Relationship Id="rId4" Type="http://schemas.microsoft.com/office/2011/relationships/webextension" Target="../webextensions/webextension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sv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video" Target="https://www.youtube.com/embed/7VeNsBn1VvQ?feature=oembed" TargetMode="External"/><Relationship Id="rId4" Type="http://schemas.openxmlformats.org/officeDocument/2006/relationships/image" Target="../media/image18.jpe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4.xml"/><Relationship Id="rId5" Type="http://schemas.openxmlformats.org/officeDocument/2006/relationships/image" Target="../media/image26.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svg"/><Relationship Id="rId2" Type="http://schemas.openxmlformats.org/officeDocument/2006/relationships/notesSlide" Target="../notesSlides/notesSlide26.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sv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3.xml"/><Relationship Id="rId1" Type="http://schemas.openxmlformats.org/officeDocument/2006/relationships/slideLayout" Target="../slideLayouts/slideLayout4.xml"/><Relationship Id="rId5" Type="http://schemas.openxmlformats.org/officeDocument/2006/relationships/hyperlink" Target="https://baylor.box.com/s/iwtwd6fz4l6hepswm4hy2356zx0wsyiy" TargetMode="External"/><Relationship Id="rId4" Type="http://schemas.openxmlformats.org/officeDocument/2006/relationships/image" Target="../media/image29.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op motif"/>
          <p:cNvSpPr/>
          <p:nvPr/>
        </p:nvSpPr>
        <p:spPr>
          <a:xfrm>
            <a:off x="7360920" y="-1417320"/>
            <a:ext cx="3017520" cy="3017520"/>
          </a:xfrm>
          <a:prstGeom prst="ellipse">
            <a:avLst/>
          </a:prstGeom>
          <a:ln w="177800">
            <a:solidFill>
              <a:schemeClr val="accent2">
                <a:alpha val="45000"/>
              </a:schemeClr>
            </a:solidFill>
            <a:prstDash val="solid"/>
          </a:ln>
        </p:spPr>
        <p:txBody>
          <a:bodyPr/>
          <a:lstStyle/>
          <a:p>
            <a:endParaRPr lang="en-US"/>
          </a:p>
        </p:txBody>
      </p:sp>
      <p:sp>
        <p:nvSpPr>
          <p:cNvPr id="3" name="Kicker"/>
          <p:cNvSpPr txBox="1"/>
          <p:nvPr/>
        </p:nvSpPr>
        <p:spPr>
          <a:xfrm>
            <a:off x="548640" y="960120"/>
            <a:ext cx="6858000" cy="320040"/>
          </a:xfrm>
          <a:prstGeom prst="rect">
            <a:avLst/>
          </a:prstGeom>
          <a:noFill/>
          <a:ln/>
        </p:spPr>
        <p:txBody>
          <a:bodyPr wrap="square" lIns="0" tIns="0" rIns="0" bIns="0" rtlCol="0" anchor="t"/>
          <a:lstStyle/>
          <a:p>
            <a:pPr marL="0" indent="0">
              <a:buNone/>
            </a:pPr>
            <a:r>
              <a:rPr lang="en-US" sz="1200" b="1" kern="0" spc="300" dirty="0">
                <a:solidFill>
                  <a:schemeClr val="accent2"/>
                </a:solidFill>
                <a:latin typeface="Calibri" pitchFamily="34" charset="0"/>
                <a:ea typeface="Calibri" pitchFamily="34" charset="-122"/>
                <a:cs typeface="Calibri" pitchFamily="34" charset="-120"/>
              </a:rPr>
              <a:t>SCHOOL OF EDUCATION FACULTY WORKSHOP</a:t>
            </a:r>
            <a:endParaRPr lang="en-US" sz="1200" dirty="0"/>
          </a:p>
        </p:txBody>
      </p:sp>
      <p:sp>
        <p:nvSpPr>
          <p:cNvPr id="4" name="Text 0"/>
          <p:cNvSpPr>
            <a:spLocks noGrp="1"/>
          </p:cNvSpPr>
          <p:nvPr>
            <p:ph type="title" idx="100" hasCustomPrompt="1"/>
          </p:nvPr>
        </p:nvSpPr>
        <p:spPr>
          <a:xfrm>
            <a:off x="548640" y="1371600"/>
            <a:ext cx="6583680" cy="1371600"/>
          </a:xfrm>
          <a:prstGeom prst="rect">
            <a:avLst/>
          </a:prstGeom>
          <a:noFill/>
          <a:ln/>
        </p:spPr>
        <p:txBody>
          <a:bodyPr wrap="square" lIns="0" tIns="0" rIns="0" bIns="0" rtlCol="0" anchor="t"/>
          <a:lstStyle/>
          <a:p>
            <a:pPr marL="0" indent="0" algn="l">
              <a:buNone/>
            </a:pPr>
            <a:r>
              <a:rPr lang="en-US" sz="4000" b="1" dirty="0">
                <a:solidFill>
                  <a:schemeClr val="bg1"/>
                </a:solidFill>
              </a:rPr>
              <a:t>Humans in the Loop: AI for Learning and Research</a:t>
            </a:r>
            <a:endParaRPr lang="en-US" sz="4000" dirty="0"/>
          </a:p>
        </p:txBody>
      </p:sp>
      <p:sp>
        <p:nvSpPr>
          <p:cNvPr id="5" name="Date"/>
          <p:cNvSpPr txBox="1"/>
          <p:nvPr/>
        </p:nvSpPr>
        <p:spPr>
          <a:xfrm>
            <a:off x="548640" y="2834640"/>
            <a:ext cx="6858000" cy="365760"/>
          </a:xfrm>
          <a:prstGeom prst="rect">
            <a:avLst/>
          </a:prstGeom>
          <a:noFill/>
          <a:ln/>
        </p:spPr>
        <p:txBody>
          <a:bodyPr wrap="square" lIns="0" tIns="0" rIns="0" bIns="0" rtlCol="0" anchor="t"/>
          <a:lstStyle/>
          <a:p>
            <a:pPr marL="0" indent="0">
              <a:buNone/>
            </a:pPr>
            <a:r>
              <a:rPr lang="en-US" sz="1800" dirty="0">
                <a:solidFill>
                  <a:schemeClr val="bg1"/>
                </a:solidFill>
                <a:latin typeface="Calibri" pitchFamily="34" charset="0"/>
                <a:ea typeface="Calibri" pitchFamily="34" charset="-122"/>
                <a:cs typeface="Calibri" pitchFamily="34" charset="-120"/>
              </a:rPr>
              <a:t>October 16, 2026</a:t>
            </a:r>
            <a:endParaRPr lang="en-US" sz="1800" dirty="0"/>
          </a:p>
        </p:txBody>
      </p:sp>
      <p:sp>
        <p:nvSpPr>
          <p:cNvPr id="6" name="Presenters"/>
          <p:cNvSpPr txBox="1"/>
          <p:nvPr/>
        </p:nvSpPr>
        <p:spPr>
          <a:xfrm>
            <a:off x="548640" y="3840480"/>
            <a:ext cx="7772400" cy="640080"/>
          </a:xfrm>
          <a:prstGeom prst="rect">
            <a:avLst/>
          </a:prstGeom>
          <a:noFill/>
          <a:ln/>
        </p:spPr>
        <p:txBody>
          <a:bodyPr wrap="square" lIns="0" tIns="0" rIns="0" bIns="0" rtlCol="0" anchor="t"/>
          <a:lstStyle/>
          <a:p>
            <a:pPr>
              <a:spcAft>
                <a:spcPts val="400"/>
              </a:spcAft>
            </a:pPr>
            <a:r>
              <a:rPr lang="en-US" sz="1400" dirty="0">
                <a:solidFill>
                  <a:srgbClr val="E3ECE6"/>
                </a:solidFill>
                <a:latin typeface="Calibri"/>
                <a:ea typeface="Calibri"/>
                <a:cs typeface="Calibri"/>
              </a:rPr>
              <a:t>Megan </a:t>
            </a:r>
            <a:r>
              <a:rPr lang="en-US" sz="1400" dirty="0" err="1">
                <a:solidFill>
                  <a:srgbClr val="E3ECE6"/>
                </a:solidFill>
                <a:latin typeface="Calibri"/>
                <a:ea typeface="Calibri"/>
                <a:cs typeface="Calibri"/>
              </a:rPr>
              <a:t>Alstot</a:t>
            </a:r>
            <a:r>
              <a:rPr lang="en-US" sz="1400" dirty="0">
                <a:solidFill>
                  <a:srgbClr val="E3ECE6"/>
                </a:solidFill>
                <a:latin typeface="Calibri"/>
                <a:ea typeface="Calibri"/>
                <a:cs typeface="Calibri"/>
              </a:rPr>
              <a:t>, Ph.D., Postdoc for AI &amp; Emerging Technologies for Teaching, ATL</a:t>
            </a:r>
          </a:p>
          <a:p>
            <a:pPr>
              <a:spcAft>
                <a:spcPts val="400"/>
              </a:spcAft>
            </a:pPr>
            <a:r>
              <a:rPr lang="en-US" sz="1400" dirty="0">
                <a:solidFill>
                  <a:srgbClr val="E3ECE6"/>
                </a:solidFill>
                <a:latin typeface="Calibri"/>
                <a:ea typeface="Calibri"/>
                <a:cs typeface="Calibri"/>
              </a:rPr>
              <a:t>Amy James, Associate Librarian, Online Librarian for Education and Information Literacy, University Libraries</a:t>
            </a:r>
            <a:endParaRPr lang="en-US" sz="14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85800"/>
          </a:xfrm>
          <a:prstGeom prst="rect">
            <a:avLst/>
          </a:prstGeom>
          <a:noFill/>
          <a:ln/>
        </p:spPr>
        <p:txBody>
          <a:bodyPr wrap="square" lIns="0" tIns="0" rIns="0" bIns="0" rtlCol="0" anchor="ctr"/>
          <a:lstStyle/>
          <a:p>
            <a:pPr marL="0" indent="0" algn="ctr">
              <a:buNone/>
            </a:pPr>
            <a:r>
              <a:rPr lang="en-US" sz="3400" b="1" dirty="0">
                <a:solidFill>
                  <a:schemeClr val="tx2"/>
                </a:solidFill>
              </a:rPr>
              <a:t>Our session</a:t>
            </a:r>
            <a:endParaRPr lang="en-US" sz="3400" dirty="0"/>
          </a:p>
        </p:txBody>
      </p:sp>
      <p:sp>
        <p:nvSpPr>
          <p:cNvPr id="3" name="Block 1"/>
          <p:cNvSpPr/>
          <p:nvPr/>
        </p:nvSpPr>
        <p:spPr>
          <a:xfrm>
            <a:off x="457200" y="1325880"/>
            <a:ext cx="1572768" cy="1737360"/>
          </a:xfrm>
          <a:prstGeom prst="roundRect">
            <a:avLst>
              <a:gd name="adj" fmla="val 4651"/>
            </a:avLst>
          </a:prstGeom>
          <a:solidFill>
            <a:schemeClr val="bg2"/>
          </a:solidFill>
          <a:ln w="12700">
            <a:solidFill>
              <a:schemeClr val="bg2"/>
            </a:solidFill>
            <a:prstDash val="solid"/>
          </a:ln>
          <a:effectLst>
            <a:outerShdw blurRad="76200" dist="19050" dir="5400000" algn="bl" rotWithShape="0">
              <a:srgbClr val="000000">
                <a:alpha val="12000"/>
              </a:srgbClr>
            </a:outerShdw>
          </a:effectLst>
        </p:spPr>
        <p:txBody>
          <a:bodyPr/>
          <a:lstStyle/>
          <a:p>
            <a:endParaRPr lang="en-US"/>
          </a:p>
        </p:txBody>
      </p:sp>
      <p:sp>
        <p:nvSpPr>
          <p:cNvPr id="4" name="Block 1 minutes"/>
          <p:cNvSpPr txBox="1"/>
          <p:nvPr/>
        </p:nvSpPr>
        <p:spPr>
          <a:xfrm>
            <a:off x="585216" y="1463040"/>
            <a:ext cx="1389888" cy="411480"/>
          </a:xfrm>
          <a:prstGeom prst="rect">
            <a:avLst/>
          </a:prstGeom>
          <a:noFill/>
          <a:ln/>
        </p:spPr>
        <p:txBody>
          <a:bodyPr wrap="square" lIns="0" tIns="0" rIns="0" bIns="0" rtlCol="0" anchor="t"/>
          <a:lstStyle/>
          <a:p>
            <a:pPr marL="0" indent="0">
              <a:buNone/>
            </a:pPr>
            <a:r>
              <a:rPr lang="en-US" sz="2200" b="1" dirty="0">
                <a:solidFill>
                  <a:schemeClr val="tx1"/>
                </a:solidFill>
                <a:latin typeface="Calibri" pitchFamily="34" charset="0"/>
                <a:ea typeface="Calibri" pitchFamily="34" charset="-122"/>
                <a:cs typeface="Calibri" pitchFamily="34" charset="-120"/>
              </a:rPr>
              <a:t>15 min</a:t>
            </a:r>
            <a:endParaRPr lang="en-US" sz="2200" dirty="0"/>
          </a:p>
        </p:txBody>
      </p:sp>
      <p:sp>
        <p:nvSpPr>
          <p:cNvPr id="5" name="Block 1 label"/>
          <p:cNvSpPr txBox="1"/>
          <p:nvPr/>
        </p:nvSpPr>
        <p:spPr>
          <a:xfrm>
            <a:off x="585216" y="1920240"/>
            <a:ext cx="1371600" cy="685800"/>
          </a:xfrm>
          <a:prstGeom prst="rect">
            <a:avLst/>
          </a:prstGeom>
          <a:noFill/>
          <a:ln/>
        </p:spPr>
        <p:txBody>
          <a:bodyPr wrap="square" lIns="0" tIns="0" rIns="0" bIns="0" rtlCol="0" anchor="t"/>
          <a:lstStyle/>
          <a:p>
            <a:pPr marL="0" indent="0">
              <a:buNone/>
            </a:pPr>
            <a:r>
              <a:rPr lang="en-US" sz="1300" b="1" dirty="0">
                <a:solidFill>
                  <a:schemeClr val="tx1"/>
                </a:solidFill>
                <a:latin typeface="Calibri" pitchFamily="34" charset="0"/>
                <a:ea typeface="Calibri" pitchFamily="34" charset="-122"/>
                <a:cs typeface="Calibri" pitchFamily="34" charset="-120"/>
              </a:rPr>
              <a:t>Opening: 4Ds and the Continuum</a:t>
            </a:r>
            <a:endParaRPr lang="en-US" sz="1300" dirty="0"/>
          </a:p>
        </p:txBody>
      </p:sp>
      <p:sp>
        <p:nvSpPr>
          <p:cNvPr id="6" name="Block 1 lead"/>
          <p:cNvSpPr txBox="1"/>
          <p:nvPr/>
        </p:nvSpPr>
        <p:spPr>
          <a:xfrm>
            <a:off x="585216" y="2651760"/>
            <a:ext cx="1389888" cy="274320"/>
          </a:xfrm>
          <a:prstGeom prst="rect">
            <a:avLst/>
          </a:prstGeom>
          <a:noFill/>
          <a:ln/>
        </p:spPr>
        <p:txBody>
          <a:bodyPr wrap="square" lIns="0" tIns="0" rIns="0" bIns="0" rtlCol="0" anchor="t"/>
          <a:lstStyle/>
          <a:p>
            <a:pPr marL="0" indent="0">
              <a:buNone/>
            </a:pPr>
            <a:r>
              <a:rPr lang="en-US" sz="1100" dirty="0">
                <a:solidFill>
                  <a:schemeClr val="accent3"/>
                </a:solidFill>
                <a:latin typeface="Calibri" pitchFamily="34" charset="0"/>
                <a:ea typeface="Calibri" pitchFamily="34" charset="-122"/>
                <a:cs typeface="Calibri" pitchFamily="34" charset="-120"/>
              </a:rPr>
              <a:t>Megan and Amy</a:t>
            </a:r>
            <a:endParaRPr lang="en-US" sz="1100" dirty="0"/>
          </a:p>
        </p:txBody>
      </p:sp>
      <p:sp>
        <p:nvSpPr>
          <p:cNvPr id="7" name="Block 2"/>
          <p:cNvSpPr/>
          <p:nvPr/>
        </p:nvSpPr>
        <p:spPr>
          <a:xfrm>
            <a:off x="2103120" y="1325880"/>
            <a:ext cx="1700784" cy="1737360"/>
          </a:xfrm>
          <a:prstGeom prst="roundRect">
            <a:avLst>
              <a:gd name="adj" fmla="val 4301"/>
            </a:avLst>
          </a:prstGeom>
          <a:solidFill>
            <a:schemeClr val="accent1"/>
          </a:solidFill>
          <a:ln w="12700">
            <a:solidFill>
              <a:schemeClr val="accent1"/>
            </a:solidFill>
            <a:prstDash val="solid"/>
          </a:ln>
          <a:effectLst>
            <a:outerShdw blurRad="76200" dist="19050" dir="5400000" algn="bl" rotWithShape="0">
              <a:srgbClr val="000000">
                <a:alpha val="12000"/>
              </a:srgbClr>
            </a:outerShdw>
          </a:effectLst>
        </p:spPr>
        <p:txBody>
          <a:bodyPr/>
          <a:lstStyle/>
          <a:p>
            <a:endParaRPr lang="en-US"/>
          </a:p>
        </p:txBody>
      </p:sp>
      <p:sp>
        <p:nvSpPr>
          <p:cNvPr id="8" name="Block 2 minutes"/>
          <p:cNvSpPr txBox="1"/>
          <p:nvPr/>
        </p:nvSpPr>
        <p:spPr>
          <a:xfrm>
            <a:off x="2231136" y="1463040"/>
            <a:ext cx="1517904" cy="411480"/>
          </a:xfrm>
          <a:prstGeom prst="rect">
            <a:avLst/>
          </a:prstGeom>
          <a:noFill/>
          <a:ln/>
        </p:spPr>
        <p:txBody>
          <a:bodyPr wrap="square" lIns="0" tIns="0" rIns="0" bIns="0" rtlCol="0" anchor="t"/>
          <a:lstStyle/>
          <a:p>
            <a:pPr marL="0" indent="0">
              <a:buNone/>
            </a:pPr>
            <a:r>
              <a:rPr lang="en-US" sz="2200" b="1" dirty="0">
                <a:solidFill>
                  <a:schemeClr val="bg1"/>
                </a:solidFill>
                <a:latin typeface="Calibri" pitchFamily="34" charset="0"/>
                <a:ea typeface="Calibri" pitchFamily="34" charset="-122"/>
                <a:cs typeface="Calibri" pitchFamily="34" charset="-120"/>
              </a:rPr>
              <a:t>20 min</a:t>
            </a:r>
            <a:endParaRPr lang="en-US" sz="2200" dirty="0"/>
          </a:p>
        </p:txBody>
      </p:sp>
      <p:sp>
        <p:nvSpPr>
          <p:cNvPr id="9" name="Block 2 label"/>
          <p:cNvSpPr txBox="1"/>
          <p:nvPr/>
        </p:nvSpPr>
        <p:spPr>
          <a:xfrm>
            <a:off x="2231136" y="1920240"/>
            <a:ext cx="1499616" cy="685800"/>
          </a:xfrm>
          <a:prstGeom prst="rect">
            <a:avLst/>
          </a:prstGeom>
          <a:noFill/>
          <a:ln/>
        </p:spPr>
        <p:txBody>
          <a:bodyPr wrap="square" lIns="0" tIns="0" rIns="0" bIns="0" rtlCol="0" anchor="t"/>
          <a:lstStyle/>
          <a:p>
            <a:pPr marL="0" indent="0">
              <a:buNone/>
            </a:pPr>
            <a:r>
              <a:rPr lang="en-US" sz="1300" b="1" dirty="0">
                <a:solidFill>
                  <a:schemeClr val="bg1"/>
                </a:solidFill>
                <a:latin typeface="Calibri" pitchFamily="34" charset="0"/>
                <a:ea typeface="Calibri" pitchFamily="34" charset="-122"/>
                <a:cs typeface="Calibri" pitchFamily="34" charset="-120"/>
              </a:rPr>
              <a:t>Human in the loop for learning</a:t>
            </a:r>
            <a:endParaRPr lang="en-US" sz="1300" dirty="0"/>
          </a:p>
        </p:txBody>
      </p:sp>
      <p:sp>
        <p:nvSpPr>
          <p:cNvPr id="10" name="Block 2 lead"/>
          <p:cNvSpPr txBox="1"/>
          <p:nvPr/>
        </p:nvSpPr>
        <p:spPr>
          <a:xfrm>
            <a:off x="2231136" y="2651760"/>
            <a:ext cx="1517904" cy="274320"/>
          </a:xfrm>
          <a:prstGeom prst="rect">
            <a:avLst/>
          </a:prstGeom>
          <a:noFill/>
          <a:ln/>
        </p:spPr>
        <p:txBody>
          <a:bodyPr wrap="square" lIns="0" tIns="0" rIns="0" bIns="0" rtlCol="0" anchor="t"/>
          <a:lstStyle/>
          <a:p>
            <a:pPr marL="0" indent="0">
              <a:buNone/>
            </a:pPr>
            <a:r>
              <a:rPr lang="en-US" sz="1100" dirty="0">
                <a:solidFill>
                  <a:srgbClr val="E3ECE6"/>
                </a:solidFill>
                <a:latin typeface="Calibri" pitchFamily="34" charset="0"/>
                <a:ea typeface="Calibri" pitchFamily="34" charset="-122"/>
                <a:cs typeface="Calibri" pitchFamily="34" charset="-120"/>
              </a:rPr>
              <a:t>Megan</a:t>
            </a:r>
            <a:endParaRPr lang="en-US" sz="1100" dirty="0"/>
          </a:p>
        </p:txBody>
      </p:sp>
      <p:sp>
        <p:nvSpPr>
          <p:cNvPr id="11" name="Block 3"/>
          <p:cNvSpPr/>
          <p:nvPr/>
        </p:nvSpPr>
        <p:spPr>
          <a:xfrm>
            <a:off x="3877056" y="1325880"/>
            <a:ext cx="1700784" cy="1737360"/>
          </a:xfrm>
          <a:prstGeom prst="roundRect">
            <a:avLst>
              <a:gd name="adj" fmla="val 4301"/>
            </a:avLst>
          </a:prstGeom>
          <a:solidFill>
            <a:schemeClr val="accent4"/>
          </a:solidFill>
          <a:ln w="12700">
            <a:solidFill>
              <a:schemeClr val="accent4"/>
            </a:solidFill>
            <a:prstDash val="solid"/>
          </a:ln>
          <a:effectLst>
            <a:outerShdw blurRad="76200" dist="19050" dir="5400000" algn="bl" rotWithShape="0">
              <a:srgbClr val="000000">
                <a:alpha val="12000"/>
              </a:srgbClr>
            </a:outerShdw>
          </a:effectLst>
        </p:spPr>
        <p:txBody>
          <a:bodyPr/>
          <a:lstStyle/>
          <a:p>
            <a:endParaRPr lang="en-US"/>
          </a:p>
        </p:txBody>
      </p:sp>
      <p:sp>
        <p:nvSpPr>
          <p:cNvPr id="12" name="Block 3 minutes"/>
          <p:cNvSpPr txBox="1"/>
          <p:nvPr/>
        </p:nvSpPr>
        <p:spPr>
          <a:xfrm>
            <a:off x="4005072" y="1463040"/>
            <a:ext cx="1517904" cy="411480"/>
          </a:xfrm>
          <a:prstGeom prst="rect">
            <a:avLst/>
          </a:prstGeom>
          <a:noFill/>
          <a:ln/>
        </p:spPr>
        <p:txBody>
          <a:bodyPr wrap="square" lIns="0" tIns="0" rIns="0" bIns="0" rtlCol="0" anchor="t"/>
          <a:lstStyle/>
          <a:p>
            <a:pPr marL="0" indent="0">
              <a:buNone/>
            </a:pPr>
            <a:r>
              <a:rPr lang="en-US" sz="2200" b="1" dirty="0">
                <a:solidFill>
                  <a:schemeClr val="tx2"/>
                </a:solidFill>
                <a:latin typeface="Calibri" pitchFamily="34" charset="0"/>
                <a:ea typeface="Calibri" pitchFamily="34" charset="-122"/>
                <a:cs typeface="Calibri" pitchFamily="34" charset="-120"/>
              </a:rPr>
              <a:t>20 min</a:t>
            </a:r>
            <a:endParaRPr lang="en-US" sz="2200" dirty="0"/>
          </a:p>
        </p:txBody>
      </p:sp>
      <p:sp>
        <p:nvSpPr>
          <p:cNvPr id="13" name="Block 3 label"/>
          <p:cNvSpPr txBox="1"/>
          <p:nvPr/>
        </p:nvSpPr>
        <p:spPr>
          <a:xfrm>
            <a:off x="4005072" y="1920240"/>
            <a:ext cx="1499616" cy="685800"/>
          </a:xfrm>
          <a:prstGeom prst="rect">
            <a:avLst/>
          </a:prstGeom>
          <a:noFill/>
          <a:ln/>
        </p:spPr>
        <p:txBody>
          <a:bodyPr wrap="square" lIns="0" tIns="0" rIns="0" bIns="0" rtlCol="0" anchor="t"/>
          <a:lstStyle/>
          <a:p>
            <a:pPr marL="0" indent="0">
              <a:buNone/>
            </a:pPr>
            <a:r>
              <a:rPr lang="en-US" sz="1300" b="1" dirty="0">
                <a:solidFill>
                  <a:schemeClr val="tx2"/>
                </a:solidFill>
                <a:latin typeface="Calibri" pitchFamily="34" charset="0"/>
                <a:ea typeface="Calibri" pitchFamily="34" charset="-122"/>
                <a:cs typeface="Calibri" pitchFamily="34" charset="-120"/>
              </a:rPr>
              <a:t>Human in the loop for research</a:t>
            </a:r>
            <a:endParaRPr lang="en-US" sz="1300" dirty="0"/>
          </a:p>
        </p:txBody>
      </p:sp>
      <p:sp>
        <p:nvSpPr>
          <p:cNvPr id="14" name="Block 3 lead"/>
          <p:cNvSpPr txBox="1"/>
          <p:nvPr/>
        </p:nvSpPr>
        <p:spPr>
          <a:xfrm>
            <a:off x="4005072" y="2651760"/>
            <a:ext cx="1517904" cy="274320"/>
          </a:xfrm>
          <a:prstGeom prst="rect">
            <a:avLst/>
          </a:prstGeom>
          <a:noFill/>
          <a:ln/>
        </p:spPr>
        <p:txBody>
          <a:bodyPr wrap="square" lIns="0" tIns="0" rIns="0" bIns="0" rtlCol="0" anchor="t"/>
          <a:lstStyle/>
          <a:p>
            <a:pPr marL="0" indent="0">
              <a:buNone/>
            </a:pPr>
            <a:r>
              <a:rPr lang="en-US" sz="1100" dirty="0">
                <a:solidFill>
                  <a:schemeClr val="tx2"/>
                </a:solidFill>
                <a:latin typeface="Calibri" pitchFamily="34" charset="0"/>
                <a:cs typeface="Calibri" pitchFamily="34" charset="-120"/>
              </a:rPr>
              <a:t>Amy</a:t>
            </a:r>
            <a:endParaRPr lang="en-US" sz="1100" dirty="0"/>
          </a:p>
        </p:txBody>
      </p:sp>
      <p:sp>
        <p:nvSpPr>
          <p:cNvPr id="15" name="Block 4"/>
          <p:cNvSpPr/>
          <p:nvPr/>
        </p:nvSpPr>
        <p:spPr>
          <a:xfrm>
            <a:off x="5650992" y="1325880"/>
            <a:ext cx="1700784" cy="1737360"/>
          </a:xfrm>
          <a:prstGeom prst="roundRect">
            <a:avLst>
              <a:gd name="adj" fmla="val 4301"/>
            </a:avLst>
          </a:prstGeom>
          <a:solidFill>
            <a:schemeClr val="accent5"/>
          </a:solidFill>
          <a:ln w="12700">
            <a:solidFill>
              <a:schemeClr val="accent5"/>
            </a:solidFill>
            <a:prstDash val="solid"/>
          </a:ln>
          <a:effectLst>
            <a:outerShdw blurRad="76200" dist="19050" dir="5400000" algn="bl" rotWithShape="0">
              <a:srgbClr val="000000">
                <a:alpha val="12000"/>
              </a:srgbClr>
            </a:outerShdw>
          </a:effectLst>
        </p:spPr>
        <p:txBody>
          <a:bodyPr/>
          <a:lstStyle/>
          <a:p>
            <a:endParaRPr lang="en-US"/>
          </a:p>
        </p:txBody>
      </p:sp>
      <p:sp>
        <p:nvSpPr>
          <p:cNvPr id="16" name="Block 4 minutes"/>
          <p:cNvSpPr txBox="1"/>
          <p:nvPr/>
        </p:nvSpPr>
        <p:spPr>
          <a:xfrm>
            <a:off x="5779008" y="1463040"/>
            <a:ext cx="1517904" cy="411480"/>
          </a:xfrm>
          <a:prstGeom prst="rect">
            <a:avLst/>
          </a:prstGeom>
          <a:noFill/>
          <a:ln/>
        </p:spPr>
        <p:txBody>
          <a:bodyPr wrap="square" lIns="0" tIns="0" rIns="0" bIns="0" rtlCol="0" anchor="t"/>
          <a:lstStyle/>
          <a:p>
            <a:pPr marL="0" indent="0">
              <a:buNone/>
            </a:pPr>
            <a:r>
              <a:rPr lang="en-US" sz="2200" b="1" dirty="0">
                <a:solidFill>
                  <a:schemeClr val="tx1"/>
                </a:solidFill>
                <a:latin typeface="Calibri" pitchFamily="34" charset="0"/>
                <a:ea typeface="Calibri" pitchFamily="34" charset="-122"/>
                <a:cs typeface="Calibri" pitchFamily="34" charset="-120"/>
              </a:rPr>
              <a:t>20 min</a:t>
            </a:r>
            <a:endParaRPr lang="en-US" sz="2200" dirty="0"/>
          </a:p>
        </p:txBody>
      </p:sp>
      <p:sp>
        <p:nvSpPr>
          <p:cNvPr id="17" name="Block 4 label"/>
          <p:cNvSpPr txBox="1"/>
          <p:nvPr/>
        </p:nvSpPr>
        <p:spPr>
          <a:xfrm>
            <a:off x="5779008" y="1920240"/>
            <a:ext cx="1499616" cy="685800"/>
          </a:xfrm>
          <a:prstGeom prst="rect">
            <a:avLst/>
          </a:prstGeom>
          <a:noFill/>
          <a:ln/>
        </p:spPr>
        <p:txBody>
          <a:bodyPr wrap="square" lIns="0" tIns="0" rIns="0" bIns="0" rtlCol="0" anchor="t"/>
          <a:lstStyle/>
          <a:p>
            <a:pPr marL="0" indent="0">
              <a:buNone/>
            </a:pPr>
            <a:r>
              <a:rPr lang="en-US" sz="1300" b="1" dirty="0">
                <a:solidFill>
                  <a:schemeClr val="tx1"/>
                </a:solidFill>
                <a:latin typeface="Calibri" pitchFamily="34" charset="0"/>
                <a:ea typeface="Calibri" pitchFamily="34" charset="-122"/>
                <a:cs typeface="Calibri" pitchFamily="34" charset="-120"/>
              </a:rPr>
              <a:t>Work time</a:t>
            </a:r>
            <a:endParaRPr lang="en-US" sz="1300" dirty="0"/>
          </a:p>
        </p:txBody>
      </p:sp>
      <p:sp>
        <p:nvSpPr>
          <p:cNvPr id="18" name="Block 4 lead"/>
          <p:cNvSpPr txBox="1"/>
          <p:nvPr/>
        </p:nvSpPr>
        <p:spPr>
          <a:xfrm>
            <a:off x="5779008" y="2651760"/>
            <a:ext cx="1517904" cy="274320"/>
          </a:xfrm>
          <a:prstGeom prst="rect">
            <a:avLst/>
          </a:prstGeom>
          <a:noFill/>
          <a:ln/>
        </p:spPr>
        <p:txBody>
          <a:bodyPr wrap="square" lIns="0" tIns="0" rIns="0" bIns="0" rtlCol="0" anchor="t"/>
          <a:lstStyle/>
          <a:p>
            <a:pPr marL="0" indent="0">
              <a:buNone/>
            </a:pPr>
            <a:r>
              <a:rPr lang="en-US" sz="1100" dirty="0">
                <a:solidFill>
                  <a:schemeClr val="accent3"/>
                </a:solidFill>
                <a:latin typeface="Calibri" pitchFamily="34" charset="0"/>
                <a:ea typeface="Calibri" pitchFamily="34" charset="-122"/>
                <a:cs typeface="Calibri" pitchFamily="34" charset="-120"/>
              </a:rPr>
              <a:t>Your choice</a:t>
            </a:r>
            <a:endParaRPr lang="en-US" sz="1100" dirty="0"/>
          </a:p>
        </p:txBody>
      </p:sp>
      <p:sp>
        <p:nvSpPr>
          <p:cNvPr id="19" name="Block 5"/>
          <p:cNvSpPr/>
          <p:nvPr/>
        </p:nvSpPr>
        <p:spPr>
          <a:xfrm>
            <a:off x="7424928" y="1325880"/>
            <a:ext cx="1261872" cy="1737360"/>
          </a:xfrm>
          <a:prstGeom prst="roundRect">
            <a:avLst>
              <a:gd name="adj" fmla="val 5797"/>
            </a:avLst>
          </a:prstGeom>
          <a:solidFill>
            <a:schemeClr val="bg2"/>
          </a:solidFill>
          <a:ln w="12700">
            <a:solidFill>
              <a:schemeClr val="bg2"/>
            </a:solidFill>
            <a:prstDash val="solid"/>
          </a:ln>
          <a:effectLst>
            <a:outerShdw blurRad="76200" dist="19050" dir="5400000" algn="bl" rotWithShape="0">
              <a:srgbClr val="000000">
                <a:alpha val="12000"/>
              </a:srgbClr>
            </a:outerShdw>
          </a:effectLst>
        </p:spPr>
        <p:txBody>
          <a:bodyPr/>
          <a:lstStyle/>
          <a:p>
            <a:endParaRPr lang="en-US"/>
          </a:p>
        </p:txBody>
      </p:sp>
      <p:sp>
        <p:nvSpPr>
          <p:cNvPr id="20" name="Block 5 minutes"/>
          <p:cNvSpPr txBox="1"/>
          <p:nvPr/>
        </p:nvSpPr>
        <p:spPr>
          <a:xfrm>
            <a:off x="7552944" y="1463040"/>
            <a:ext cx="1078992" cy="411480"/>
          </a:xfrm>
          <a:prstGeom prst="rect">
            <a:avLst/>
          </a:prstGeom>
          <a:noFill/>
          <a:ln/>
        </p:spPr>
        <p:txBody>
          <a:bodyPr wrap="square" lIns="0" tIns="0" rIns="0" bIns="0" rtlCol="0" anchor="t"/>
          <a:lstStyle/>
          <a:p>
            <a:pPr marL="0" indent="0">
              <a:buNone/>
            </a:pPr>
            <a:r>
              <a:rPr lang="en-US" sz="2200" b="1" dirty="0">
                <a:solidFill>
                  <a:schemeClr val="tx1"/>
                </a:solidFill>
                <a:latin typeface="Calibri" pitchFamily="34" charset="0"/>
                <a:ea typeface="Calibri" pitchFamily="34" charset="-122"/>
                <a:cs typeface="Calibri" pitchFamily="34" charset="-120"/>
              </a:rPr>
              <a:t>10 min</a:t>
            </a:r>
            <a:endParaRPr lang="en-US" sz="2200" dirty="0"/>
          </a:p>
        </p:txBody>
      </p:sp>
      <p:sp>
        <p:nvSpPr>
          <p:cNvPr id="21" name="Block 5 label"/>
          <p:cNvSpPr txBox="1"/>
          <p:nvPr/>
        </p:nvSpPr>
        <p:spPr>
          <a:xfrm>
            <a:off x="7552944" y="1920240"/>
            <a:ext cx="1060704" cy="685800"/>
          </a:xfrm>
          <a:prstGeom prst="rect">
            <a:avLst/>
          </a:prstGeom>
          <a:noFill/>
          <a:ln/>
        </p:spPr>
        <p:txBody>
          <a:bodyPr wrap="square" lIns="0" tIns="0" rIns="0" bIns="0" rtlCol="0" anchor="t"/>
          <a:lstStyle/>
          <a:p>
            <a:pPr marL="0" indent="0">
              <a:buNone/>
            </a:pPr>
            <a:r>
              <a:rPr lang="en-US" sz="1300" b="1" dirty="0">
                <a:solidFill>
                  <a:schemeClr val="tx1"/>
                </a:solidFill>
                <a:latin typeface="Calibri" pitchFamily="34" charset="0"/>
                <a:ea typeface="Calibri" pitchFamily="34" charset="-122"/>
                <a:cs typeface="Calibri" pitchFamily="34" charset="-120"/>
              </a:rPr>
              <a:t>Debrief</a:t>
            </a:r>
            <a:endParaRPr lang="en-US" sz="1300" dirty="0"/>
          </a:p>
        </p:txBody>
      </p:sp>
      <p:sp>
        <p:nvSpPr>
          <p:cNvPr id="22" name="Block 5 lead"/>
          <p:cNvSpPr txBox="1"/>
          <p:nvPr/>
        </p:nvSpPr>
        <p:spPr>
          <a:xfrm>
            <a:off x="7552944" y="2651760"/>
            <a:ext cx="1078992" cy="274320"/>
          </a:xfrm>
          <a:prstGeom prst="rect">
            <a:avLst/>
          </a:prstGeom>
          <a:noFill/>
          <a:ln/>
        </p:spPr>
        <p:txBody>
          <a:bodyPr wrap="square" lIns="0" tIns="0" rIns="0" bIns="0" rtlCol="0" anchor="t"/>
          <a:lstStyle/>
          <a:p>
            <a:pPr marL="0" indent="0">
              <a:buNone/>
            </a:pPr>
            <a:r>
              <a:rPr lang="en-US" sz="1100" dirty="0">
                <a:solidFill>
                  <a:schemeClr val="accent3"/>
                </a:solidFill>
                <a:latin typeface="Calibri" pitchFamily="34" charset="0"/>
                <a:ea typeface="Calibri" pitchFamily="34" charset="-122"/>
                <a:cs typeface="Calibri" pitchFamily="34" charset="-120"/>
              </a:rPr>
              <a:t>All of us</a:t>
            </a:r>
            <a:endParaRPr lang="en-US" sz="1100" dirty="0"/>
          </a:p>
        </p:txBody>
      </p:sp>
      <p:sp>
        <p:nvSpPr>
          <p:cNvPr id="23" name="Through-line"/>
          <p:cNvSpPr txBox="1"/>
          <p:nvPr/>
        </p:nvSpPr>
        <p:spPr>
          <a:xfrm>
            <a:off x="457200" y="3429000"/>
            <a:ext cx="8229600" cy="457200"/>
          </a:xfrm>
          <a:prstGeom prst="rect">
            <a:avLst/>
          </a:prstGeom>
          <a:noFill/>
          <a:ln/>
        </p:spPr>
        <p:txBody>
          <a:bodyPr wrap="square" lIns="0" tIns="0" rIns="0" bIns="0" rtlCol="0" anchor="ctr"/>
          <a:lstStyle/>
          <a:p>
            <a:pPr marL="0" indent="0" algn="ctr">
              <a:buNone/>
            </a:pPr>
            <a:r>
              <a:rPr lang="en-US" sz="1800" dirty="0">
                <a:solidFill>
                  <a:schemeClr val="tx1"/>
                </a:solidFill>
                <a:latin typeface="Calibri" pitchFamily="34" charset="0"/>
                <a:ea typeface="Calibri" pitchFamily="34" charset="-122"/>
                <a:cs typeface="Calibri" pitchFamily="34" charset="-120"/>
              </a:rPr>
              <a:t>One thread runs through both halves: </a:t>
            </a:r>
            <a:r>
              <a:rPr lang="en-US" sz="1800" b="1" dirty="0">
                <a:solidFill>
                  <a:schemeClr val="tx2"/>
                </a:solidFill>
                <a:latin typeface="Calibri" pitchFamily="34" charset="0"/>
                <a:ea typeface="Calibri" pitchFamily="34" charset="-122"/>
                <a:cs typeface="Calibri" pitchFamily="34" charset="-120"/>
              </a:rPr>
              <a:t>the human stays in the loop.</a:t>
            </a:r>
            <a:endParaRPr lang="en-US" sz="1800" dirty="0"/>
          </a:p>
        </p:txBody>
      </p:sp>
      <p:sp>
        <p:nvSpPr>
          <p:cNvPr id="25" name="Slide Number Placeholder 0"/>
          <p:cNvSpPr>
            <a:spLocks noGrp="1"/>
          </p:cNvSpPr>
          <p:nvPr>
            <p:ph type="sldNum" sz="quarter" idx="4294967295"/>
          </p:nvPr>
        </p:nvSpPr>
        <p:spPr>
          <a:xfrm>
            <a:off x="841248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3"/>
                </a:solidFill>
              </a:defRPr>
            </a:lvl1pPr>
          </a:lstStyle>
          <a:p>
            <a:pPr algn="r"/>
            <a:fld id="{F7021451-1387-4CA6-816F-3879F97B5CBC}" type="slidenum">
              <a:rPr lang="en-US" b="0"/>
              <a:t>2</a:t>
            </a:fld>
            <a:endParaRPr lang="en-US"/>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Quote mark" descr="Quotation mark"/>
          <p:cNvPicPr>
            <a:picLocks noChangeAspect="1"/>
          </p:cNvPicPr>
          <p:nvPr/>
        </p:nvPicPr>
        <p:blipFill>
          <a:blip r:embed="rId3"/>
          <a:stretch>
            <a:fillRect/>
          </a:stretch>
        </p:blipFill>
        <p:spPr>
          <a:xfrm>
            <a:off x="548640" y="594360"/>
            <a:ext cx="457200" cy="457200"/>
          </a:xfrm>
          <a:prstGeom prst="rect">
            <a:avLst/>
          </a:prstGeom>
        </p:spPr>
      </p:pic>
      <p:sp>
        <p:nvSpPr>
          <p:cNvPr id="3" name="Quote"/>
          <p:cNvSpPr txBox="1"/>
          <p:nvPr/>
        </p:nvSpPr>
        <p:spPr>
          <a:xfrm>
            <a:off x="548640" y="1234440"/>
            <a:ext cx="7863840" cy="1828800"/>
          </a:xfrm>
          <a:prstGeom prst="rect">
            <a:avLst/>
          </a:prstGeom>
          <a:noFill/>
          <a:ln/>
        </p:spPr>
        <p:txBody>
          <a:bodyPr wrap="square" lIns="0" tIns="0" rIns="0" bIns="0" rtlCol="0" anchor="t"/>
          <a:lstStyle/>
          <a:p>
            <a:pPr marL="0" indent="0">
              <a:lnSpc>
                <a:spcPct val="115000"/>
              </a:lnSpc>
              <a:buNone/>
            </a:pPr>
            <a:r>
              <a:rPr lang="en-US" sz="1800" i="1" dirty="0">
                <a:solidFill>
                  <a:schemeClr val="bg1"/>
                </a:solidFill>
                <a:latin typeface="Calibri" pitchFamily="34" charset="0"/>
                <a:ea typeface="Calibri" pitchFamily="34" charset="-122"/>
                <a:cs typeface="Calibri" pitchFamily="34" charset="-120"/>
              </a:rPr>
              <a:t>“You didn't ask for AI to arrive at [your] educational doorstep. . . You didn't ask for an unregulated, untested, unreliable, untraceable, and unrelenting technology to upend education... it is clear the genie is out of the bottle... it is not going back in nor is it going to slow down for us to catch up.”</a:t>
            </a:r>
            <a:endParaRPr lang="en-US" sz="1800" dirty="0"/>
          </a:p>
        </p:txBody>
      </p:sp>
      <p:sp>
        <p:nvSpPr>
          <p:cNvPr id="4" name="Turn"/>
          <p:cNvSpPr txBox="1"/>
          <p:nvPr/>
        </p:nvSpPr>
        <p:spPr>
          <a:xfrm>
            <a:off x="548640" y="3337560"/>
            <a:ext cx="7863840" cy="502920"/>
          </a:xfrm>
          <a:prstGeom prst="rect">
            <a:avLst/>
          </a:prstGeom>
          <a:noFill/>
          <a:ln/>
        </p:spPr>
        <p:txBody>
          <a:bodyPr wrap="square" lIns="0" tIns="0" rIns="0" bIns="0" rtlCol="0" anchor="t"/>
          <a:lstStyle/>
          <a:p>
            <a:pPr marL="0" indent="0">
              <a:buNone/>
            </a:pPr>
            <a:r>
              <a:rPr lang="en-US" sz="2600" b="1" dirty="0">
                <a:solidFill>
                  <a:schemeClr val="accent2"/>
                </a:solidFill>
                <a:latin typeface="Calibri" pitchFamily="34" charset="0"/>
                <a:ea typeface="Calibri" pitchFamily="34" charset="-122"/>
                <a:cs typeface="Calibri" pitchFamily="34" charset="-120"/>
              </a:rPr>
              <a:t>Neither did your students.</a:t>
            </a:r>
            <a:endParaRPr lang="en-US" sz="2600" dirty="0"/>
          </a:p>
        </p:txBody>
      </p:sp>
      <p:sp>
        <p:nvSpPr>
          <p:cNvPr id="5" name="Citation"/>
          <p:cNvSpPr txBox="1"/>
          <p:nvPr/>
        </p:nvSpPr>
        <p:spPr>
          <a:xfrm>
            <a:off x="457200" y="4754880"/>
            <a:ext cx="7772400" cy="256032"/>
          </a:xfrm>
          <a:prstGeom prst="rect">
            <a:avLst/>
          </a:prstGeom>
          <a:noFill/>
          <a:ln/>
        </p:spPr>
        <p:txBody>
          <a:bodyPr wrap="square" lIns="0" tIns="0" rIns="0" bIns="0" rtlCol="0" anchor="ctr"/>
          <a:lstStyle/>
          <a:p>
            <a:pPr marL="0" indent="0">
              <a:buNone/>
            </a:pPr>
            <a:r>
              <a:rPr lang="en-US" sz="1000" dirty="0">
                <a:solidFill>
                  <a:srgbClr val="C9CCCA"/>
                </a:solidFill>
                <a:latin typeface="Calibri" pitchFamily="34" charset="0"/>
                <a:ea typeface="Calibri" pitchFamily="34" charset="-122"/>
                <a:cs typeface="Calibri" pitchFamily="34" charset="-120"/>
              </a:rPr>
              <a:t>Ludwig &amp; Zakrajsek (2026), The Science of Learning Meets AI, p. 3</a:t>
            </a:r>
            <a:endParaRPr lang="en-US" sz="1000" dirty="0"/>
          </a:p>
        </p:txBody>
      </p:sp>
      <p:sp>
        <p:nvSpPr>
          <p:cNvPr id="25" name="Slide Number Placeholder 0"/>
          <p:cNvSpPr>
            <a:spLocks noGrp="1"/>
          </p:cNvSpPr>
          <p:nvPr>
            <p:ph type="sldNum" sz="quarter" idx="4294967295"/>
          </p:nvPr>
        </p:nvSpPr>
        <p:spPr>
          <a:xfrm>
            <a:off x="841248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C9CCCA"/>
                </a:solidFill>
              </a:defRPr>
            </a:lvl1pPr>
          </a:lstStyle>
          <a:p>
            <a:pPr algn="r"/>
            <a:fld id="{F7021451-1387-4CA6-816F-3879F97B5CBC}" type="slidenum">
              <a:rPr lang="en-US" b="0"/>
              <a:t>3</a:t>
            </a:fld>
            <a:endParaRPr lang="en-US"/>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we="http://schemas.microsoft.com/office/webextensions/webextension/2010/11" xmlns:pca="http://schemas.microsoft.com/office/powerpoint/2013/contentapp" Requires="we pca">
          <p:graphicFrame>
            <p:nvGraphicFramePr>
              <p:cNvPr id="2" name="Add-in 1">
                <a:extLst>
                  <a:ext uri="{FF2B5EF4-FFF2-40B4-BE49-F238E27FC236}">
                    <a16:creationId xmlns:a16="http://schemas.microsoft.com/office/drawing/2014/main" id="{3375E7B7-54EB-7E6A-B75C-37B720A099D2}"/>
                  </a:ext>
                </a:extLst>
              </p:cNvPr>
              <p:cNvGraphicFramePr>
                <a:graphicFrameLocks noGrp="1"/>
              </p:cNvGraphicFramePr>
              <p:nvPr/>
            </p:nvGraphicFramePr>
            <p:xfrm>
              <a:off x="-508000" y="-285750"/>
              <a:ext cx="10160000" cy="5715000"/>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2" name="Add-in 1">
                <a:extLst>
                  <a:ext uri="{FF2B5EF4-FFF2-40B4-BE49-F238E27FC236}">
                    <a16:creationId xmlns:a16="http://schemas.microsoft.com/office/drawing/2014/main" id="{3375E7B7-54EB-7E6A-B75C-37B720A099D2}"/>
                  </a:ext>
                </a:extLst>
              </p:cNvPr>
              <p:cNvPicPr>
                <a:picLocks noGrp="1" noRot="1" noChangeAspect="1" noMove="1" noResize="1" noEditPoints="1" noAdjustHandles="1" noChangeArrowheads="1" noChangeShapeType="1"/>
              </p:cNvPicPr>
              <p:nvPr/>
            </p:nvPicPr>
            <p:blipFill>
              <a:blip r:embed="rId3">
                <a:clrChange>
                  <a:clrFrom>
                    <a:prstClr val="black"/>
                  </a:clrFrom>
                  <a:clrTo>
                    <a:prstClr val="black">
                      <a:alpha val="0"/>
                    </a:prstClr>
                  </a:clrTo>
                </a:clrChange>
              </a:blip>
              <a:stretch>
                <a:fillRect/>
              </a:stretch>
            </p:blipFill>
            <p:spPr>
              <a:xfrm>
                <a:off x="-508000" y="-285750"/>
                <a:ext cx="10160000" cy="5715000"/>
              </a:xfrm>
              <a:prstGeom prst="rect">
                <a:avLst/>
              </a:prstGeom>
            </p:spPr>
          </p:pic>
        </mc:Fallback>
      </mc:AlternateContent>
      <mc:AlternateContent xmlns:mc="http://schemas.openxmlformats.org/markup-compatibility/2006">
        <mc:Choice xmlns:we="http://schemas.microsoft.com/office/webextensions/webextension/2010/11" xmlns:pca="http://schemas.microsoft.com/office/powerpoint/2013/contentapp" Requires="we pca">
          <p:graphicFrame>
            <p:nvGraphicFramePr>
              <p:cNvPr id="3" name="Add-in 2" title="Forms for PowerPoint">
                <a:extLst>
                  <a:ext uri="{FF2B5EF4-FFF2-40B4-BE49-F238E27FC236}">
                    <a16:creationId xmlns:a16="http://schemas.microsoft.com/office/drawing/2014/main" id="{7F50B32E-3197-693F-6BBB-F0AC11FA40B4}"/>
                  </a:ext>
                </a:extLst>
              </p:cNvPr>
              <p:cNvGraphicFramePr>
                <a:graphicFrameLocks noGrp="1"/>
              </p:cNvGraphicFramePr>
              <p:nvPr/>
            </p:nvGraphicFramePr>
            <p:xfrm>
              <a:off x="-508000" y="-285750"/>
              <a:ext cx="10160000" cy="5715000"/>
            </p:xfrm>
            <a:graphic>
              <a:graphicData uri="http://schemas.microsoft.com/office/webextensions/webextension/2010/11">
                <we:webextensionref xmlns:we="http://schemas.microsoft.com/office/webextensions/webextension/2010/11" xmlns:r="http://schemas.openxmlformats.org/officeDocument/2006/relationships" r:id="rId4"/>
              </a:graphicData>
            </a:graphic>
          </p:graphicFrame>
        </mc:Choice>
        <mc:Fallback>
          <p:pic>
            <p:nvPicPr>
              <p:cNvPr id="3" name="Add-in 2" title="Forms for PowerPoint">
                <a:extLst>
                  <a:ext uri="{FF2B5EF4-FFF2-40B4-BE49-F238E27FC236}">
                    <a16:creationId xmlns:a16="http://schemas.microsoft.com/office/drawing/2014/main" id="{7F50B32E-3197-693F-6BBB-F0AC11FA40B4}"/>
                  </a:ext>
                </a:extLst>
              </p:cNvPr>
              <p:cNvPicPr>
                <a:picLocks noGrp="1" noRot="1" noChangeAspect="1" noMove="1" noResize="1" noEditPoints="1" noAdjustHandles="1" noChangeArrowheads="1" noChangeShapeType="1"/>
              </p:cNvPicPr>
              <p:nvPr/>
            </p:nvPicPr>
            <p:blipFill>
              <a:blip r:embed="rId3">
                <a:clrChange>
                  <a:clrFrom>
                    <a:prstClr val="black"/>
                  </a:clrFrom>
                  <a:clrTo>
                    <a:prstClr val="black">
                      <a:alpha val="0"/>
                    </a:prstClr>
                  </a:clrTo>
                </a:clrChange>
              </a:blip>
              <a:stretch>
                <a:fillRect/>
              </a:stretch>
            </p:blipFill>
            <p:spPr>
              <a:xfrm>
                <a:off x="-508000" y="-285750"/>
                <a:ext cx="10160000" cy="5715000"/>
              </a:xfrm>
              <a:prstGeom prst="rect">
                <a:avLst/>
              </a:prstGeom>
            </p:spPr>
          </p:pic>
        </mc:Fallback>
      </mc:AlternateContent>
    </p:spTree>
    <p:extLst>
      <p:ext uri="{BB962C8B-B14F-4D97-AF65-F5344CB8AC3E}">
        <p14:creationId xmlns:p14="http://schemas.microsoft.com/office/powerpoint/2010/main" val="37997545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85800"/>
          </a:xfrm>
          <a:prstGeom prst="rect">
            <a:avLst/>
          </a:prstGeom>
          <a:noFill/>
          <a:ln/>
        </p:spPr>
        <p:txBody>
          <a:bodyPr wrap="square" lIns="0" tIns="0" rIns="0" bIns="0" rtlCol="0" anchor="ctr"/>
          <a:lstStyle/>
          <a:p>
            <a:pPr marL="0" indent="0" algn="ctr">
              <a:buNone/>
            </a:pPr>
            <a:r>
              <a:rPr lang="en-US" sz="3400" b="1" dirty="0">
                <a:solidFill>
                  <a:schemeClr val="tx2"/>
                </a:solidFill>
              </a:rPr>
              <a:t>The human stays in the loop</a:t>
            </a:r>
            <a:endParaRPr lang="en-US" sz="3400" dirty="0"/>
          </a:p>
        </p:txBody>
      </p:sp>
      <p:sp>
        <p:nvSpPr>
          <p:cNvPr id="3" name="You circle"/>
          <p:cNvSpPr/>
          <p:nvPr/>
        </p:nvSpPr>
        <p:spPr>
          <a:xfrm>
            <a:off x="1554480" y="1097280"/>
            <a:ext cx="914400" cy="914400"/>
          </a:xfrm>
          <a:prstGeom prst="ellipse">
            <a:avLst/>
          </a:prstGeom>
          <a:solidFill>
            <a:schemeClr val="accent1"/>
          </a:solidFill>
          <a:ln w="12700">
            <a:solidFill>
              <a:schemeClr val="accent1"/>
            </a:solidFill>
            <a:prstDash val="solid"/>
          </a:ln>
        </p:spPr>
        <p:txBody>
          <a:bodyPr/>
          <a:lstStyle/>
          <a:p>
            <a:endParaRPr lang="en-US"/>
          </a:p>
        </p:txBody>
      </p:sp>
      <p:pic>
        <p:nvPicPr>
          <p:cNvPr id="4" name="You icon" descr="You"/>
          <p:cNvPicPr>
            <a:picLocks noChangeAspect="1"/>
          </p:cNvPicPr>
          <p:nvPr/>
        </p:nvPicPr>
        <p:blipFill>
          <a:blip r:embed="rId3"/>
          <a:stretch>
            <a:fillRect/>
          </a:stretch>
        </p:blipFill>
        <p:spPr>
          <a:xfrm>
            <a:off x="1792224" y="1335024"/>
            <a:ext cx="438912" cy="438912"/>
          </a:xfrm>
          <a:prstGeom prst="rect">
            <a:avLst/>
          </a:prstGeom>
        </p:spPr>
      </p:pic>
      <p:sp>
        <p:nvSpPr>
          <p:cNvPr id="5" name="You label"/>
          <p:cNvSpPr txBox="1"/>
          <p:nvPr/>
        </p:nvSpPr>
        <p:spPr>
          <a:xfrm>
            <a:off x="914400" y="2084832"/>
            <a:ext cx="2194560" cy="320040"/>
          </a:xfrm>
          <a:prstGeom prst="rect">
            <a:avLst/>
          </a:prstGeom>
          <a:noFill/>
          <a:ln/>
        </p:spPr>
        <p:txBody>
          <a:bodyPr wrap="square" lIns="0" tIns="0" rIns="0" bIns="0" rtlCol="0" anchor="t"/>
          <a:lstStyle/>
          <a:p>
            <a:pPr marL="0" indent="0" algn="ctr">
              <a:buNone/>
            </a:pPr>
            <a:r>
              <a:rPr lang="en-US" sz="1600" b="1" dirty="0">
                <a:solidFill>
                  <a:schemeClr val="tx1"/>
                </a:solidFill>
                <a:latin typeface="Calibri" pitchFamily="34" charset="0"/>
                <a:ea typeface="Calibri" pitchFamily="34" charset="-122"/>
                <a:cs typeface="Calibri" pitchFamily="34" charset="-120"/>
              </a:rPr>
              <a:t>You</a:t>
            </a:r>
            <a:endParaRPr lang="en-US" sz="1600" dirty="0"/>
          </a:p>
        </p:txBody>
      </p:sp>
      <p:sp>
        <p:nvSpPr>
          <p:cNvPr id="6" name="Your students circle"/>
          <p:cNvSpPr/>
          <p:nvPr/>
        </p:nvSpPr>
        <p:spPr>
          <a:xfrm>
            <a:off x="4114800" y="1097280"/>
            <a:ext cx="914400" cy="914400"/>
          </a:xfrm>
          <a:prstGeom prst="ellipse">
            <a:avLst/>
          </a:prstGeom>
          <a:solidFill>
            <a:schemeClr val="accent2"/>
          </a:solidFill>
          <a:ln w="12700">
            <a:solidFill>
              <a:schemeClr val="accent2"/>
            </a:solidFill>
            <a:prstDash val="solid"/>
          </a:ln>
        </p:spPr>
        <p:txBody>
          <a:bodyPr/>
          <a:lstStyle/>
          <a:p>
            <a:endParaRPr lang="en-US"/>
          </a:p>
        </p:txBody>
      </p:sp>
      <p:pic>
        <p:nvPicPr>
          <p:cNvPr id="7" name="Your students icon" descr="Your students"/>
          <p:cNvPicPr>
            <a:picLocks noChangeAspect="1"/>
          </p:cNvPicPr>
          <p:nvPr/>
        </p:nvPicPr>
        <p:blipFill>
          <a:blip r:embed="rId4"/>
          <a:stretch>
            <a:fillRect/>
          </a:stretch>
        </p:blipFill>
        <p:spPr>
          <a:xfrm>
            <a:off x="4352544" y="1335024"/>
            <a:ext cx="438912" cy="438912"/>
          </a:xfrm>
          <a:prstGeom prst="rect">
            <a:avLst/>
          </a:prstGeom>
        </p:spPr>
      </p:pic>
      <p:sp>
        <p:nvSpPr>
          <p:cNvPr id="8" name="Your students label"/>
          <p:cNvSpPr txBox="1"/>
          <p:nvPr/>
        </p:nvSpPr>
        <p:spPr>
          <a:xfrm>
            <a:off x="3474720" y="2084832"/>
            <a:ext cx="2194560" cy="320040"/>
          </a:xfrm>
          <a:prstGeom prst="rect">
            <a:avLst/>
          </a:prstGeom>
          <a:noFill/>
          <a:ln/>
        </p:spPr>
        <p:txBody>
          <a:bodyPr wrap="square" lIns="0" tIns="0" rIns="0" bIns="0" rtlCol="0" anchor="t"/>
          <a:lstStyle/>
          <a:p>
            <a:pPr marL="0" indent="0" algn="ctr">
              <a:buNone/>
            </a:pPr>
            <a:r>
              <a:rPr lang="en-US" sz="1600" b="1" dirty="0">
                <a:solidFill>
                  <a:schemeClr val="tx1"/>
                </a:solidFill>
                <a:latin typeface="Calibri" pitchFamily="34" charset="0"/>
                <a:ea typeface="Calibri" pitchFamily="34" charset="-122"/>
                <a:cs typeface="Calibri" pitchFamily="34" charset="-120"/>
              </a:rPr>
              <a:t>Your students</a:t>
            </a:r>
            <a:endParaRPr lang="en-US" sz="1600" dirty="0"/>
          </a:p>
        </p:txBody>
      </p:sp>
      <p:sp>
        <p:nvSpPr>
          <p:cNvPr id="9" name="All of us circle"/>
          <p:cNvSpPr/>
          <p:nvPr/>
        </p:nvSpPr>
        <p:spPr>
          <a:xfrm>
            <a:off x="6675120" y="1097280"/>
            <a:ext cx="914400" cy="914400"/>
          </a:xfrm>
          <a:prstGeom prst="ellipse">
            <a:avLst/>
          </a:prstGeom>
          <a:solidFill>
            <a:schemeClr val="accent1"/>
          </a:solidFill>
          <a:ln w="12700">
            <a:solidFill>
              <a:schemeClr val="accent1"/>
            </a:solidFill>
            <a:prstDash val="solid"/>
          </a:ln>
        </p:spPr>
        <p:txBody>
          <a:bodyPr/>
          <a:lstStyle/>
          <a:p>
            <a:endParaRPr lang="en-US"/>
          </a:p>
        </p:txBody>
      </p:sp>
      <p:pic>
        <p:nvPicPr>
          <p:cNvPr id="10" name="All of us icon" descr="All of us"/>
          <p:cNvPicPr>
            <a:picLocks noChangeAspect="1"/>
          </p:cNvPicPr>
          <p:nvPr/>
        </p:nvPicPr>
        <p:blipFill>
          <a:blip r:embed="rId5"/>
          <a:stretch>
            <a:fillRect/>
          </a:stretch>
        </p:blipFill>
        <p:spPr>
          <a:xfrm>
            <a:off x="6912864" y="1335024"/>
            <a:ext cx="438912" cy="438912"/>
          </a:xfrm>
          <a:prstGeom prst="rect">
            <a:avLst/>
          </a:prstGeom>
        </p:spPr>
      </p:pic>
      <p:sp>
        <p:nvSpPr>
          <p:cNvPr id="11" name="All of us label"/>
          <p:cNvSpPr txBox="1"/>
          <p:nvPr/>
        </p:nvSpPr>
        <p:spPr>
          <a:xfrm>
            <a:off x="6035040" y="2084832"/>
            <a:ext cx="2194560" cy="320040"/>
          </a:xfrm>
          <a:prstGeom prst="rect">
            <a:avLst/>
          </a:prstGeom>
          <a:noFill/>
          <a:ln/>
        </p:spPr>
        <p:txBody>
          <a:bodyPr wrap="square" lIns="0" tIns="0" rIns="0" bIns="0" rtlCol="0" anchor="t"/>
          <a:lstStyle/>
          <a:p>
            <a:pPr marL="0" indent="0" algn="ctr">
              <a:buNone/>
            </a:pPr>
            <a:r>
              <a:rPr lang="en-US" sz="1600" b="1" dirty="0">
                <a:solidFill>
                  <a:schemeClr val="tx1"/>
                </a:solidFill>
                <a:latin typeface="Calibri" pitchFamily="34" charset="0"/>
                <a:ea typeface="Calibri" pitchFamily="34" charset="-122"/>
                <a:cs typeface="Calibri" pitchFamily="34" charset="-120"/>
              </a:rPr>
              <a:t>All of us</a:t>
            </a:r>
            <a:endParaRPr lang="en-US" sz="1600" dirty="0"/>
          </a:p>
        </p:txBody>
      </p:sp>
      <p:sp>
        <p:nvSpPr>
          <p:cNvPr id="12" name="Loop statement"/>
          <p:cNvSpPr txBox="1"/>
          <p:nvPr/>
        </p:nvSpPr>
        <p:spPr>
          <a:xfrm>
            <a:off x="914400" y="2514600"/>
            <a:ext cx="7315200" cy="685800"/>
          </a:xfrm>
          <a:prstGeom prst="rect">
            <a:avLst/>
          </a:prstGeom>
          <a:noFill/>
          <a:ln/>
        </p:spPr>
        <p:txBody>
          <a:bodyPr wrap="square" lIns="0" tIns="0" rIns="0" bIns="0" rtlCol="0" anchor="t"/>
          <a:lstStyle/>
          <a:p>
            <a:pPr marL="0" indent="0" algn="ctr">
              <a:buNone/>
            </a:pPr>
            <a:r>
              <a:rPr lang="en-US" sz="1500" i="1" dirty="0">
                <a:solidFill>
                  <a:schemeClr val="accent3"/>
                </a:solidFill>
                <a:latin typeface="Calibri" pitchFamily="34" charset="0"/>
                <a:ea typeface="Calibri" pitchFamily="34" charset="-122"/>
                <a:cs typeface="Calibri" pitchFamily="34" charset="-120"/>
              </a:rPr>
              <a:t>You're a human in a learning loop, teaching humans in your learning loops, and every one of us is figuring out how to learn in an AI-integrated loop.</a:t>
            </a:r>
            <a:endParaRPr lang="en-US" sz="1500" dirty="0"/>
          </a:p>
        </p:txBody>
      </p:sp>
      <p:sp>
        <p:nvSpPr>
          <p:cNvPr id="13" name="Part card 1"/>
          <p:cNvSpPr/>
          <p:nvPr/>
        </p:nvSpPr>
        <p:spPr>
          <a:xfrm>
            <a:off x="457200" y="3383280"/>
            <a:ext cx="3977640" cy="1097280"/>
          </a:xfrm>
          <a:prstGeom prst="roundRect">
            <a:avLst>
              <a:gd name="adj" fmla="val 6667"/>
            </a:avLst>
          </a:prstGeom>
          <a:solidFill>
            <a:schemeClr val="accent4"/>
          </a:solidFill>
          <a:ln w="12700">
            <a:solidFill>
              <a:schemeClr val="accent4"/>
            </a:solidFill>
            <a:prstDash val="solid"/>
          </a:ln>
        </p:spPr>
        <p:txBody>
          <a:bodyPr/>
          <a:lstStyle/>
          <a:p>
            <a:endParaRPr lang="en-US"/>
          </a:p>
        </p:txBody>
      </p:sp>
      <p:sp>
        <p:nvSpPr>
          <p:cNvPr id="14" name="Part 1 kicker"/>
          <p:cNvSpPr txBox="1"/>
          <p:nvPr/>
        </p:nvSpPr>
        <p:spPr>
          <a:xfrm>
            <a:off x="685800" y="3520440"/>
            <a:ext cx="3566160" cy="274320"/>
          </a:xfrm>
          <a:prstGeom prst="rect">
            <a:avLst/>
          </a:prstGeom>
          <a:noFill/>
          <a:ln/>
        </p:spPr>
        <p:txBody>
          <a:bodyPr wrap="square" lIns="0" tIns="0" rIns="0" bIns="0" rtlCol="0" anchor="t"/>
          <a:lstStyle/>
          <a:p>
            <a:pPr marL="0" indent="0">
              <a:buNone/>
            </a:pPr>
            <a:r>
              <a:rPr lang="en-US" sz="1200" b="1" kern="0" spc="100" dirty="0">
                <a:solidFill>
                  <a:schemeClr val="tx2"/>
                </a:solidFill>
                <a:latin typeface="Calibri" pitchFamily="34" charset="0"/>
                <a:ea typeface="Calibri" pitchFamily="34" charset="-122"/>
                <a:cs typeface="Calibri" pitchFamily="34" charset="-120"/>
              </a:rPr>
              <a:t>PART 1  ·  THE LEARNING LOOP</a:t>
            </a:r>
            <a:endParaRPr lang="en-US" sz="1200" dirty="0"/>
          </a:p>
        </p:txBody>
      </p:sp>
      <p:sp>
        <p:nvSpPr>
          <p:cNvPr id="15" name="Part 1 body"/>
          <p:cNvSpPr txBox="1"/>
          <p:nvPr/>
        </p:nvSpPr>
        <p:spPr>
          <a:xfrm>
            <a:off x="685800" y="3840480"/>
            <a:ext cx="3566160" cy="54864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The student does the thinking and decision making the course exists to build.</a:t>
            </a:r>
            <a:endParaRPr lang="en-US" sz="1500" dirty="0"/>
          </a:p>
        </p:txBody>
      </p:sp>
      <p:sp>
        <p:nvSpPr>
          <p:cNvPr id="16" name="Part card 2"/>
          <p:cNvSpPr/>
          <p:nvPr/>
        </p:nvSpPr>
        <p:spPr>
          <a:xfrm>
            <a:off x="4709160" y="3383280"/>
            <a:ext cx="3977640" cy="1097280"/>
          </a:xfrm>
          <a:prstGeom prst="roundRect">
            <a:avLst>
              <a:gd name="adj" fmla="val 6667"/>
            </a:avLst>
          </a:prstGeom>
          <a:solidFill>
            <a:schemeClr val="bg2"/>
          </a:solidFill>
          <a:ln w="12700">
            <a:solidFill>
              <a:schemeClr val="bg2"/>
            </a:solidFill>
            <a:prstDash val="solid"/>
          </a:ln>
        </p:spPr>
        <p:txBody>
          <a:bodyPr/>
          <a:lstStyle/>
          <a:p>
            <a:endParaRPr lang="en-US"/>
          </a:p>
        </p:txBody>
      </p:sp>
      <p:sp>
        <p:nvSpPr>
          <p:cNvPr id="17" name="Part 2 kicker"/>
          <p:cNvSpPr txBox="1"/>
          <p:nvPr/>
        </p:nvSpPr>
        <p:spPr>
          <a:xfrm>
            <a:off x="4937760" y="3520440"/>
            <a:ext cx="3566160" cy="274320"/>
          </a:xfrm>
          <a:prstGeom prst="rect">
            <a:avLst/>
          </a:prstGeom>
          <a:noFill/>
          <a:ln/>
        </p:spPr>
        <p:txBody>
          <a:bodyPr wrap="square" lIns="0" tIns="0" rIns="0" bIns="0" rtlCol="0" anchor="t"/>
          <a:lstStyle/>
          <a:p>
            <a:pPr marL="0" indent="0">
              <a:buNone/>
            </a:pPr>
            <a:r>
              <a:rPr lang="en-US" sz="1200" b="1" kern="0" spc="100" dirty="0">
                <a:solidFill>
                  <a:schemeClr val="tx2"/>
                </a:solidFill>
                <a:latin typeface="Calibri" pitchFamily="34" charset="0"/>
                <a:ea typeface="Calibri" pitchFamily="34" charset="-122"/>
                <a:cs typeface="Calibri" pitchFamily="34" charset="-120"/>
              </a:rPr>
              <a:t>PART 2  ·  THE RESEARCH LOOP</a:t>
            </a:r>
            <a:endParaRPr lang="en-US" sz="1200" dirty="0"/>
          </a:p>
        </p:txBody>
      </p:sp>
      <p:sp>
        <p:nvSpPr>
          <p:cNvPr id="18" name="Part 2 body"/>
          <p:cNvSpPr txBox="1"/>
          <p:nvPr/>
        </p:nvSpPr>
        <p:spPr>
          <a:xfrm>
            <a:off x="4937760" y="3840480"/>
            <a:ext cx="3566160" cy="54864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The student as researcher judges what the model returns.</a:t>
            </a:r>
            <a:endParaRPr lang="en-US" sz="1500" dirty="0"/>
          </a:p>
        </p:txBody>
      </p:sp>
      <p:sp>
        <p:nvSpPr>
          <p:cNvPr id="25" name="Slide Number Placeholder 0"/>
          <p:cNvSpPr>
            <a:spLocks noGrp="1"/>
          </p:cNvSpPr>
          <p:nvPr>
            <p:ph type="sldNum" sz="quarter" idx="4294967295"/>
          </p:nvPr>
        </p:nvSpPr>
        <p:spPr>
          <a:xfrm>
            <a:off x="841248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3"/>
                </a:solidFill>
              </a:defRPr>
            </a:lvl1pPr>
          </a:lstStyle>
          <a:p>
            <a:pPr algn="r"/>
            <a:fld id="{F7021451-1387-4CA6-816F-3879F97B5CBC}" type="slidenum">
              <a:rPr lang="en-US" b="0"/>
              <a:t>5</a:t>
            </a:fld>
            <a:endParaRPr lang="en-US"/>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85800"/>
          </a:xfrm>
          <a:prstGeom prst="rect">
            <a:avLst/>
          </a:prstGeom>
          <a:noFill/>
          <a:ln/>
        </p:spPr>
        <p:txBody>
          <a:bodyPr wrap="square" lIns="0" tIns="0" rIns="0" bIns="0" rtlCol="0" anchor="ctr"/>
          <a:lstStyle/>
          <a:p>
            <a:pPr marL="0" indent="0" algn="ctr">
              <a:buNone/>
            </a:pPr>
            <a:r>
              <a:rPr lang="en-US" sz="3400" b="1" dirty="0">
                <a:solidFill>
                  <a:schemeClr val="tx2"/>
                </a:solidFill>
              </a:rPr>
              <a:t>The 4Ds of AI Fluency</a:t>
            </a:r>
            <a:endParaRPr lang="en-US" sz="3400" dirty="0"/>
          </a:p>
        </p:txBody>
      </p:sp>
      <p:sp>
        <p:nvSpPr>
          <p:cNvPr id="3" name="Delegation card"/>
          <p:cNvSpPr/>
          <p:nvPr/>
        </p:nvSpPr>
        <p:spPr>
          <a:xfrm>
            <a:off x="457200" y="1143000"/>
            <a:ext cx="3977640" cy="1572768"/>
          </a:xfrm>
          <a:prstGeom prst="roundRect">
            <a:avLst>
              <a:gd name="adj" fmla="val 4651"/>
            </a:avLst>
          </a:prstGeom>
          <a:solidFill>
            <a:schemeClr val="accent4"/>
          </a:solidFill>
          <a:ln w="12700">
            <a:solidFill>
              <a:schemeClr val="accent4"/>
            </a:solidFill>
            <a:prstDash val="solid"/>
          </a:ln>
          <a:effectLst>
            <a:outerShdw blurRad="76200" dist="19050" dir="5400000" algn="bl" rotWithShape="0">
              <a:srgbClr val="000000">
                <a:alpha val="12000"/>
              </a:srgbClr>
            </a:outerShdw>
          </a:effectLst>
        </p:spPr>
        <p:txBody>
          <a:bodyPr/>
          <a:lstStyle/>
          <a:p>
            <a:endParaRPr lang="en-US"/>
          </a:p>
        </p:txBody>
      </p:sp>
      <p:sp>
        <p:nvSpPr>
          <p:cNvPr id="4" name="Delegation circle"/>
          <p:cNvSpPr/>
          <p:nvPr/>
        </p:nvSpPr>
        <p:spPr>
          <a:xfrm>
            <a:off x="658368" y="1371600"/>
            <a:ext cx="566928" cy="566928"/>
          </a:xfrm>
          <a:prstGeom prst="ellipse">
            <a:avLst/>
          </a:prstGeom>
          <a:solidFill>
            <a:schemeClr val="accent1"/>
          </a:solidFill>
          <a:ln w="12700">
            <a:solidFill>
              <a:schemeClr val="accent1"/>
            </a:solidFill>
            <a:prstDash val="solid"/>
          </a:ln>
        </p:spPr>
        <p:txBody>
          <a:bodyPr/>
          <a:lstStyle/>
          <a:p>
            <a:endParaRPr lang="en-US"/>
          </a:p>
        </p:txBody>
      </p:sp>
      <p:pic>
        <p:nvPicPr>
          <p:cNvPr id="5" name="Delegation icon" descr="Delegation"/>
          <p:cNvPicPr>
            <a:picLocks noChangeAspect="1"/>
          </p:cNvPicPr>
          <p:nvPr/>
        </p:nvPicPr>
        <p:blipFill>
          <a:blip r:embed="rId3"/>
          <a:stretch>
            <a:fillRect/>
          </a:stretch>
        </p:blipFill>
        <p:spPr>
          <a:xfrm>
            <a:off x="805769" y="1519001"/>
            <a:ext cx="272125" cy="272125"/>
          </a:xfrm>
          <a:prstGeom prst="rect">
            <a:avLst/>
          </a:prstGeom>
        </p:spPr>
      </p:pic>
      <p:sp>
        <p:nvSpPr>
          <p:cNvPr id="6" name="Delegation name"/>
          <p:cNvSpPr txBox="1"/>
          <p:nvPr/>
        </p:nvSpPr>
        <p:spPr>
          <a:xfrm>
            <a:off x="1417320" y="1344168"/>
            <a:ext cx="2834640" cy="365760"/>
          </a:xfrm>
          <a:prstGeom prst="rect">
            <a:avLst/>
          </a:prstGeom>
          <a:noFill/>
          <a:ln/>
        </p:spPr>
        <p:txBody>
          <a:bodyPr wrap="square" lIns="0" tIns="0" rIns="0" bIns="0" rtlCol="0" anchor="ctr"/>
          <a:lstStyle/>
          <a:p>
            <a:pPr marL="0" indent="0">
              <a:buNone/>
            </a:pPr>
            <a:r>
              <a:rPr lang="en-US" sz="1900" b="1" dirty="0">
                <a:solidFill>
                  <a:schemeClr val="tx2"/>
                </a:solidFill>
                <a:latin typeface="Calibri" pitchFamily="34" charset="0"/>
                <a:ea typeface="Calibri" pitchFamily="34" charset="-122"/>
                <a:cs typeface="Calibri" pitchFamily="34" charset="-120"/>
              </a:rPr>
              <a:t>Delegation</a:t>
            </a:r>
            <a:endParaRPr lang="en-US" sz="1900" dirty="0"/>
          </a:p>
        </p:txBody>
      </p:sp>
      <p:sp>
        <p:nvSpPr>
          <p:cNvPr id="7" name="Delegation definition"/>
          <p:cNvSpPr txBox="1"/>
          <p:nvPr/>
        </p:nvSpPr>
        <p:spPr>
          <a:xfrm>
            <a:off x="1417320" y="1764792"/>
            <a:ext cx="2834640" cy="8686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Setting goals and deciding whether, when, and how to engage AI at all.</a:t>
            </a:r>
            <a:endParaRPr lang="en-US" sz="1400" dirty="0"/>
          </a:p>
        </p:txBody>
      </p:sp>
      <p:sp>
        <p:nvSpPr>
          <p:cNvPr id="8" name="Description card"/>
          <p:cNvSpPr/>
          <p:nvPr/>
        </p:nvSpPr>
        <p:spPr>
          <a:xfrm>
            <a:off x="4709160" y="1143000"/>
            <a:ext cx="3977640" cy="1572768"/>
          </a:xfrm>
          <a:prstGeom prst="roundRect">
            <a:avLst>
              <a:gd name="adj" fmla="val 4651"/>
            </a:avLst>
          </a:prstGeom>
          <a:solidFill>
            <a:schemeClr val="bg2"/>
          </a:solidFill>
          <a:ln w="12700">
            <a:solidFill>
              <a:schemeClr val="bg2"/>
            </a:solidFill>
            <a:prstDash val="solid"/>
          </a:ln>
          <a:effectLst>
            <a:outerShdw blurRad="76200" dist="19050" dir="5400000" algn="bl" rotWithShape="0">
              <a:srgbClr val="000000">
                <a:alpha val="12000"/>
              </a:srgbClr>
            </a:outerShdw>
          </a:effectLst>
        </p:spPr>
        <p:txBody>
          <a:bodyPr/>
          <a:lstStyle/>
          <a:p>
            <a:endParaRPr lang="en-US"/>
          </a:p>
        </p:txBody>
      </p:sp>
      <p:sp>
        <p:nvSpPr>
          <p:cNvPr id="9" name="Description circle"/>
          <p:cNvSpPr/>
          <p:nvPr/>
        </p:nvSpPr>
        <p:spPr>
          <a:xfrm>
            <a:off x="4910328" y="1371600"/>
            <a:ext cx="566928" cy="566928"/>
          </a:xfrm>
          <a:prstGeom prst="ellipse">
            <a:avLst/>
          </a:prstGeom>
          <a:solidFill>
            <a:schemeClr val="accent1"/>
          </a:solidFill>
          <a:ln w="12700">
            <a:solidFill>
              <a:schemeClr val="accent1"/>
            </a:solidFill>
            <a:prstDash val="solid"/>
          </a:ln>
        </p:spPr>
        <p:txBody>
          <a:bodyPr/>
          <a:lstStyle/>
          <a:p>
            <a:endParaRPr lang="en-US"/>
          </a:p>
        </p:txBody>
      </p:sp>
      <p:pic>
        <p:nvPicPr>
          <p:cNvPr id="10" name="Description icon" descr="Description"/>
          <p:cNvPicPr>
            <a:picLocks noChangeAspect="1"/>
          </p:cNvPicPr>
          <p:nvPr/>
        </p:nvPicPr>
        <p:blipFill>
          <a:blip r:embed="rId4"/>
          <a:stretch>
            <a:fillRect/>
          </a:stretch>
        </p:blipFill>
        <p:spPr>
          <a:xfrm>
            <a:off x="5057729" y="1519001"/>
            <a:ext cx="272125" cy="272125"/>
          </a:xfrm>
          <a:prstGeom prst="rect">
            <a:avLst/>
          </a:prstGeom>
        </p:spPr>
      </p:pic>
      <p:sp>
        <p:nvSpPr>
          <p:cNvPr id="11" name="Description name"/>
          <p:cNvSpPr txBox="1"/>
          <p:nvPr/>
        </p:nvSpPr>
        <p:spPr>
          <a:xfrm>
            <a:off x="5669280" y="1344168"/>
            <a:ext cx="2834640" cy="365760"/>
          </a:xfrm>
          <a:prstGeom prst="rect">
            <a:avLst/>
          </a:prstGeom>
          <a:noFill/>
          <a:ln/>
        </p:spPr>
        <p:txBody>
          <a:bodyPr wrap="square" lIns="0" tIns="0" rIns="0" bIns="0" rtlCol="0" anchor="ctr"/>
          <a:lstStyle/>
          <a:p>
            <a:pPr marL="0" indent="0">
              <a:buNone/>
            </a:pPr>
            <a:r>
              <a:rPr lang="en-US" sz="1900" b="1" dirty="0">
                <a:solidFill>
                  <a:schemeClr val="tx2"/>
                </a:solidFill>
                <a:latin typeface="Calibri" pitchFamily="34" charset="0"/>
                <a:ea typeface="Calibri" pitchFamily="34" charset="-122"/>
                <a:cs typeface="Calibri" pitchFamily="34" charset="-120"/>
              </a:rPr>
              <a:t>Description</a:t>
            </a:r>
            <a:endParaRPr lang="en-US" sz="1900" dirty="0"/>
          </a:p>
        </p:txBody>
      </p:sp>
      <p:sp>
        <p:nvSpPr>
          <p:cNvPr id="12" name="Description definition"/>
          <p:cNvSpPr txBox="1"/>
          <p:nvPr/>
        </p:nvSpPr>
        <p:spPr>
          <a:xfrm>
            <a:off x="5669280" y="1764792"/>
            <a:ext cx="2834640" cy="8686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Describing your goals clearly enough to prompt useful AI behavior, including what you don't want.</a:t>
            </a:r>
            <a:endParaRPr lang="en-US" sz="1400" dirty="0"/>
          </a:p>
        </p:txBody>
      </p:sp>
      <p:sp>
        <p:nvSpPr>
          <p:cNvPr id="13" name="Discernment card"/>
          <p:cNvSpPr/>
          <p:nvPr/>
        </p:nvSpPr>
        <p:spPr>
          <a:xfrm>
            <a:off x="457200" y="2880360"/>
            <a:ext cx="3977640" cy="1572768"/>
          </a:xfrm>
          <a:prstGeom prst="roundRect">
            <a:avLst>
              <a:gd name="adj" fmla="val 4651"/>
            </a:avLst>
          </a:prstGeom>
          <a:solidFill>
            <a:schemeClr val="bg2"/>
          </a:solidFill>
          <a:ln w="12700">
            <a:solidFill>
              <a:schemeClr val="bg2"/>
            </a:solidFill>
            <a:prstDash val="solid"/>
          </a:ln>
          <a:effectLst>
            <a:outerShdw blurRad="76200" dist="19050" dir="5400000" algn="bl" rotWithShape="0">
              <a:srgbClr val="000000">
                <a:alpha val="12000"/>
              </a:srgbClr>
            </a:outerShdw>
          </a:effectLst>
        </p:spPr>
        <p:txBody>
          <a:bodyPr/>
          <a:lstStyle/>
          <a:p>
            <a:endParaRPr lang="en-US"/>
          </a:p>
        </p:txBody>
      </p:sp>
      <p:sp>
        <p:nvSpPr>
          <p:cNvPr id="14" name="Discernment circle"/>
          <p:cNvSpPr/>
          <p:nvPr/>
        </p:nvSpPr>
        <p:spPr>
          <a:xfrm>
            <a:off x="658368" y="3108960"/>
            <a:ext cx="566928" cy="566928"/>
          </a:xfrm>
          <a:prstGeom prst="ellipse">
            <a:avLst/>
          </a:prstGeom>
          <a:solidFill>
            <a:schemeClr val="accent1"/>
          </a:solidFill>
          <a:ln w="12700">
            <a:solidFill>
              <a:schemeClr val="accent1"/>
            </a:solidFill>
            <a:prstDash val="solid"/>
          </a:ln>
        </p:spPr>
        <p:txBody>
          <a:bodyPr/>
          <a:lstStyle/>
          <a:p>
            <a:endParaRPr lang="en-US"/>
          </a:p>
        </p:txBody>
      </p:sp>
      <p:pic>
        <p:nvPicPr>
          <p:cNvPr id="15" name="Discernment icon" descr="Discernment"/>
          <p:cNvPicPr>
            <a:picLocks noChangeAspect="1"/>
          </p:cNvPicPr>
          <p:nvPr/>
        </p:nvPicPr>
        <p:blipFill>
          <a:blip r:embed="rId5"/>
          <a:stretch>
            <a:fillRect/>
          </a:stretch>
        </p:blipFill>
        <p:spPr>
          <a:xfrm>
            <a:off x="805769" y="3256361"/>
            <a:ext cx="272125" cy="272125"/>
          </a:xfrm>
          <a:prstGeom prst="rect">
            <a:avLst/>
          </a:prstGeom>
        </p:spPr>
      </p:pic>
      <p:sp>
        <p:nvSpPr>
          <p:cNvPr id="16" name="Discernment name"/>
          <p:cNvSpPr txBox="1"/>
          <p:nvPr/>
        </p:nvSpPr>
        <p:spPr>
          <a:xfrm>
            <a:off x="1417320" y="3081528"/>
            <a:ext cx="2834640" cy="365760"/>
          </a:xfrm>
          <a:prstGeom prst="rect">
            <a:avLst/>
          </a:prstGeom>
          <a:noFill/>
          <a:ln/>
        </p:spPr>
        <p:txBody>
          <a:bodyPr wrap="square" lIns="0" tIns="0" rIns="0" bIns="0" rtlCol="0" anchor="ctr"/>
          <a:lstStyle/>
          <a:p>
            <a:pPr marL="0" indent="0">
              <a:buNone/>
            </a:pPr>
            <a:r>
              <a:rPr lang="en-US" sz="1900" b="1" dirty="0">
                <a:solidFill>
                  <a:schemeClr val="tx2"/>
                </a:solidFill>
                <a:latin typeface="Calibri" pitchFamily="34" charset="0"/>
                <a:ea typeface="Calibri" pitchFamily="34" charset="-122"/>
                <a:cs typeface="Calibri" pitchFamily="34" charset="-120"/>
              </a:rPr>
              <a:t>Discernment</a:t>
            </a:r>
            <a:endParaRPr lang="en-US" sz="1900" dirty="0"/>
          </a:p>
        </p:txBody>
      </p:sp>
      <p:sp>
        <p:nvSpPr>
          <p:cNvPr id="17" name="Discernment definition"/>
          <p:cNvSpPr txBox="1"/>
          <p:nvPr/>
        </p:nvSpPr>
        <p:spPr>
          <a:xfrm>
            <a:off x="1417320" y="3502152"/>
            <a:ext cx="2834640" cy="8686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Accurately assessing the usefulness, quality, and validity of AI outputs and behaviors.</a:t>
            </a:r>
            <a:endParaRPr lang="en-US" sz="1400" dirty="0"/>
          </a:p>
        </p:txBody>
      </p:sp>
      <p:sp>
        <p:nvSpPr>
          <p:cNvPr id="18" name="Diligence card"/>
          <p:cNvSpPr/>
          <p:nvPr/>
        </p:nvSpPr>
        <p:spPr>
          <a:xfrm>
            <a:off x="4709160" y="2880360"/>
            <a:ext cx="3977640" cy="1572768"/>
          </a:xfrm>
          <a:prstGeom prst="roundRect">
            <a:avLst>
              <a:gd name="adj" fmla="val 4651"/>
            </a:avLst>
          </a:prstGeom>
          <a:solidFill>
            <a:schemeClr val="bg2"/>
          </a:solidFill>
          <a:ln w="12700">
            <a:solidFill>
              <a:schemeClr val="bg2"/>
            </a:solidFill>
            <a:prstDash val="solid"/>
          </a:ln>
          <a:effectLst>
            <a:outerShdw blurRad="76200" dist="19050" dir="5400000" algn="bl" rotWithShape="0">
              <a:srgbClr val="000000">
                <a:alpha val="12000"/>
              </a:srgbClr>
            </a:outerShdw>
          </a:effectLst>
        </p:spPr>
        <p:txBody>
          <a:bodyPr/>
          <a:lstStyle/>
          <a:p>
            <a:endParaRPr lang="en-US"/>
          </a:p>
        </p:txBody>
      </p:sp>
      <p:sp>
        <p:nvSpPr>
          <p:cNvPr id="19" name="Diligence circle"/>
          <p:cNvSpPr/>
          <p:nvPr/>
        </p:nvSpPr>
        <p:spPr>
          <a:xfrm>
            <a:off x="4910328" y="3108960"/>
            <a:ext cx="566928" cy="566928"/>
          </a:xfrm>
          <a:prstGeom prst="ellipse">
            <a:avLst/>
          </a:prstGeom>
          <a:solidFill>
            <a:schemeClr val="accent1"/>
          </a:solidFill>
          <a:ln w="12700">
            <a:solidFill>
              <a:schemeClr val="accent1"/>
            </a:solidFill>
            <a:prstDash val="solid"/>
          </a:ln>
        </p:spPr>
        <p:txBody>
          <a:bodyPr/>
          <a:lstStyle/>
          <a:p>
            <a:endParaRPr lang="en-US"/>
          </a:p>
        </p:txBody>
      </p:sp>
      <p:pic>
        <p:nvPicPr>
          <p:cNvPr id="20" name="Diligence icon" descr="Diligence"/>
          <p:cNvPicPr>
            <a:picLocks noChangeAspect="1"/>
          </p:cNvPicPr>
          <p:nvPr/>
        </p:nvPicPr>
        <p:blipFill>
          <a:blip r:embed="rId6"/>
          <a:stretch>
            <a:fillRect/>
          </a:stretch>
        </p:blipFill>
        <p:spPr>
          <a:xfrm>
            <a:off x="5057729" y="3256361"/>
            <a:ext cx="272125" cy="272125"/>
          </a:xfrm>
          <a:prstGeom prst="rect">
            <a:avLst/>
          </a:prstGeom>
        </p:spPr>
      </p:pic>
      <p:sp>
        <p:nvSpPr>
          <p:cNvPr id="21" name="Diligence name"/>
          <p:cNvSpPr txBox="1"/>
          <p:nvPr/>
        </p:nvSpPr>
        <p:spPr>
          <a:xfrm>
            <a:off x="5669280" y="3081528"/>
            <a:ext cx="2834640" cy="365760"/>
          </a:xfrm>
          <a:prstGeom prst="rect">
            <a:avLst/>
          </a:prstGeom>
          <a:noFill/>
          <a:ln/>
        </p:spPr>
        <p:txBody>
          <a:bodyPr wrap="square" lIns="0" tIns="0" rIns="0" bIns="0" rtlCol="0" anchor="ctr"/>
          <a:lstStyle/>
          <a:p>
            <a:pPr marL="0" indent="0">
              <a:buNone/>
            </a:pPr>
            <a:r>
              <a:rPr lang="en-US" sz="1900" b="1" dirty="0">
                <a:solidFill>
                  <a:schemeClr val="tx2"/>
                </a:solidFill>
                <a:latin typeface="Calibri" pitchFamily="34" charset="0"/>
                <a:ea typeface="Calibri" pitchFamily="34" charset="-122"/>
                <a:cs typeface="Calibri" pitchFamily="34" charset="-120"/>
              </a:rPr>
              <a:t>Diligence</a:t>
            </a:r>
            <a:endParaRPr lang="en-US" sz="1900" dirty="0"/>
          </a:p>
        </p:txBody>
      </p:sp>
      <p:sp>
        <p:nvSpPr>
          <p:cNvPr id="22" name="Diligence definition"/>
          <p:cNvSpPr txBox="1"/>
          <p:nvPr/>
        </p:nvSpPr>
        <p:spPr>
          <a:xfrm>
            <a:off x="5669280" y="3502152"/>
            <a:ext cx="2834640" cy="8686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Taking responsibility for what we do with AI and how we do it. Responsibility rests with the human.</a:t>
            </a:r>
            <a:endParaRPr lang="en-US" sz="1400" dirty="0"/>
          </a:p>
        </p:txBody>
      </p:sp>
      <p:sp>
        <p:nvSpPr>
          <p:cNvPr id="23" name="Citation"/>
          <p:cNvSpPr txBox="1"/>
          <p:nvPr/>
        </p:nvSpPr>
        <p:spPr>
          <a:xfrm>
            <a:off x="457200" y="4754880"/>
            <a:ext cx="7772400" cy="256032"/>
          </a:xfrm>
          <a:prstGeom prst="rect">
            <a:avLst/>
          </a:prstGeom>
          <a:noFill/>
          <a:ln/>
        </p:spPr>
        <p:txBody>
          <a:bodyPr wrap="square" lIns="0" tIns="0" rIns="0" bIns="0" rtlCol="0" anchor="ctr"/>
          <a:lstStyle/>
          <a:p>
            <a:pPr marL="0" indent="0">
              <a:buNone/>
            </a:pPr>
            <a:r>
              <a:rPr lang="en-US" sz="1000" dirty="0">
                <a:solidFill>
                  <a:schemeClr val="accent3"/>
                </a:solidFill>
                <a:latin typeface="Calibri" pitchFamily="34" charset="0"/>
                <a:ea typeface="Calibri" pitchFamily="34" charset="-122"/>
                <a:cs typeface="Calibri" pitchFamily="34" charset="-120"/>
              </a:rPr>
              <a:t>Dakan, Feller, &amp; Anthropic (2025), CC BY-NC-SA 4.0</a:t>
            </a:r>
            <a:endParaRPr lang="en-US" sz="1000" dirty="0"/>
          </a:p>
        </p:txBody>
      </p:sp>
      <p:sp>
        <p:nvSpPr>
          <p:cNvPr id="25" name="Slide Number Placeholder 0"/>
          <p:cNvSpPr>
            <a:spLocks noGrp="1"/>
          </p:cNvSpPr>
          <p:nvPr>
            <p:ph type="sldNum" sz="quarter" idx="4294967295"/>
          </p:nvPr>
        </p:nvSpPr>
        <p:spPr>
          <a:xfrm>
            <a:off x="841248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3"/>
                </a:solidFill>
              </a:defRPr>
            </a:lvl1pPr>
          </a:lstStyle>
          <a:p>
            <a:pPr algn="r"/>
            <a:fld id="{F7021451-1387-4CA6-816F-3879F97B5CBC}" type="slidenum">
              <a:rPr lang="en-US" b="0"/>
              <a:t>6</a:t>
            </a:fld>
            <a:endParaRPr lang="en-US"/>
          </a:p>
        </p:txBody>
      </p:sp>
    </p:spTree>
    <p:extLst>
      <p:ext uri="{BB962C8B-B14F-4D97-AF65-F5344CB8AC3E}">
        <p14:creationId xmlns:p14="http://schemas.microsoft.com/office/powerpoint/2010/main" val="3626964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2" grpId="0" animBg="1"/>
      <p:bldP spid="17" grpId="0" animBg="1"/>
      <p:bldP spid="2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85800"/>
          </a:xfrm>
          <a:prstGeom prst="rect">
            <a:avLst/>
          </a:prstGeom>
          <a:noFill/>
          <a:ln/>
        </p:spPr>
        <p:txBody>
          <a:bodyPr wrap="square" lIns="0" tIns="0" rIns="0" bIns="0" rtlCol="0" anchor="ctr"/>
          <a:lstStyle/>
          <a:p>
            <a:pPr marL="0" indent="0" algn="ctr">
              <a:buNone/>
            </a:pPr>
            <a:r>
              <a:rPr lang="en-US" sz="3400" b="1" dirty="0">
                <a:solidFill>
                  <a:schemeClr val="tx2"/>
                </a:solidFill>
              </a:rPr>
              <a:t>The 3As and 4Ds of AI Fluency</a:t>
            </a:r>
            <a:endParaRPr lang="en-US" sz="3400" dirty="0"/>
          </a:p>
        </p:txBody>
      </p:sp>
      <p:sp>
        <p:nvSpPr>
          <p:cNvPr id="23" name="Citation"/>
          <p:cNvSpPr txBox="1"/>
          <p:nvPr/>
        </p:nvSpPr>
        <p:spPr>
          <a:xfrm>
            <a:off x="457200" y="4754880"/>
            <a:ext cx="7772400" cy="256032"/>
          </a:xfrm>
          <a:prstGeom prst="rect">
            <a:avLst/>
          </a:prstGeom>
          <a:noFill/>
          <a:ln/>
        </p:spPr>
        <p:txBody>
          <a:bodyPr wrap="square" lIns="0" tIns="0" rIns="0" bIns="0" rtlCol="0" anchor="ctr"/>
          <a:lstStyle/>
          <a:p>
            <a:pPr marL="0" indent="0">
              <a:buNone/>
            </a:pPr>
            <a:r>
              <a:rPr lang="en-US" sz="1000" dirty="0">
                <a:solidFill>
                  <a:schemeClr val="accent3"/>
                </a:solidFill>
                <a:latin typeface="Calibri" pitchFamily="34" charset="0"/>
                <a:ea typeface="Calibri" pitchFamily="34" charset="-122"/>
                <a:cs typeface="Calibri" pitchFamily="34" charset="-120"/>
              </a:rPr>
              <a:t>Dakan, Feller, &amp; Anthropic (2025), CC BY-NC-SA 4.0</a:t>
            </a:r>
            <a:endParaRPr lang="en-US" sz="1000" dirty="0"/>
          </a:p>
        </p:txBody>
      </p:sp>
      <p:sp>
        <p:nvSpPr>
          <p:cNvPr id="25" name="Slide Number Placeholder 0"/>
          <p:cNvSpPr>
            <a:spLocks noGrp="1"/>
          </p:cNvSpPr>
          <p:nvPr>
            <p:ph type="sldNum" sz="quarter" idx="4294967295"/>
          </p:nvPr>
        </p:nvSpPr>
        <p:spPr>
          <a:xfrm>
            <a:off x="841248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3"/>
                </a:solidFill>
              </a:defRPr>
            </a:lvl1pPr>
          </a:lstStyle>
          <a:p>
            <a:pPr algn="r"/>
            <a:fld id="{F7021451-1387-4CA6-816F-3879F97B5CBC}" type="slidenum">
              <a:rPr lang="en-US" b="0"/>
              <a:t>7</a:t>
            </a:fld>
            <a:endParaRPr lang="en-US"/>
          </a:p>
        </p:txBody>
      </p:sp>
      <p:sp>
        <p:nvSpPr>
          <p:cNvPr id="30" name="Automation card"/>
          <p:cNvSpPr/>
          <p:nvPr/>
        </p:nvSpPr>
        <p:spPr>
          <a:xfrm>
            <a:off x="457200" y="1066800"/>
            <a:ext cx="3429000" cy="1117600"/>
          </a:xfrm>
          <a:prstGeom prst="roundRect">
            <a:avLst>
              <a:gd name="adj" fmla="val 6000"/>
            </a:avLst>
          </a:prstGeom>
          <a:solidFill>
            <a:schemeClr val="accent5"/>
          </a:solidFill>
          <a:ln w="12700">
            <a:solidFill>
              <a:schemeClr val="accent5"/>
            </a:solidFill>
          </a:ln>
          <a:effectLst>
            <a:outerShdw blurRad="76200" dist="19050" dir="5400000" algn="bl" rotWithShape="0">
              <a:srgbClr val="000000">
                <a:alpha val="12000"/>
              </a:srgbClr>
            </a:outerShdw>
          </a:effectLst>
        </p:spPr>
        <p:txBody>
          <a:bodyPr/>
          <a:lstStyle/>
          <a:p>
            <a:endParaRPr lang="en-US"/>
          </a:p>
        </p:txBody>
      </p:sp>
      <p:sp>
        <p:nvSpPr>
          <p:cNvPr id="31" name="Automation circle"/>
          <p:cNvSpPr/>
          <p:nvPr/>
        </p:nvSpPr>
        <p:spPr>
          <a:xfrm>
            <a:off x="635000" y="1397000"/>
            <a:ext cx="457200" cy="457200"/>
          </a:xfrm>
          <a:prstGeom prst="ellipse">
            <a:avLst/>
          </a:prstGeom>
          <a:solidFill>
            <a:schemeClr val="accent1"/>
          </a:solidFill>
          <a:ln w="12700">
            <a:solidFill>
              <a:schemeClr val="accent1"/>
            </a:solidFill>
          </a:ln>
        </p:spPr>
        <p:txBody>
          <a:bodyPr/>
          <a:lstStyle/>
          <a:p>
            <a:endParaRPr lang="en-US"/>
          </a:p>
        </p:txBody>
      </p:sp>
      <p:sp>
        <p:nvSpPr>
          <p:cNvPr id="32" name="Automation text"/>
          <p:cNvSpPr txBox="1"/>
          <p:nvPr/>
        </p:nvSpPr>
        <p:spPr>
          <a:xfrm>
            <a:off x="1270000" y="1168400"/>
            <a:ext cx="2463800" cy="914400"/>
          </a:xfrm>
          <a:prstGeom prst="rect">
            <a:avLst/>
          </a:prstGeom>
          <a:noFill/>
        </p:spPr>
        <p:txBody>
          <a:bodyPr wrap="square" lIns="0" tIns="0" rIns="0" bIns="0" rtlCol="0" anchor="ctr"/>
          <a:lstStyle/>
          <a:p>
            <a:pPr marL="0" indent="0">
              <a:buNone/>
            </a:pPr>
            <a:r>
              <a:rPr lang="en-US" sz="1400" b="1" dirty="0">
                <a:solidFill>
                  <a:schemeClr val="tx2"/>
                </a:solidFill>
                <a:latin typeface="Calibri" pitchFamily="34" charset="0"/>
                <a:ea typeface="Calibri" pitchFamily="34" charset="-122"/>
                <a:cs typeface="Calibri" pitchFamily="34" charset="-120"/>
              </a:rPr>
              <a:t>Automation: </a:t>
            </a:r>
            <a:r>
              <a:rPr lang="en-US" sz="1400" dirty="0">
                <a:solidFill>
                  <a:schemeClr val="tx1"/>
                </a:solidFill>
                <a:latin typeface="Calibri" pitchFamily="34" charset="0"/>
                <a:ea typeface="Calibri" pitchFamily="34" charset="-122"/>
                <a:cs typeface="Calibri" pitchFamily="34" charset="-120"/>
              </a:rPr>
              <a:t>AI executes specific tasks based on human instruction.</a:t>
            </a:r>
          </a:p>
        </p:txBody>
      </p:sp>
      <p:sp>
        <p:nvSpPr>
          <p:cNvPr id="33" name="Augmentation card"/>
          <p:cNvSpPr/>
          <p:nvPr/>
        </p:nvSpPr>
        <p:spPr>
          <a:xfrm>
            <a:off x="457200" y="2298700"/>
            <a:ext cx="3429000" cy="1117600"/>
          </a:xfrm>
          <a:prstGeom prst="roundRect">
            <a:avLst>
              <a:gd name="adj" fmla="val 6000"/>
            </a:avLst>
          </a:prstGeom>
          <a:solidFill>
            <a:schemeClr val="accent5"/>
          </a:solidFill>
          <a:ln w="12700">
            <a:solidFill>
              <a:schemeClr val="accent5"/>
            </a:solidFill>
          </a:ln>
          <a:effectLst>
            <a:outerShdw blurRad="76200" dist="19050" dir="5400000" algn="bl" rotWithShape="0">
              <a:srgbClr val="000000">
                <a:alpha val="12000"/>
              </a:srgbClr>
            </a:outerShdw>
          </a:effectLst>
        </p:spPr>
        <p:txBody>
          <a:bodyPr/>
          <a:lstStyle/>
          <a:p>
            <a:endParaRPr lang="en-US"/>
          </a:p>
        </p:txBody>
      </p:sp>
      <p:sp>
        <p:nvSpPr>
          <p:cNvPr id="34" name="Augmentation circle"/>
          <p:cNvSpPr/>
          <p:nvPr/>
        </p:nvSpPr>
        <p:spPr>
          <a:xfrm>
            <a:off x="635000" y="2628900"/>
            <a:ext cx="457200" cy="457200"/>
          </a:xfrm>
          <a:prstGeom prst="ellipse">
            <a:avLst/>
          </a:prstGeom>
          <a:solidFill>
            <a:schemeClr val="accent1"/>
          </a:solidFill>
          <a:ln w="12700">
            <a:solidFill>
              <a:schemeClr val="accent1"/>
            </a:solidFill>
          </a:ln>
        </p:spPr>
        <p:txBody>
          <a:bodyPr/>
          <a:lstStyle/>
          <a:p>
            <a:endParaRPr lang="en-US"/>
          </a:p>
        </p:txBody>
      </p:sp>
      <p:sp>
        <p:nvSpPr>
          <p:cNvPr id="35" name="Augmentation text"/>
          <p:cNvSpPr txBox="1"/>
          <p:nvPr/>
        </p:nvSpPr>
        <p:spPr>
          <a:xfrm>
            <a:off x="1270000" y="2400300"/>
            <a:ext cx="2463800" cy="914400"/>
          </a:xfrm>
          <a:prstGeom prst="rect">
            <a:avLst/>
          </a:prstGeom>
          <a:noFill/>
        </p:spPr>
        <p:txBody>
          <a:bodyPr wrap="square" lIns="0" tIns="0" rIns="0" bIns="0" rtlCol="0" anchor="ctr"/>
          <a:lstStyle/>
          <a:p>
            <a:pPr marL="0" indent="0">
              <a:buNone/>
            </a:pPr>
            <a:r>
              <a:rPr lang="en-US" sz="1400" b="1" dirty="0">
                <a:solidFill>
                  <a:schemeClr val="tx2"/>
                </a:solidFill>
                <a:latin typeface="Calibri" pitchFamily="34" charset="0"/>
                <a:ea typeface="Calibri" pitchFamily="34" charset="-122"/>
                <a:cs typeface="Calibri" pitchFamily="34" charset="-120"/>
              </a:rPr>
              <a:t>Augmentation: </a:t>
            </a:r>
            <a:r>
              <a:rPr lang="en-US" sz="1400" dirty="0">
                <a:solidFill>
                  <a:schemeClr val="tx1"/>
                </a:solidFill>
                <a:latin typeface="Calibri" pitchFamily="34" charset="0"/>
                <a:ea typeface="Calibri" pitchFamily="34" charset="-122"/>
                <a:cs typeface="Calibri" pitchFamily="34" charset="-120"/>
              </a:rPr>
              <a:t>Humans and AI collaborate as thinking partners.</a:t>
            </a:r>
          </a:p>
        </p:txBody>
      </p:sp>
      <p:sp>
        <p:nvSpPr>
          <p:cNvPr id="36" name="Agency card"/>
          <p:cNvSpPr/>
          <p:nvPr/>
        </p:nvSpPr>
        <p:spPr>
          <a:xfrm>
            <a:off x="457200" y="3530600"/>
            <a:ext cx="3429000" cy="1117600"/>
          </a:xfrm>
          <a:prstGeom prst="roundRect">
            <a:avLst>
              <a:gd name="adj" fmla="val 6000"/>
            </a:avLst>
          </a:prstGeom>
          <a:solidFill>
            <a:schemeClr val="accent5"/>
          </a:solidFill>
          <a:ln w="12700">
            <a:solidFill>
              <a:schemeClr val="accent5"/>
            </a:solidFill>
          </a:ln>
          <a:effectLst>
            <a:outerShdw blurRad="76200" dist="19050" dir="5400000" algn="bl" rotWithShape="0">
              <a:srgbClr val="000000">
                <a:alpha val="12000"/>
              </a:srgbClr>
            </a:outerShdw>
          </a:effectLst>
        </p:spPr>
        <p:txBody>
          <a:bodyPr/>
          <a:lstStyle/>
          <a:p>
            <a:endParaRPr lang="en-US"/>
          </a:p>
        </p:txBody>
      </p:sp>
      <p:sp>
        <p:nvSpPr>
          <p:cNvPr id="37" name="Agency circle"/>
          <p:cNvSpPr/>
          <p:nvPr/>
        </p:nvSpPr>
        <p:spPr>
          <a:xfrm>
            <a:off x="635000" y="3860800"/>
            <a:ext cx="457200" cy="457200"/>
          </a:xfrm>
          <a:prstGeom prst="ellipse">
            <a:avLst/>
          </a:prstGeom>
          <a:solidFill>
            <a:schemeClr val="accent1"/>
          </a:solidFill>
          <a:ln w="12700">
            <a:solidFill>
              <a:schemeClr val="accent1"/>
            </a:solidFill>
          </a:ln>
        </p:spPr>
        <p:txBody>
          <a:bodyPr/>
          <a:lstStyle/>
          <a:p>
            <a:endParaRPr lang="en-US"/>
          </a:p>
        </p:txBody>
      </p:sp>
      <p:sp>
        <p:nvSpPr>
          <p:cNvPr id="38" name="Agency text"/>
          <p:cNvSpPr txBox="1"/>
          <p:nvPr/>
        </p:nvSpPr>
        <p:spPr>
          <a:xfrm>
            <a:off x="1270000" y="3632200"/>
            <a:ext cx="2463800" cy="914400"/>
          </a:xfrm>
          <a:prstGeom prst="rect">
            <a:avLst/>
          </a:prstGeom>
          <a:noFill/>
        </p:spPr>
        <p:txBody>
          <a:bodyPr wrap="square" lIns="0" tIns="0" rIns="0" bIns="0" rtlCol="0" anchor="ctr"/>
          <a:lstStyle/>
          <a:p>
            <a:pPr marL="0" indent="0">
              <a:buNone/>
            </a:pPr>
            <a:r>
              <a:rPr lang="en-US" sz="1400" b="1" dirty="0">
                <a:solidFill>
                  <a:schemeClr val="tx2"/>
                </a:solidFill>
                <a:latin typeface="Calibri" pitchFamily="34" charset="0"/>
                <a:ea typeface="Calibri" pitchFamily="34" charset="-122"/>
                <a:cs typeface="Calibri" pitchFamily="34" charset="-120"/>
              </a:rPr>
              <a:t>Agency: </a:t>
            </a:r>
            <a:r>
              <a:rPr lang="en-US" sz="1400" dirty="0">
                <a:solidFill>
                  <a:schemeClr val="tx1"/>
                </a:solidFill>
                <a:latin typeface="Calibri" pitchFamily="34" charset="0"/>
                <a:ea typeface="Calibri" pitchFamily="34" charset="-122"/>
                <a:cs typeface="Calibri" pitchFamily="34" charset="-120"/>
              </a:rPr>
              <a:t>Humans configure AI to independently perform future tasks on their behalf.</a:t>
            </a:r>
          </a:p>
        </p:txBody>
      </p:sp>
      <p:sp>
        <p:nvSpPr>
          <p:cNvPr id="39" name="Delegation card"/>
          <p:cNvSpPr/>
          <p:nvPr/>
        </p:nvSpPr>
        <p:spPr>
          <a:xfrm>
            <a:off x="4064000" y="1066800"/>
            <a:ext cx="4622800" cy="828675"/>
          </a:xfrm>
          <a:prstGeom prst="roundRect">
            <a:avLst>
              <a:gd name="adj" fmla="val 6000"/>
            </a:avLst>
          </a:prstGeom>
          <a:solidFill>
            <a:schemeClr val="accent4"/>
          </a:solidFill>
          <a:ln w="12700">
            <a:solidFill>
              <a:schemeClr val="accent4"/>
            </a:solidFill>
          </a:ln>
          <a:effectLst>
            <a:outerShdw blurRad="76200" dist="19050" dir="5400000" algn="bl" rotWithShape="0">
              <a:srgbClr val="000000">
                <a:alpha val="12000"/>
              </a:srgbClr>
            </a:outerShdw>
          </a:effectLst>
        </p:spPr>
        <p:txBody>
          <a:bodyPr/>
          <a:lstStyle/>
          <a:p>
            <a:endParaRPr lang="en-US"/>
          </a:p>
        </p:txBody>
      </p:sp>
      <p:sp>
        <p:nvSpPr>
          <p:cNvPr id="40" name="Delegation circle"/>
          <p:cNvSpPr/>
          <p:nvPr/>
        </p:nvSpPr>
        <p:spPr>
          <a:xfrm>
            <a:off x="4241800" y="1252538"/>
            <a:ext cx="457200" cy="457200"/>
          </a:xfrm>
          <a:prstGeom prst="ellipse">
            <a:avLst/>
          </a:prstGeom>
          <a:solidFill>
            <a:schemeClr val="accent1"/>
          </a:solidFill>
          <a:ln w="12700">
            <a:solidFill>
              <a:schemeClr val="accent1"/>
            </a:solidFill>
          </a:ln>
        </p:spPr>
        <p:txBody>
          <a:bodyPr/>
          <a:lstStyle/>
          <a:p>
            <a:endParaRPr lang="en-US"/>
          </a:p>
        </p:txBody>
      </p:sp>
      <p:sp>
        <p:nvSpPr>
          <p:cNvPr id="41" name="Delegation text"/>
          <p:cNvSpPr txBox="1"/>
          <p:nvPr/>
        </p:nvSpPr>
        <p:spPr>
          <a:xfrm>
            <a:off x="4876800" y="1117600"/>
            <a:ext cx="3632200" cy="727075"/>
          </a:xfrm>
          <a:prstGeom prst="rect">
            <a:avLst/>
          </a:prstGeom>
          <a:noFill/>
        </p:spPr>
        <p:txBody>
          <a:bodyPr wrap="square" lIns="0" tIns="0" rIns="0" bIns="0" rtlCol="0" anchor="ctr"/>
          <a:lstStyle/>
          <a:p>
            <a:pPr marL="0" indent="0">
              <a:buNone/>
            </a:pPr>
            <a:r>
              <a:rPr lang="en-US" sz="1400" b="1" dirty="0">
                <a:solidFill>
                  <a:schemeClr val="tx2"/>
                </a:solidFill>
                <a:latin typeface="Calibri" pitchFamily="34" charset="0"/>
                <a:ea typeface="Calibri" pitchFamily="34" charset="-122"/>
                <a:cs typeface="Calibri" pitchFamily="34" charset="-120"/>
              </a:rPr>
              <a:t>Delegation: </a:t>
            </a:r>
            <a:r>
              <a:rPr lang="en-US" sz="1400" dirty="0">
                <a:solidFill>
                  <a:schemeClr val="tx1"/>
                </a:solidFill>
                <a:latin typeface="Calibri" pitchFamily="34" charset="0"/>
                <a:ea typeface="Calibri" pitchFamily="34" charset="-122"/>
                <a:cs typeface="Calibri" pitchFamily="34" charset="-120"/>
              </a:rPr>
              <a:t>Setting goals and deciding whether, when, and how to engage AI at all.</a:t>
            </a:r>
          </a:p>
        </p:txBody>
      </p:sp>
      <p:pic>
        <p:nvPicPr>
          <p:cNvPr id="5" name="Delegation icon" descr="Delegation"/>
          <p:cNvPicPr>
            <a:picLocks noChangeAspect="1"/>
          </p:cNvPicPr>
          <p:nvPr/>
        </p:nvPicPr>
        <p:blipFill>
          <a:blip r:embed="rId3"/>
          <a:stretch>
            <a:fillRect/>
          </a:stretch>
        </p:blipFill>
        <p:spPr>
          <a:xfrm>
            <a:off x="4343400" y="1354138"/>
            <a:ext cx="254000" cy="254000"/>
          </a:xfrm>
          <a:prstGeom prst="rect">
            <a:avLst/>
          </a:prstGeom>
        </p:spPr>
      </p:pic>
      <p:sp>
        <p:nvSpPr>
          <p:cNvPr id="42" name="Description card"/>
          <p:cNvSpPr/>
          <p:nvPr/>
        </p:nvSpPr>
        <p:spPr>
          <a:xfrm>
            <a:off x="4064000" y="1984375"/>
            <a:ext cx="4622800" cy="828675"/>
          </a:xfrm>
          <a:prstGeom prst="roundRect">
            <a:avLst>
              <a:gd name="adj" fmla="val 6000"/>
            </a:avLst>
          </a:prstGeom>
          <a:solidFill>
            <a:schemeClr val="accent4"/>
          </a:solidFill>
          <a:ln w="12700">
            <a:solidFill>
              <a:schemeClr val="accent4"/>
            </a:solidFill>
          </a:ln>
          <a:effectLst>
            <a:outerShdw blurRad="76200" dist="19050" dir="5400000" algn="bl" rotWithShape="0">
              <a:srgbClr val="000000">
                <a:alpha val="12000"/>
              </a:srgbClr>
            </a:outerShdw>
          </a:effectLst>
        </p:spPr>
        <p:txBody>
          <a:bodyPr/>
          <a:lstStyle/>
          <a:p>
            <a:endParaRPr lang="en-US"/>
          </a:p>
        </p:txBody>
      </p:sp>
      <p:sp>
        <p:nvSpPr>
          <p:cNvPr id="43" name="Description circle"/>
          <p:cNvSpPr/>
          <p:nvPr/>
        </p:nvSpPr>
        <p:spPr>
          <a:xfrm>
            <a:off x="4241800" y="2170113"/>
            <a:ext cx="457200" cy="457200"/>
          </a:xfrm>
          <a:prstGeom prst="ellipse">
            <a:avLst/>
          </a:prstGeom>
          <a:solidFill>
            <a:schemeClr val="accent1"/>
          </a:solidFill>
          <a:ln w="12700">
            <a:solidFill>
              <a:schemeClr val="accent1"/>
            </a:solidFill>
          </a:ln>
        </p:spPr>
        <p:txBody>
          <a:bodyPr/>
          <a:lstStyle/>
          <a:p>
            <a:endParaRPr lang="en-US"/>
          </a:p>
        </p:txBody>
      </p:sp>
      <p:sp>
        <p:nvSpPr>
          <p:cNvPr id="44" name="Description text"/>
          <p:cNvSpPr txBox="1"/>
          <p:nvPr/>
        </p:nvSpPr>
        <p:spPr>
          <a:xfrm>
            <a:off x="4876800" y="2035175"/>
            <a:ext cx="3632200" cy="727075"/>
          </a:xfrm>
          <a:prstGeom prst="rect">
            <a:avLst/>
          </a:prstGeom>
          <a:noFill/>
        </p:spPr>
        <p:txBody>
          <a:bodyPr wrap="square" lIns="0" tIns="0" rIns="0" bIns="0" rtlCol="0" anchor="ctr"/>
          <a:lstStyle/>
          <a:p>
            <a:pPr marL="0" indent="0">
              <a:buNone/>
            </a:pPr>
            <a:r>
              <a:rPr lang="en-US" sz="1400" b="1" dirty="0">
                <a:solidFill>
                  <a:schemeClr val="tx2"/>
                </a:solidFill>
                <a:latin typeface="Calibri" pitchFamily="34" charset="0"/>
                <a:ea typeface="Calibri" pitchFamily="34" charset="-122"/>
                <a:cs typeface="Calibri" pitchFamily="34" charset="-120"/>
              </a:rPr>
              <a:t>Description: </a:t>
            </a:r>
            <a:r>
              <a:rPr lang="en-US" sz="1400" dirty="0">
                <a:solidFill>
                  <a:schemeClr val="tx1"/>
                </a:solidFill>
                <a:latin typeface="Calibri" pitchFamily="34" charset="0"/>
                <a:ea typeface="Calibri" pitchFamily="34" charset="-122"/>
                <a:cs typeface="Calibri" pitchFamily="34" charset="-120"/>
              </a:rPr>
              <a:t>Describing your goals clearly enough to prompt useful AI behavior, including what you don't want.</a:t>
            </a:r>
          </a:p>
        </p:txBody>
      </p:sp>
      <p:pic>
        <p:nvPicPr>
          <p:cNvPr id="10" name="Description icon" descr="Description"/>
          <p:cNvPicPr>
            <a:picLocks noChangeAspect="1"/>
          </p:cNvPicPr>
          <p:nvPr/>
        </p:nvPicPr>
        <p:blipFill>
          <a:blip r:embed="rId4"/>
          <a:stretch>
            <a:fillRect/>
          </a:stretch>
        </p:blipFill>
        <p:spPr>
          <a:xfrm>
            <a:off x="4343400" y="2271713"/>
            <a:ext cx="254000" cy="254000"/>
          </a:xfrm>
          <a:prstGeom prst="rect">
            <a:avLst/>
          </a:prstGeom>
        </p:spPr>
      </p:pic>
      <p:sp>
        <p:nvSpPr>
          <p:cNvPr id="45" name="Discernment card"/>
          <p:cNvSpPr/>
          <p:nvPr/>
        </p:nvSpPr>
        <p:spPr>
          <a:xfrm>
            <a:off x="4064000" y="2901950"/>
            <a:ext cx="4622800" cy="828675"/>
          </a:xfrm>
          <a:prstGeom prst="roundRect">
            <a:avLst>
              <a:gd name="adj" fmla="val 6000"/>
            </a:avLst>
          </a:prstGeom>
          <a:solidFill>
            <a:schemeClr val="accent4"/>
          </a:solidFill>
          <a:ln w="12700">
            <a:solidFill>
              <a:schemeClr val="accent4"/>
            </a:solidFill>
          </a:ln>
          <a:effectLst>
            <a:outerShdw blurRad="76200" dist="19050" dir="5400000" algn="bl" rotWithShape="0">
              <a:srgbClr val="000000">
                <a:alpha val="12000"/>
              </a:srgbClr>
            </a:outerShdw>
          </a:effectLst>
        </p:spPr>
        <p:txBody>
          <a:bodyPr/>
          <a:lstStyle/>
          <a:p>
            <a:endParaRPr lang="en-US"/>
          </a:p>
        </p:txBody>
      </p:sp>
      <p:sp>
        <p:nvSpPr>
          <p:cNvPr id="46" name="Discernment circle"/>
          <p:cNvSpPr/>
          <p:nvPr/>
        </p:nvSpPr>
        <p:spPr>
          <a:xfrm>
            <a:off x="4241800" y="3087688"/>
            <a:ext cx="457200" cy="457200"/>
          </a:xfrm>
          <a:prstGeom prst="ellipse">
            <a:avLst/>
          </a:prstGeom>
          <a:solidFill>
            <a:schemeClr val="accent1"/>
          </a:solidFill>
          <a:ln w="12700">
            <a:solidFill>
              <a:schemeClr val="accent1"/>
            </a:solidFill>
          </a:ln>
        </p:spPr>
        <p:txBody>
          <a:bodyPr/>
          <a:lstStyle/>
          <a:p>
            <a:endParaRPr lang="en-US"/>
          </a:p>
        </p:txBody>
      </p:sp>
      <p:sp>
        <p:nvSpPr>
          <p:cNvPr id="47" name="Discernment text"/>
          <p:cNvSpPr txBox="1"/>
          <p:nvPr/>
        </p:nvSpPr>
        <p:spPr>
          <a:xfrm>
            <a:off x="4876800" y="2952750"/>
            <a:ext cx="3632200" cy="727075"/>
          </a:xfrm>
          <a:prstGeom prst="rect">
            <a:avLst/>
          </a:prstGeom>
          <a:noFill/>
        </p:spPr>
        <p:txBody>
          <a:bodyPr wrap="square" lIns="0" tIns="0" rIns="0" bIns="0" rtlCol="0" anchor="ctr"/>
          <a:lstStyle/>
          <a:p>
            <a:pPr marL="0" indent="0">
              <a:buNone/>
            </a:pPr>
            <a:r>
              <a:rPr lang="en-US" sz="1400" b="1" dirty="0">
                <a:solidFill>
                  <a:schemeClr val="tx2"/>
                </a:solidFill>
                <a:latin typeface="Calibri" pitchFamily="34" charset="0"/>
                <a:ea typeface="Calibri" pitchFamily="34" charset="-122"/>
                <a:cs typeface="Calibri" pitchFamily="34" charset="-120"/>
              </a:rPr>
              <a:t>Discernment: </a:t>
            </a:r>
            <a:r>
              <a:rPr lang="en-US" sz="1400" dirty="0">
                <a:solidFill>
                  <a:schemeClr val="tx1"/>
                </a:solidFill>
                <a:latin typeface="Calibri" pitchFamily="34" charset="0"/>
                <a:ea typeface="Calibri" pitchFamily="34" charset="-122"/>
                <a:cs typeface="Calibri" pitchFamily="34" charset="-120"/>
              </a:rPr>
              <a:t>Accurately assessing the usefulness, quality, and validity of AI outputs and behaviors.</a:t>
            </a:r>
          </a:p>
        </p:txBody>
      </p:sp>
      <p:pic>
        <p:nvPicPr>
          <p:cNvPr id="15" name="Discernment icon" descr="Discernment"/>
          <p:cNvPicPr>
            <a:picLocks noChangeAspect="1"/>
          </p:cNvPicPr>
          <p:nvPr/>
        </p:nvPicPr>
        <p:blipFill>
          <a:blip r:embed="rId5"/>
          <a:stretch>
            <a:fillRect/>
          </a:stretch>
        </p:blipFill>
        <p:spPr>
          <a:xfrm>
            <a:off x="4343400" y="3189288"/>
            <a:ext cx="254000" cy="254000"/>
          </a:xfrm>
          <a:prstGeom prst="rect">
            <a:avLst/>
          </a:prstGeom>
        </p:spPr>
      </p:pic>
      <p:sp>
        <p:nvSpPr>
          <p:cNvPr id="48" name="Diligence card"/>
          <p:cNvSpPr/>
          <p:nvPr/>
        </p:nvSpPr>
        <p:spPr>
          <a:xfrm>
            <a:off x="4064000" y="3819525"/>
            <a:ext cx="4622800" cy="828675"/>
          </a:xfrm>
          <a:prstGeom prst="roundRect">
            <a:avLst>
              <a:gd name="adj" fmla="val 6000"/>
            </a:avLst>
          </a:prstGeom>
          <a:solidFill>
            <a:schemeClr val="accent4"/>
          </a:solidFill>
          <a:ln w="12700">
            <a:solidFill>
              <a:schemeClr val="accent4"/>
            </a:solidFill>
          </a:ln>
          <a:effectLst>
            <a:outerShdw blurRad="76200" dist="19050" dir="5400000" algn="bl" rotWithShape="0">
              <a:srgbClr val="000000">
                <a:alpha val="12000"/>
              </a:srgbClr>
            </a:outerShdw>
          </a:effectLst>
        </p:spPr>
        <p:txBody>
          <a:bodyPr/>
          <a:lstStyle/>
          <a:p>
            <a:endParaRPr lang="en-US"/>
          </a:p>
        </p:txBody>
      </p:sp>
      <p:sp>
        <p:nvSpPr>
          <p:cNvPr id="49" name="Diligence circle"/>
          <p:cNvSpPr/>
          <p:nvPr/>
        </p:nvSpPr>
        <p:spPr>
          <a:xfrm>
            <a:off x="4241800" y="4005263"/>
            <a:ext cx="457200" cy="457200"/>
          </a:xfrm>
          <a:prstGeom prst="ellipse">
            <a:avLst/>
          </a:prstGeom>
          <a:solidFill>
            <a:schemeClr val="accent1"/>
          </a:solidFill>
          <a:ln w="12700">
            <a:solidFill>
              <a:schemeClr val="accent1"/>
            </a:solidFill>
          </a:ln>
        </p:spPr>
        <p:txBody>
          <a:bodyPr/>
          <a:lstStyle/>
          <a:p>
            <a:endParaRPr lang="en-US"/>
          </a:p>
        </p:txBody>
      </p:sp>
      <p:sp>
        <p:nvSpPr>
          <p:cNvPr id="50" name="Diligence text"/>
          <p:cNvSpPr txBox="1"/>
          <p:nvPr/>
        </p:nvSpPr>
        <p:spPr>
          <a:xfrm>
            <a:off x="4876800" y="3870325"/>
            <a:ext cx="3632200" cy="727075"/>
          </a:xfrm>
          <a:prstGeom prst="rect">
            <a:avLst/>
          </a:prstGeom>
          <a:noFill/>
        </p:spPr>
        <p:txBody>
          <a:bodyPr wrap="square" lIns="0" tIns="0" rIns="0" bIns="0" rtlCol="0" anchor="ctr"/>
          <a:lstStyle/>
          <a:p>
            <a:pPr marL="0" indent="0">
              <a:buNone/>
            </a:pPr>
            <a:r>
              <a:rPr lang="en-US" sz="1400" b="1" dirty="0">
                <a:solidFill>
                  <a:schemeClr val="tx2"/>
                </a:solidFill>
                <a:latin typeface="Calibri" pitchFamily="34" charset="0"/>
                <a:ea typeface="Calibri" pitchFamily="34" charset="-122"/>
                <a:cs typeface="Calibri" pitchFamily="34" charset="-120"/>
              </a:rPr>
              <a:t>Diligence: </a:t>
            </a:r>
            <a:r>
              <a:rPr lang="en-US" sz="1400" dirty="0">
                <a:solidFill>
                  <a:schemeClr val="tx1"/>
                </a:solidFill>
                <a:latin typeface="Calibri" pitchFamily="34" charset="0"/>
                <a:ea typeface="Calibri" pitchFamily="34" charset="-122"/>
                <a:cs typeface="Calibri" pitchFamily="34" charset="-120"/>
              </a:rPr>
              <a:t>Taking responsibility for what we do with AI and how we do it. Responsibility rests with the human.</a:t>
            </a:r>
          </a:p>
        </p:txBody>
      </p:sp>
      <p:pic>
        <p:nvPicPr>
          <p:cNvPr id="20" name="Diligence icon" descr="Diligence"/>
          <p:cNvPicPr>
            <a:picLocks noChangeAspect="1"/>
          </p:cNvPicPr>
          <p:nvPr/>
        </p:nvPicPr>
        <p:blipFill>
          <a:blip r:embed="rId6"/>
          <a:stretch>
            <a:fillRect/>
          </a:stretch>
        </p:blipFill>
        <p:spPr>
          <a:xfrm>
            <a:off x="4343400" y="4106863"/>
            <a:ext cx="254000" cy="254000"/>
          </a:xfrm>
          <a:prstGeom prst="rect">
            <a:avLst/>
          </a:prstGeom>
        </p:spPr>
      </p:pic>
      <p:pic>
        <p:nvPicPr>
          <p:cNvPr id="51" name="Graphic 51" descr="Automation"/>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36600" y="1498600"/>
            <a:ext cx="254000" cy="254000"/>
          </a:xfrm>
          <a:prstGeom prst="rect">
            <a:avLst/>
          </a:prstGeom>
        </p:spPr>
      </p:pic>
      <p:pic>
        <p:nvPicPr>
          <p:cNvPr id="52" name="Graphic 52" descr="Augmentation"/>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36600" y="2730500"/>
            <a:ext cx="254000" cy="254000"/>
          </a:xfrm>
          <a:prstGeom prst="rect">
            <a:avLst/>
          </a:prstGeom>
        </p:spPr>
      </p:pic>
      <p:pic>
        <p:nvPicPr>
          <p:cNvPr id="53" name="Graphic 53" descr="Agency"/>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36600" y="3962400"/>
            <a:ext cx="254000" cy="254000"/>
          </a:xfrm>
          <a:prstGeom prst="rect">
            <a:avLst/>
          </a:prstGeom>
        </p:spPr>
      </p:pic>
    </p:spTree>
    <p:extLst>
      <p:ext uri="{BB962C8B-B14F-4D97-AF65-F5344CB8AC3E}">
        <p14:creationId xmlns:p14="http://schemas.microsoft.com/office/powerpoint/2010/main" val="10050655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85800"/>
          </a:xfrm>
          <a:prstGeom prst="rect">
            <a:avLst/>
          </a:prstGeom>
          <a:noFill/>
          <a:ln/>
        </p:spPr>
        <p:txBody>
          <a:bodyPr wrap="square" lIns="0" tIns="0" rIns="0" bIns="0" rtlCol="0" anchor="ctr"/>
          <a:lstStyle/>
          <a:p>
            <a:pPr marL="0" indent="0" algn="ctr">
              <a:buNone/>
            </a:pPr>
            <a:r>
              <a:rPr lang="en-US" sz="3400" b="1" dirty="0">
                <a:solidFill>
                  <a:schemeClr val="tx2"/>
                </a:solidFill>
              </a:rPr>
              <a:t>The AI Literacy Continuum</a:t>
            </a:r>
            <a:endParaRPr lang="en-US" sz="3400" dirty="0"/>
          </a:p>
        </p:txBody>
      </p:sp>
      <p:sp>
        <p:nvSpPr>
          <p:cNvPr id="3" name="Level 1 step"/>
          <p:cNvSpPr/>
          <p:nvPr/>
        </p:nvSpPr>
        <p:spPr>
          <a:xfrm>
            <a:off x="457200" y="2240280"/>
            <a:ext cx="1554480" cy="2286000"/>
          </a:xfrm>
          <a:prstGeom prst="roundRect">
            <a:avLst>
              <a:gd name="adj" fmla="val 3529"/>
            </a:avLst>
          </a:prstGeom>
          <a:solidFill>
            <a:schemeClr val="bg2"/>
          </a:solidFill>
          <a:ln w="12700">
            <a:solidFill>
              <a:schemeClr val="bg2"/>
            </a:solidFill>
            <a:prstDash val="solid"/>
          </a:ln>
        </p:spPr>
        <p:txBody>
          <a:bodyPr/>
          <a:lstStyle/>
          <a:p>
            <a:endParaRPr lang="en-US"/>
          </a:p>
        </p:txBody>
      </p:sp>
      <p:sp>
        <p:nvSpPr>
          <p:cNvPr id="4" name="Level 1 number"/>
          <p:cNvSpPr txBox="1"/>
          <p:nvPr/>
        </p:nvSpPr>
        <p:spPr>
          <a:xfrm>
            <a:off x="566928" y="2350008"/>
            <a:ext cx="1335024" cy="201168"/>
          </a:xfrm>
          <a:prstGeom prst="rect">
            <a:avLst/>
          </a:prstGeom>
          <a:noFill/>
          <a:ln/>
        </p:spPr>
        <p:txBody>
          <a:bodyPr wrap="square" lIns="0" tIns="0" rIns="0" bIns="0" rtlCol="0" anchor="t"/>
          <a:lstStyle/>
          <a:p>
            <a:pPr marL="0" indent="0">
              <a:buNone/>
            </a:pPr>
            <a:r>
              <a:rPr lang="en-US" sz="1000" b="1" kern="0" spc="100" dirty="0">
                <a:solidFill>
                  <a:schemeClr val="accent3"/>
                </a:solidFill>
                <a:latin typeface="Calibri" pitchFamily="34" charset="0"/>
                <a:ea typeface="Calibri" pitchFamily="34" charset="-122"/>
                <a:cs typeface="Calibri" pitchFamily="34" charset="-120"/>
              </a:rPr>
              <a:t>LEVEL 1</a:t>
            </a:r>
            <a:endParaRPr lang="en-US" sz="1000" dirty="0"/>
          </a:p>
        </p:txBody>
      </p:sp>
      <p:sp>
        <p:nvSpPr>
          <p:cNvPr id="5" name="Level 1 name"/>
          <p:cNvSpPr txBox="1"/>
          <p:nvPr/>
        </p:nvSpPr>
        <p:spPr>
          <a:xfrm>
            <a:off x="566928" y="2569464"/>
            <a:ext cx="1371600" cy="457200"/>
          </a:xfrm>
          <a:prstGeom prst="rect">
            <a:avLst/>
          </a:prstGeom>
          <a:noFill/>
          <a:ln/>
        </p:spPr>
        <p:txBody>
          <a:bodyPr wrap="square" lIns="0" tIns="0" rIns="0" bIns="0" rtlCol="0" anchor="t"/>
          <a:lstStyle/>
          <a:p>
            <a:pPr marL="0" indent="0">
              <a:buNone/>
            </a:pPr>
            <a:r>
              <a:rPr lang="en-US" sz="1400" b="1" dirty="0">
                <a:solidFill>
                  <a:schemeClr val="tx1"/>
                </a:solidFill>
                <a:latin typeface="Calibri" pitchFamily="34" charset="0"/>
                <a:ea typeface="Calibri" pitchFamily="34" charset="-122"/>
                <a:cs typeface="Calibri" pitchFamily="34" charset="-120"/>
              </a:rPr>
              <a:t>No AI Use</a:t>
            </a:r>
            <a:endParaRPr lang="en-US" sz="1400" dirty="0"/>
          </a:p>
        </p:txBody>
      </p:sp>
      <p:sp>
        <p:nvSpPr>
          <p:cNvPr id="6" name="Level 1 descriptor"/>
          <p:cNvSpPr txBox="1"/>
          <p:nvPr/>
        </p:nvSpPr>
        <p:spPr>
          <a:xfrm>
            <a:off x="566928" y="3063240"/>
            <a:ext cx="1353312" cy="457200"/>
          </a:xfrm>
          <a:prstGeom prst="rect">
            <a:avLst/>
          </a:prstGeom>
          <a:noFill/>
          <a:ln/>
        </p:spPr>
        <p:txBody>
          <a:bodyPr wrap="square" lIns="0" tIns="0" rIns="0" bIns="0" rtlCol="0" anchor="t"/>
          <a:lstStyle/>
          <a:p>
            <a:pPr marL="0" indent="0">
              <a:buNone/>
            </a:pPr>
            <a:r>
              <a:rPr lang="en-US" sz="1200" dirty="0">
                <a:solidFill>
                  <a:schemeClr val="accent3"/>
                </a:solidFill>
                <a:latin typeface="Calibri" pitchFamily="34" charset="0"/>
                <a:ea typeface="Calibri" pitchFamily="34" charset="-122"/>
                <a:cs typeface="Calibri" pitchFamily="34" charset="-120"/>
              </a:rPr>
              <a:t>Work completed without AI</a:t>
            </a:r>
            <a:endParaRPr lang="en-US" sz="1200" dirty="0"/>
          </a:p>
        </p:txBody>
      </p:sp>
      <p:sp>
        <p:nvSpPr>
          <p:cNvPr id="7" name="Level 1 why label"/>
          <p:cNvSpPr txBox="1"/>
          <p:nvPr/>
        </p:nvSpPr>
        <p:spPr>
          <a:xfrm>
            <a:off x="566928" y="3566160"/>
            <a:ext cx="1335024" cy="182880"/>
          </a:xfrm>
          <a:prstGeom prst="rect">
            <a:avLst/>
          </a:prstGeom>
          <a:noFill/>
          <a:ln/>
        </p:spPr>
        <p:txBody>
          <a:bodyPr wrap="square" lIns="0" tIns="0" rIns="0" bIns="0" rtlCol="0" anchor="t"/>
          <a:lstStyle/>
          <a:p>
            <a:pPr marL="0" indent="0">
              <a:buNone/>
            </a:pPr>
            <a:r>
              <a:rPr lang="en-US" sz="1000" b="1" kern="0" spc="200" dirty="0">
                <a:solidFill>
                  <a:schemeClr val="tx2"/>
                </a:solidFill>
                <a:latin typeface="Calibri" pitchFamily="34" charset="0"/>
                <a:ea typeface="Calibri" pitchFamily="34" charset="-122"/>
                <a:cs typeface="Calibri" pitchFamily="34" charset="-120"/>
              </a:rPr>
              <a:t>WHY</a:t>
            </a:r>
            <a:endParaRPr lang="en-US" sz="1000" dirty="0"/>
          </a:p>
        </p:txBody>
      </p:sp>
      <p:sp>
        <p:nvSpPr>
          <p:cNvPr id="8" name="Level 1 why"/>
          <p:cNvSpPr txBox="1"/>
          <p:nvPr/>
        </p:nvSpPr>
        <p:spPr>
          <a:xfrm>
            <a:off x="566928" y="3758184"/>
            <a:ext cx="1353312" cy="548640"/>
          </a:xfrm>
          <a:prstGeom prst="rect">
            <a:avLst/>
          </a:prstGeom>
          <a:noFill/>
          <a:ln/>
        </p:spPr>
        <p:txBody>
          <a:bodyPr wrap="square" lIns="0" tIns="0" rIns="0" bIns="0" rtlCol="0" anchor="t"/>
          <a:lstStyle/>
          <a:p>
            <a:pPr marL="0" indent="0">
              <a:buNone/>
            </a:pPr>
            <a:r>
              <a:rPr lang="en-US" sz="1200" b="1" dirty="0">
                <a:solidFill>
                  <a:schemeClr val="tx1"/>
                </a:solidFill>
                <a:latin typeface="Calibri" pitchFamily="34" charset="0"/>
                <a:ea typeface="Calibri" pitchFamily="34" charset="-122"/>
                <a:cs typeface="Calibri" pitchFamily="34" charset="-120"/>
              </a:rPr>
              <a:t>Evidence of independent competence (e.g., domain knowledge)</a:t>
            </a:r>
            <a:endParaRPr lang="en-US" sz="1200" dirty="0"/>
          </a:p>
        </p:txBody>
      </p:sp>
      <p:sp>
        <p:nvSpPr>
          <p:cNvPr id="9" name="Level 2 step"/>
          <p:cNvSpPr/>
          <p:nvPr/>
        </p:nvSpPr>
        <p:spPr>
          <a:xfrm>
            <a:off x="2103120" y="2002536"/>
            <a:ext cx="1554480" cy="2523744"/>
          </a:xfrm>
          <a:prstGeom prst="roundRect">
            <a:avLst>
              <a:gd name="adj" fmla="val 3529"/>
            </a:avLst>
          </a:prstGeom>
          <a:solidFill>
            <a:schemeClr val="accent4"/>
          </a:solidFill>
          <a:ln w="12700">
            <a:solidFill>
              <a:schemeClr val="accent4"/>
            </a:solidFill>
            <a:prstDash val="solid"/>
          </a:ln>
        </p:spPr>
        <p:txBody>
          <a:bodyPr/>
          <a:lstStyle/>
          <a:p>
            <a:endParaRPr lang="en-US"/>
          </a:p>
        </p:txBody>
      </p:sp>
      <p:sp>
        <p:nvSpPr>
          <p:cNvPr id="10" name="Level 2 number"/>
          <p:cNvSpPr txBox="1"/>
          <p:nvPr/>
        </p:nvSpPr>
        <p:spPr>
          <a:xfrm>
            <a:off x="2212848" y="2112264"/>
            <a:ext cx="1335024" cy="201168"/>
          </a:xfrm>
          <a:prstGeom prst="rect">
            <a:avLst/>
          </a:prstGeom>
          <a:noFill/>
          <a:ln/>
        </p:spPr>
        <p:txBody>
          <a:bodyPr wrap="square" lIns="0" tIns="0" rIns="0" bIns="0" rtlCol="0" anchor="t"/>
          <a:lstStyle/>
          <a:p>
            <a:pPr marL="0" indent="0">
              <a:buNone/>
            </a:pPr>
            <a:r>
              <a:rPr lang="en-US" sz="1000" b="1" kern="0" spc="100" dirty="0">
                <a:solidFill>
                  <a:schemeClr val="tx1"/>
                </a:solidFill>
                <a:latin typeface="Calibri" pitchFamily="34" charset="0"/>
                <a:ea typeface="Calibri" pitchFamily="34" charset="-122"/>
                <a:cs typeface="Calibri" pitchFamily="34" charset="-120"/>
              </a:rPr>
              <a:t>LEVEL 2</a:t>
            </a:r>
            <a:endParaRPr lang="en-US" sz="1000" dirty="0"/>
          </a:p>
        </p:txBody>
      </p:sp>
      <p:sp>
        <p:nvSpPr>
          <p:cNvPr id="11" name="Level 2 name"/>
          <p:cNvSpPr txBox="1"/>
          <p:nvPr/>
        </p:nvSpPr>
        <p:spPr>
          <a:xfrm>
            <a:off x="2212848" y="2331720"/>
            <a:ext cx="1371600" cy="457200"/>
          </a:xfrm>
          <a:prstGeom prst="rect">
            <a:avLst/>
          </a:prstGeom>
          <a:noFill/>
          <a:ln/>
        </p:spPr>
        <p:txBody>
          <a:bodyPr wrap="square" lIns="0" tIns="0" rIns="0" bIns="0" rtlCol="0" anchor="t"/>
          <a:lstStyle/>
          <a:p>
            <a:pPr marL="0" indent="0">
              <a:buNone/>
            </a:pPr>
            <a:r>
              <a:rPr lang="en-US" sz="1400" b="1" dirty="0">
                <a:solidFill>
                  <a:schemeClr val="tx2"/>
                </a:solidFill>
                <a:latin typeface="Calibri" pitchFamily="34" charset="0"/>
                <a:ea typeface="Calibri" pitchFamily="34" charset="-122"/>
                <a:cs typeface="Calibri" pitchFamily="34" charset="-120"/>
              </a:rPr>
              <a:t>Limited AI Use</a:t>
            </a:r>
            <a:endParaRPr lang="en-US" sz="1400" dirty="0"/>
          </a:p>
        </p:txBody>
      </p:sp>
      <p:sp>
        <p:nvSpPr>
          <p:cNvPr id="12" name="Level 2 descriptor"/>
          <p:cNvSpPr txBox="1"/>
          <p:nvPr/>
        </p:nvSpPr>
        <p:spPr>
          <a:xfrm>
            <a:off x="2212848" y="2825496"/>
            <a:ext cx="1353312" cy="457200"/>
          </a:xfrm>
          <a:prstGeom prst="rect">
            <a:avLst/>
          </a:prstGeom>
          <a:noFill/>
          <a:ln/>
        </p:spPr>
        <p:txBody>
          <a:bodyPr wrap="square" lIns="0" tIns="0" rIns="0" bIns="0" rtlCol="0" anchor="t"/>
          <a:lstStyle/>
          <a:p>
            <a:pPr marL="0" indent="0">
              <a:buNone/>
            </a:pPr>
            <a:r>
              <a:rPr lang="en-US" sz="1200" dirty="0">
                <a:solidFill>
                  <a:schemeClr val="tx1"/>
                </a:solidFill>
                <a:latin typeface="Calibri" pitchFamily="34" charset="0"/>
                <a:ea typeface="Calibri" pitchFamily="34" charset="-122"/>
                <a:cs typeface="Calibri" pitchFamily="34" charset="-120"/>
              </a:rPr>
              <a:t>AI for narrow, specified tasks</a:t>
            </a:r>
            <a:endParaRPr lang="en-US" sz="1200" dirty="0"/>
          </a:p>
        </p:txBody>
      </p:sp>
      <p:sp>
        <p:nvSpPr>
          <p:cNvPr id="13" name="Level 2 why label"/>
          <p:cNvSpPr txBox="1"/>
          <p:nvPr/>
        </p:nvSpPr>
        <p:spPr>
          <a:xfrm>
            <a:off x="2212848" y="3328416"/>
            <a:ext cx="1335024" cy="182880"/>
          </a:xfrm>
          <a:prstGeom prst="rect">
            <a:avLst/>
          </a:prstGeom>
          <a:noFill/>
          <a:ln/>
        </p:spPr>
        <p:txBody>
          <a:bodyPr wrap="square" lIns="0" tIns="0" rIns="0" bIns="0" rtlCol="0" anchor="t"/>
          <a:lstStyle/>
          <a:p>
            <a:pPr marL="0" indent="0">
              <a:buNone/>
            </a:pPr>
            <a:r>
              <a:rPr lang="en-US" sz="1000" b="1" kern="0" spc="200" dirty="0">
                <a:solidFill>
                  <a:schemeClr val="tx2"/>
                </a:solidFill>
                <a:latin typeface="Calibri" pitchFamily="34" charset="0"/>
                <a:ea typeface="Calibri" pitchFamily="34" charset="-122"/>
                <a:cs typeface="Calibri" pitchFamily="34" charset="-120"/>
              </a:rPr>
              <a:t>WHY</a:t>
            </a:r>
            <a:endParaRPr lang="en-US" sz="1000" dirty="0"/>
          </a:p>
        </p:txBody>
      </p:sp>
      <p:sp>
        <p:nvSpPr>
          <p:cNvPr id="14" name="Level 2 why"/>
          <p:cNvSpPr txBox="1"/>
          <p:nvPr/>
        </p:nvSpPr>
        <p:spPr>
          <a:xfrm>
            <a:off x="2212848" y="3520440"/>
            <a:ext cx="1353312" cy="548640"/>
          </a:xfrm>
          <a:prstGeom prst="rect">
            <a:avLst/>
          </a:prstGeom>
          <a:noFill/>
          <a:ln/>
        </p:spPr>
        <p:txBody>
          <a:bodyPr wrap="square" lIns="0" tIns="0" rIns="0" bIns="0" rtlCol="0" anchor="t"/>
          <a:lstStyle/>
          <a:p>
            <a:pPr marL="0" indent="0">
              <a:buNone/>
            </a:pPr>
            <a:r>
              <a:rPr lang="en-US" sz="1200" b="1" dirty="0">
                <a:solidFill>
                  <a:schemeClr val="tx2"/>
                </a:solidFill>
                <a:latin typeface="Calibri" pitchFamily="34" charset="0"/>
                <a:ea typeface="Calibri" pitchFamily="34" charset="-122"/>
                <a:cs typeface="Calibri" pitchFamily="34" charset="-120"/>
              </a:rPr>
              <a:t>Lower non-essential barriers (e.g., grammar)</a:t>
            </a:r>
            <a:endParaRPr lang="en-US" sz="1200" dirty="0"/>
          </a:p>
        </p:txBody>
      </p:sp>
      <p:sp>
        <p:nvSpPr>
          <p:cNvPr id="15" name="Level 3 step"/>
          <p:cNvSpPr/>
          <p:nvPr/>
        </p:nvSpPr>
        <p:spPr>
          <a:xfrm>
            <a:off x="3749040" y="1764792"/>
            <a:ext cx="1554480" cy="2761488"/>
          </a:xfrm>
          <a:prstGeom prst="roundRect">
            <a:avLst>
              <a:gd name="adj" fmla="val 3529"/>
            </a:avLst>
          </a:prstGeom>
          <a:solidFill>
            <a:srgbClr val="4F7A63"/>
          </a:solidFill>
          <a:ln w="12700">
            <a:solidFill>
              <a:srgbClr val="4F7A63"/>
            </a:solidFill>
            <a:prstDash val="solid"/>
          </a:ln>
        </p:spPr>
        <p:txBody>
          <a:bodyPr/>
          <a:lstStyle/>
          <a:p>
            <a:endParaRPr lang="en-US"/>
          </a:p>
        </p:txBody>
      </p:sp>
      <p:sp>
        <p:nvSpPr>
          <p:cNvPr id="16" name="Level 3 number"/>
          <p:cNvSpPr txBox="1"/>
          <p:nvPr/>
        </p:nvSpPr>
        <p:spPr>
          <a:xfrm>
            <a:off x="3858768" y="1874520"/>
            <a:ext cx="1335024" cy="201168"/>
          </a:xfrm>
          <a:prstGeom prst="rect">
            <a:avLst/>
          </a:prstGeom>
          <a:noFill/>
          <a:ln/>
        </p:spPr>
        <p:txBody>
          <a:bodyPr wrap="square" lIns="0" tIns="0" rIns="0" bIns="0" rtlCol="0" anchor="t"/>
          <a:lstStyle/>
          <a:p>
            <a:pPr marL="0" indent="0">
              <a:buNone/>
            </a:pPr>
            <a:r>
              <a:rPr lang="en-US" sz="1000" b="1" kern="0" spc="100" dirty="0">
                <a:solidFill>
                  <a:schemeClr val="bg1"/>
                </a:solidFill>
                <a:latin typeface="Calibri" pitchFamily="34" charset="0"/>
                <a:ea typeface="Calibri" pitchFamily="34" charset="-122"/>
                <a:cs typeface="Calibri" pitchFamily="34" charset="-120"/>
              </a:rPr>
              <a:t>LEVEL 3</a:t>
            </a:r>
            <a:endParaRPr lang="en-US" sz="1000" dirty="0"/>
          </a:p>
        </p:txBody>
      </p:sp>
      <p:sp>
        <p:nvSpPr>
          <p:cNvPr id="17" name="Level 3 name"/>
          <p:cNvSpPr txBox="1"/>
          <p:nvPr/>
        </p:nvSpPr>
        <p:spPr>
          <a:xfrm>
            <a:off x="3858768" y="2093976"/>
            <a:ext cx="1371600" cy="457200"/>
          </a:xfrm>
          <a:prstGeom prst="rect">
            <a:avLst/>
          </a:prstGeom>
          <a:noFill/>
          <a:ln/>
        </p:spPr>
        <p:txBody>
          <a:bodyPr wrap="square" lIns="0" tIns="0" rIns="0" bIns="0" rtlCol="0" anchor="t"/>
          <a:lstStyle/>
          <a:p>
            <a:pPr marL="0" indent="0">
              <a:buNone/>
            </a:pPr>
            <a:r>
              <a:rPr lang="en-US" sz="1400" b="1" dirty="0">
                <a:solidFill>
                  <a:schemeClr val="bg1"/>
                </a:solidFill>
                <a:latin typeface="Calibri" pitchFamily="34" charset="0"/>
                <a:ea typeface="Calibri" pitchFamily="34" charset="-122"/>
                <a:cs typeface="Calibri" pitchFamily="34" charset="-120"/>
              </a:rPr>
              <a:t>Collaborative AI Use</a:t>
            </a:r>
            <a:endParaRPr lang="en-US" sz="1400" dirty="0"/>
          </a:p>
        </p:txBody>
      </p:sp>
      <p:sp>
        <p:nvSpPr>
          <p:cNvPr id="18" name="Level 3 descriptor"/>
          <p:cNvSpPr txBox="1"/>
          <p:nvPr/>
        </p:nvSpPr>
        <p:spPr>
          <a:xfrm>
            <a:off x="3858768" y="2587752"/>
            <a:ext cx="1353312" cy="457200"/>
          </a:xfrm>
          <a:prstGeom prst="rect">
            <a:avLst/>
          </a:prstGeom>
          <a:noFill/>
          <a:ln/>
        </p:spPr>
        <p:txBody>
          <a:bodyPr wrap="square" lIns="0" tIns="0" rIns="0" bIns="0" rtlCol="0" anchor="t"/>
          <a:lstStyle/>
          <a:p>
            <a:pPr marL="0" indent="0">
              <a:buNone/>
            </a:pPr>
            <a:r>
              <a:rPr lang="en-US" sz="1200" dirty="0">
                <a:solidFill>
                  <a:schemeClr val="bg1"/>
                </a:solidFill>
                <a:latin typeface="Calibri" pitchFamily="34" charset="0"/>
                <a:ea typeface="Calibri" pitchFamily="34" charset="-122"/>
                <a:cs typeface="Calibri" pitchFamily="34" charset="-120"/>
              </a:rPr>
              <a:t>AI as a thought partner throughout</a:t>
            </a:r>
            <a:endParaRPr lang="en-US" sz="1200" dirty="0"/>
          </a:p>
        </p:txBody>
      </p:sp>
      <p:sp>
        <p:nvSpPr>
          <p:cNvPr id="19" name="Level 3 why label"/>
          <p:cNvSpPr txBox="1"/>
          <p:nvPr/>
        </p:nvSpPr>
        <p:spPr>
          <a:xfrm>
            <a:off x="3858768" y="3090672"/>
            <a:ext cx="1335024" cy="182880"/>
          </a:xfrm>
          <a:prstGeom prst="rect">
            <a:avLst/>
          </a:prstGeom>
          <a:noFill/>
          <a:ln/>
        </p:spPr>
        <p:txBody>
          <a:bodyPr wrap="square" lIns="0" tIns="0" rIns="0" bIns="0" rtlCol="0" anchor="t"/>
          <a:lstStyle/>
          <a:p>
            <a:pPr marL="0" indent="0">
              <a:buNone/>
            </a:pPr>
            <a:r>
              <a:rPr lang="en-US" sz="1000" b="1" kern="0" spc="200" dirty="0">
                <a:solidFill>
                  <a:schemeClr val="accent2"/>
                </a:solidFill>
                <a:latin typeface="Calibri" pitchFamily="34" charset="0"/>
                <a:ea typeface="Calibri" pitchFamily="34" charset="-122"/>
                <a:cs typeface="Calibri" pitchFamily="34" charset="-120"/>
              </a:rPr>
              <a:t>WHY</a:t>
            </a:r>
            <a:endParaRPr lang="en-US" sz="1000" dirty="0"/>
          </a:p>
        </p:txBody>
      </p:sp>
      <p:sp>
        <p:nvSpPr>
          <p:cNvPr id="20" name="Level 3 why"/>
          <p:cNvSpPr txBox="1"/>
          <p:nvPr/>
        </p:nvSpPr>
        <p:spPr>
          <a:xfrm>
            <a:off x="3858768" y="3282696"/>
            <a:ext cx="1353312" cy="548640"/>
          </a:xfrm>
          <a:prstGeom prst="rect">
            <a:avLst/>
          </a:prstGeom>
          <a:noFill/>
          <a:ln/>
        </p:spPr>
        <p:txBody>
          <a:bodyPr wrap="square" lIns="0" tIns="0" rIns="0" bIns="0" rtlCol="0" anchor="t"/>
          <a:lstStyle/>
          <a:p>
            <a:pPr marL="0" indent="0">
              <a:buNone/>
            </a:pPr>
            <a:r>
              <a:rPr lang="en-US" sz="1200" b="1" dirty="0">
                <a:solidFill>
                  <a:schemeClr val="bg1"/>
                </a:solidFill>
                <a:latin typeface="Calibri" pitchFamily="34" charset="0"/>
                <a:ea typeface="Calibri" pitchFamily="34" charset="-122"/>
                <a:cs typeface="Calibri" pitchFamily="34" charset="-120"/>
              </a:rPr>
              <a:t>Engage critical thinking through reflection</a:t>
            </a:r>
            <a:endParaRPr lang="en-US" sz="1200" dirty="0"/>
          </a:p>
        </p:txBody>
      </p:sp>
      <p:sp>
        <p:nvSpPr>
          <p:cNvPr id="21" name="Level 4 step"/>
          <p:cNvSpPr/>
          <p:nvPr/>
        </p:nvSpPr>
        <p:spPr>
          <a:xfrm>
            <a:off x="5394960" y="1527048"/>
            <a:ext cx="1554480" cy="2999232"/>
          </a:xfrm>
          <a:prstGeom prst="roundRect">
            <a:avLst>
              <a:gd name="adj" fmla="val 3529"/>
            </a:avLst>
          </a:prstGeom>
          <a:solidFill>
            <a:schemeClr val="accent1"/>
          </a:solidFill>
          <a:ln w="12700">
            <a:solidFill>
              <a:schemeClr val="accent1"/>
            </a:solidFill>
            <a:prstDash val="solid"/>
          </a:ln>
        </p:spPr>
        <p:txBody>
          <a:bodyPr/>
          <a:lstStyle/>
          <a:p>
            <a:endParaRPr lang="en-US"/>
          </a:p>
        </p:txBody>
      </p:sp>
      <p:sp>
        <p:nvSpPr>
          <p:cNvPr id="22" name="Level 4 number"/>
          <p:cNvSpPr txBox="1"/>
          <p:nvPr/>
        </p:nvSpPr>
        <p:spPr>
          <a:xfrm>
            <a:off x="5504688" y="1636776"/>
            <a:ext cx="1335024" cy="201168"/>
          </a:xfrm>
          <a:prstGeom prst="rect">
            <a:avLst/>
          </a:prstGeom>
          <a:noFill/>
          <a:ln/>
        </p:spPr>
        <p:txBody>
          <a:bodyPr wrap="square" lIns="0" tIns="0" rIns="0" bIns="0" rtlCol="0" anchor="t"/>
          <a:lstStyle/>
          <a:p>
            <a:pPr marL="0" indent="0">
              <a:buNone/>
            </a:pPr>
            <a:r>
              <a:rPr lang="en-US" sz="1000" b="1" kern="0" spc="100" dirty="0">
                <a:solidFill>
                  <a:srgbClr val="E3ECE6"/>
                </a:solidFill>
                <a:latin typeface="Calibri" pitchFamily="34" charset="0"/>
                <a:ea typeface="Calibri" pitchFamily="34" charset="-122"/>
                <a:cs typeface="Calibri" pitchFamily="34" charset="-120"/>
              </a:rPr>
              <a:t>LEVEL 4</a:t>
            </a:r>
            <a:endParaRPr lang="en-US" sz="1000" dirty="0"/>
          </a:p>
        </p:txBody>
      </p:sp>
      <p:sp>
        <p:nvSpPr>
          <p:cNvPr id="23" name="Level 4 name"/>
          <p:cNvSpPr txBox="1"/>
          <p:nvPr/>
        </p:nvSpPr>
        <p:spPr>
          <a:xfrm>
            <a:off x="5504688" y="1856232"/>
            <a:ext cx="1371600" cy="457200"/>
          </a:xfrm>
          <a:prstGeom prst="rect">
            <a:avLst/>
          </a:prstGeom>
          <a:noFill/>
          <a:ln/>
        </p:spPr>
        <p:txBody>
          <a:bodyPr wrap="square" lIns="0" tIns="0" rIns="0" bIns="0" rtlCol="0" anchor="t"/>
          <a:lstStyle/>
          <a:p>
            <a:pPr marL="0" indent="0">
              <a:buNone/>
            </a:pPr>
            <a:r>
              <a:rPr lang="en-US" sz="1400" b="1" dirty="0">
                <a:solidFill>
                  <a:schemeClr val="bg1"/>
                </a:solidFill>
                <a:latin typeface="Calibri" pitchFamily="34" charset="0"/>
                <a:ea typeface="Calibri" pitchFamily="34" charset="-122"/>
                <a:cs typeface="Calibri" pitchFamily="34" charset="-120"/>
              </a:rPr>
              <a:t>Integrated AI Use</a:t>
            </a:r>
            <a:endParaRPr lang="en-US" sz="1400" dirty="0"/>
          </a:p>
        </p:txBody>
      </p:sp>
      <p:sp>
        <p:nvSpPr>
          <p:cNvPr id="24" name="Level 4 descriptor"/>
          <p:cNvSpPr txBox="1"/>
          <p:nvPr/>
        </p:nvSpPr>
        <p:spPr>
          <a:xfrm>
            <a:off x="5504688" y="2350008"/>
            <a:ext cx="1353312" cy="457200"/>
          </a:xfrm>
          <a:prstGeom prst="rect">
            <a:avLst/>
          </a:prstGeom>
          <a:noFill/>
          <a:ln/>
        </p:spPr>
        <p:txBody>
          <a:bodyPr wrap="square" lIns="0" tIns="0" rIns="0" bIns="0" rtlCol="0" anchor="t"/>
          <a:lstStyle/>
          <a:p>
            <a:pPr marL="0" indent="0">
              <a:buNone/>
            </a:pPr>
            <a:r>
              <a:rPr lang="en-US" sz="1200" dirty="0">
                <a:solidFill>
                  <a:srgbClr val="E3ECE6"/>
                </a:solidFill>
                <a:latin typeface="Calibri" pitchFamily="34" charset="0"/>
                <a:ea typeface="Calibri" pitchFamily="34" charset="-122"/>
                <a:cs typeface="Calibri" pitchFamily="34" charset="-120"/>
              </a:rPr>
              <a:t>AI woven in as in professional practice</a:t>
            </a:r>
            <a:endParaRPr lang="en-US" sz="1200" dirty="0"/>
          </a:p>
        </p:txBody>
      </p:sp>
      <p:sp>
        <p:nvSpPr>
          <p:cNvPr id="25" name="Level 4 why label"/>
          <p:cNvSpPr txBox="1"/>
          <p:nvPr/>
        </p:nvSpPr>
        <p:spPr>
          <a:xfrm>
            <a:off x="5504688" y="2852928"/>
            <a:ext cx="1335024" cy="182880"/>
          </a:xfrm>
          <a:prstGeom prst="rect">
            <a:avLst/>
          </a:prstGeom>
          <a:noFill/>
          <a:ln/>
        </p:spPr>
        <p:txBody>
          <a:bodyPr wrap="square" lIns="0" tIns="0" rIns="0" bIns="0" rtlCol="0" anchor="t"/>
          <a:lstStyle/>
          <a:p>
            <a:pPr marL="0" indent="0">
              <a:buNone/>
            </a:pPr>
            <a:r>
              <a:rPr lang="en-US" sz="1000" b="1" kern="0" spc="200" dirty="0">
                <a:solidFill>
                  <a:schemeClr val="accent2"/>
                </a:solidFill>
                <a:latin typeface="Calibri" pitchFamily="34" charset="0"/>
                <a:ea typeface="Calibri" pitchFamily="34" charset="-122"/>
                <a:cs typeface="Calibri" pitchFamily="34" charset="-120"/>
              </a:rPr>
              <a:t>WHY</a:t>
            </a:r>
            <a:endParaRPr lang="en-US" sz="1000" dirty="0"/>
          </a:p>
        </p:txBody>
      </p:sp>
      <p:sp>
        <p:nvSpPr>
          <p:cNvPr id="26" name="Level 4 why"/>
          <p:cNvSpPr txBox="1"/>
          <p:nvPr/>
        </p:nvSpPr>
        <p:spPr>
          <a:xfrm>
            <a:off x="5504688" y="3044952"/>
            <a:ext cx="1353312" cy="548640"/>
          </a:xfrm>
          <a:prstGeom prst="rect">
            <a:avLst/>
          </a:prstGeom>
          <a:noFill/>
          <a:ln/>
        </p:spPr>
        <p:txBody>
          <a:bodyPr wrap="square" lIns="0" tIns="0" rIns="0" bIns="0" rtlCol="0" anchor="t"/>
          <a:lstStyle/>
          <a:p>
            <a:pPr marL="0" indent="0">
              <a:buNone/>
            </a:pPr>
            <a:r>
              <a:rPr lang="en-US" sz="1200" b="1" dirty="0">
                <a:solidFill>
                  <a:schemeClr val="bg1"/>
                </a:solidFill>
                <a:latin typeface="Calibri" pitchFamily="34" charset="0"/>
                <a:ea typeface="Calibri" pitchFamily="34" charset="-122"/>
                <a:cs typeface="Calibri" pitchFamily="34" charset="-120"/>
              </a:rPr>
              <a:t>Co-create with human-directed interaction</a:t>
            </a:r>
            <a:endParaRPr lang="en-US" sz="1200" dirty="0"/>
          </a:p>
        </p:txBody>
      </p:sp>
      <p:sp>
        <p:nvSpPr>
          <p:cNvPr id="27" name="Level 5 step"/>
          <p:cNvSpPr/>
          <p:nvPr/>
        </p:nvSpPr>
        <p:spPr>
          <a:xfrm>
            <a:off x="7040880" y="1289304"/>
            <a:ext cx="1554480" cy="3236976"/>
          </a:xfrm>
          <a:prstGeom prst="roundRect">
            <a:avLst>
              <a:gd name="adj" fmla="val 3529"/>
            </a:avLst>
          </a:prstGeom>
          <a:solidFill>
            <a:schemeClr val="tx1"/>
          </a:solidFill>
          <a:ln w="12700">
            <a:solidFill>
              <a:schemeClr val="tx1"/>
            </a:solidFill>
            <a:prstDash val="solid"/>
          </a:ln>
        </p:spPr>
        <p:txBody>
          <a:bodyPr/>
          <a:lstStyle/>
          <a:p>
            <a:endParaRPr lang="en-US"/>
          </a:p>
        </p:txBody>
      </p:sp>
      <p:sp>
        <p:nvSpPr>
          <p:cNvPr id="28" name="Level 5 number"/>
          <p:cNvSpPr txBox="1"/>
          <p:nvPr/>
        </p:nvSpPr>
        <p:spPr>
          <a:xfrm>
            <a:off x="7150608" y="1399032"/>
            <a:ext cx="1335024" cy="201168"/>
          </a:xfrm>
          <a:prstGeom prst="rect">
            <a:avLst/>
          </a:prstGeom>
          <a:noFill/>
          <a:ln/>
        </p:spPr>
        <p:txBody>
          <a:bodyPr wrap="square" lIns="0" tIns="0" rIns="0" bIns="0" rtlCol="0" anchor="t"/>
          <a:lstStyle/>
          <a:p>
            <a:pPr marL="0" indent="0">
              <a:buNone/>
            </a:pPr>
            <a:r>
              <a:rPr lang="en-US" sz="1000" b="1" kern="0" spc="100" dirty="0">
                <a:solidFill>
                  <a:schemeClr val="bg1"/>
                </a:solidFill>
                <a:latin typeface="Calibri" pitchFamily="34" charset="0"/>
                <a:ea typeface="Calibri" pitchFamily="34" charset="-122"/>
                <a:cs typeface="Calibri" pitchFamily="34" charset="-120"/>
              </a:rPr>
              <a:t>LEVEL 5</a:t>
            </a:r>
            <a:endParaRPr lang="en-US" sz="1000" dirty="0"/>
          </a:p>
        </p:txBody>
      </p:sp>
      <p:sp>
        <p:nvSpPr>
          <p:cNvPr id="29" name="Level 5 name"/>
          <p:cNvSpPr txBox="1"/>
          <p:nvPr/>
        </p:nvSpPr>
        <p:spPr>
          <a:xfrm>
            <a:off x="7150608" y="1618488"/>
            <a:ext cx="1371600" cy="457200"/>
          </a:xfrm>
          <a:prstGeom prst="rect">
            <a:avLst/>
          </a:prstGeom>
          <a:noFill/>
          <a:ln/>
        </p:spPr>
        <p:txBody>
          <a:bodyPr wrap="square" lIns="0" tIns="0" rIns="0" bIns="0" rtlCol="0" anchor="t"/>
          <a:lstStyle/>
          <a:p>
            <a:pPr marL="0" indent="0">
              <a:buNone/>
            </a:pPr>
            <a:r>
              <a:rPr lang="en-US" sz="1400" b="1" dirty="0">
                <a:solidFill>
                  <a:schemeClr val="accent2"/>
                </a:solidFill>
                <a:latin typeface="Calibri" pitchFamily="34" charset="0"/>
                <a:ea typeface="Calibri" pitchFamily="34" charset="-122"/>
                <a:cs typeface="Calibri" pitchFamily="34" charset="-120"/>
              </a:rPr>
              <a:t>AI Innovation</a:t>
            </a:r>
            <a:endParaRPr lang="en-US" sz="1400" dirty="0"/>
          </a:p>
        </p:txBody>
      </p:sp>
      <p:sp>
        <p:nvSpPr>
          <p:cNvPr id="30" name="Level 5 descriptor"/>
          <p:cNvSpPr txBox="1"/>
          <p:nvPr/>
        </p:nvSpPr>
        <p:spPr>
          <a:xfrm>
            <a:off x="7150608" y="2112264"/>
            <a:ext cx="1353312" cy="457200"/>
          </a:xfrm>
          <a:prstGeom prst="rect">
            <a:avLst/>
          </a:prstGeom>
          <a:noFill/>
          <a:ln/>
        </p:spPr>
        <p:txBody>
          <a:bodyPr wrap="square" lIns="0" tIns="0" rIns="0" bIns="0" rtlCol="0" anchor="t"/>
          <a:lstStyle/>
          <a:p>
            <a:pPr marL="0" indent="0">
              <a:buNone/>
            </a:pPr>
            <a:r>
              <a:rPr lang="en-US" sz="1200" dirty="0">
                <a:solidFill>
                  <a:schemeClr val="bg1"/>
                </a:solidFill>
                <a:latin typeface="Calibri" pitchFamily="34" charset="0"/>
                <a:ea typeface="Calibri" pitchFamily="34" charset="-122"/>
                <a:cs typeface="Calibri" pitchFamily="34" charset="-120"/>
              </a:rPr>
              <a:t>AI used to create novel approaches</a:t>
            </a:r>
            <a:endParaRPr lang="en-US" sz="1200" dirty="0"/>
          </a:p>
        </p:txBody>
      </p:sp>
      <p:sp>
        <p:nvSpPr>
          <p:cNvPr id="31" name="Level 5 why label"/>
          <p:cNvSpPr txBox="1"/>
          <p:nvPr/>
        </p:nvSpPr>
        <p:spPr>
          <a:xfrm>
            <a:off x="7150608" y="2615184"/>
            <a:ext cx="1335024" cy="182880"/>
          </a:xfrm>
          <a:prstGeom prst="rect">
            <a:avLst/>
          </a:prstGeom>
          <a:noFill/>
          <a:ln/>
        </p:spPr>
        <p:txBody>
          <a:bodyPr wrap="square" lIns="0" tIns="0" rIns="0" bIns="0" rtlCol="0" anchor="t"/>
          <a:lstStyle/>
          <a:p>
            <a:pPr marL="0" indent="0">
              <a:buNone/>
            </a:pPr>
            <a:r>
              <a:rPr lang="en-US" sz="1000" b="1" kern="0" spc="200" dirty="0">
                <a:solidFill>
                  <a:schemeClr val="accent2"/>
                </a:solidFill>
                <a:latin typeface="Calibri" pitchFamily="34" charset="0"/>
                <a:ea typeface="Calibri" pitchFamily="34" charset="-122"/>
                <a:cs typeface="Calibri" pitchFamily="34" charset="-120"/>
              </a:rPr>
              <a:t>WHY</a:t>
            </a:r>
            <a:endParaRPr lang="en-US" sz="1000" dirty="0"/>
          </a:p>
        </p:txBody>
      </p:sp>
      <p:sp>
        <p:nvSpPr>
          <p:cNvPr id="32" name="Level 5 why"/>
          <p:cNvSpPr txBox="1"/>
          <p:nvPr/>
        </p:nvSpPr>
        <p:spPr>
          <a:xfrm>
            <a:off x="7150608" y="2807208"/>
            <a:ext cx="1353312" cy="548640"/>
          </a:xfrm>
          <a:prstGeom prst="rect">
            <a:avLst/>
          </a:prstGeom>
          <a:noFill/>
          <a:ln/>
        </p:spPr>
        <p:txBody>
          <a:bodyPr wrap="square" lIns="0" tIns="0" rIns="0" bIns="0" rtlCol="0" anchor="t"/>
          <a:lstStyle/>
          <a:p>
            <a:pPr marL="0" indent="0">
              <a:buNone/>
            </a:pPr>
            <a:r>
              <a:rPr lang="en-US" sz="1200" b="1" dirty="0">
                <a:solidFill>
                  <a:schemeClr val="accent2"/>
                </a:solidFill>
                <a:latin typeface="Calibri" pitchFamily="34" charset="0"/>
                <a:ea typeface="Calibri" pitchFamily="34" charset="-122"/>
                <a:cs typeface="Calibri" pitchFamily="34" charset="-120"/>
              </a:rPr>
              <a:t>Evidence of AI fluency (discernment and stewardship)</a:t>
            </a:r>
            <a:endParaRPr lang="en-US" sz="1200" dirty="0"/>
          </a:p>
        </p:txBody>
      </p:sp>
      <p:sp>
        <p:nvSpPr>
          <p:cNvPr id="33" name="Prompt card"/>
          <p:cNvSpPr/>
          <p:nvPr/>
        </p:nvSpPr>
        <p:spPr>
          <a:xfrm>
            <a:off x="457200" y="1024128"/>
            <a:ext cx="3200400" cy="822960"/>
          </a:xfrm>
          <a:prstGeom prst="roundRect">
            <a:avLst>
              <a:gd name="adj" fmla="val 8889"/>
            </a:avLst>
          </a:prstGeom>
          <a:solidFill>
            <a:schemeClr val="accent5"/>
          </a:solidFill>
          <a:ln w="12700">
            <a:solidFill>
              <a:schemeClr val="accent5"/>
            </a:solidFill>
            <a:prstDash val="solid"/>
          </a:ln>
        </p:spPr>
        <p:txBody>
          <a:bodyPr/>
          <a:lstStyle/>
          <a:p>
            <a:endParaRPr lang="en-US"/>
          </a:p>
        </p:txBody>
      </p:sp>
      <p:sp>
        <p:nvSpPr>
          <p:cNvPr id="34" name="Prompt"/>
          <p:cNvSpPr txBox="1"/>
          <p:nvPr/>
        </p:nvSpPr>
        <p:spPr>
          <a:xfrm>
            <a:off x="621792" y="1042416"/>
            <a:ext cx="2926080" cy="786384"/>
          </a:xfrm>
          <a:prstGeom prst="rect">
            <a:avLst/>
          </a:prstGeom>
          <a:noFill/>
          <a:ln/>
        </p:spPr>
        <p:txBody>
          <a:bodyPr wrap="square" lIns="0" tIns="0" rIns="0" bIns="0" rtlCol="0" anchor="ctr"/>
          <a:lstStyle/>
          <a:p>
            <a:pPr marL="0" indent="0">
              <a:buNone/>
            </a:pPr>
            <a:r>
              <a:rPr lang="en-US" sz="1400" b="1" dirty="0">
                <a:solidFill>
                  <a:schemeClr val="tx1"/>
                </a:solidFill>
                <a:latin typeface="Calibri" pitchFamily="34" charset="0"/>
                <a:ea typeface="Calibri" pitchFamily="34" charset="-122"/>
                <a:cs typeface="Calibri" pitchFamily="34" charset="-120"/>
              </a:rPr>
              <a:t>Where does one of your assignments sit today?</a:t>
            </a:r>
            <a:endParaRPr lang="en-US" sz="1400" dirty="0"/>
          </a:p>
          <a:p>
            <a:pPr marL="0" indent="0">
              <a:buNone/>
            </a:pPr>
            <a:r>
              <a:rPr lang="en-US" sz="1400" dirty="0">
                <a:solidFill>
                  <a:schemeClr val="tx1"/>
                </a:solidFill>
                <a:latin typeface="Calibri" pitchFamily="34" charset="0"/>
                <a:ea typeface="Calibri" pitchFamily="34" charset="-122"/>
                <a:cs typeface="Calibri" pitchFamily="34" charset="-120"/>
              </a:rPr>
              <a:t>Where would you want it to sit?</a:t>
            </a:r>
            <a:endParaRPr lang="en-US" sz="1400" dirty="0"/>
          </a:p>
        </p:txBody>
      </p:sp>
      <p:sp>
        <p:nvSpPr>
          <p:cNvPr id="35" name="Citation"/>
          <p:cNvSpPr txBox="1"/>
          <p:nvPr/>
        </p:nvSpPr>
        <p:spPr>
          <a:xfrm>
            <a:off x="457200" y="4754880"/>
            <a:ext cx="7772400" cy="256032"/>
          </a:xfrm>
          <a:prstGeom prst="rect">
            <a:avLst/>
          </a:prstGeom>
          <a:noFill/>
          <a:ln/>
        </p:spPr>
        <p:txBody>
          <a:bodyPr wrap="square" lIns="0" tIns="0" rIns="0" bIns="0" rtlCol="0" anchor="ctr"/>
          <a:lstStyle/>
          <a:p>
            <a:pPr marL="0" indent="0">
              <a:buNone/>
            </a:pPr>
            <a:r>
              <a:rPr lang="en-US" sz="1000" dirty="0">
                <a:solidFill>
                  <a:schemeClr val="accent3"/>
                </a:solidFill>
                <a:latin typeface="Calibri" pitchFamily="34" charset="0"/>
                <a:ea typeface="Calibri" pitchFamily="34" charset="-122"/>
                <a:cs typeface="Calibri" pitchFamily="34" charset="-120"/>
              </a:rPr>
              <a:t>IWU AI Literacy Continuum (Bleistein &amp; Snyder, 2026), adapted from the AIAS (Perkins et al., 2024)</a:t>
            </a:r>
            <a:endParaRPr lang="en-US" sz="1000" dirty="0"/>
          </a:p>
        </p:txBody>
      </p:sp>
      <p:sp>
        <p:nvSpPr>
          <p:cNvPr id="36" name="Slide Number Placeholder 0"/>
          <p:cNvSpPr>
            <a:spLocks noGrp="1"/>
          </p:cNvSpPr>
          <p:nvPr>
            <p:ph type="sldNum" sz="quarter" idx="4294967295"/>
          </p:nvPr>
        </p:nvSpPr>
        <p:spPr>
          <a:xfrm>
            <a:off x="841248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3"/>
                </a:solidFill>
              </a:defRPr>
            </a:lvl1pPr>
          </a:lstStyle>
          <a:p>
            <a:pPr algn="r"/>
            <a:fld id="{F7021451-1387-4CA6-816F-3879F97B5CBC}" type="slidenum">
              <a:rPr lang="en-US" b="0"/>
              <a:t>8</a:t>
            </a:fld>
            <a:endParaRPr lang="en-US"/>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show="0">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85800"/>
          </a:xfrm>
          <a:prstGeom prst="rect">
            <a:avLst/>
          </a:prstGeom>
          <a:noFill/>
          <a:ln/>
        </p:spPr>
        <p:txBody>
          <a:bodyPr wrap="square" lIns="0" tIns="0" rIns="0" bIns="0" rtlCol="0" anchor="ctr"/>
          <a:lstStyle/>
          <a:p>
            <a:pPr marL="0" indent="0" algn="ctr">
              <a:buNone/>
            </a:pPr>
            <a:r>
              <a:rPr lang="en-US" sz="3400" b="1" dirty="0">
                <a:solidFill>
                  <a:schemeClr val="tx2"/>
                </a:solidFill>
              </a:rPr>
              <a:t>The cognitive connection at each level</a:t>
            </a:r>
            <a:endParaRPr lang="en-US" sz="3400" dirty="0"/>
          </a:p>
        </p:txBody>
      </p:sp>
      <p:sp>
        <p:nvSpPr>
          <p:cNvPr id="3" name="Level 1 chip"/>
          <p:cNvSpPr/>
          <p:nvPr/>
        </p:nvSpPr>
        <p:spPr>
          <a:xfrm>
            <a:off x="457200" y="1024128"/>
            <a:ext cx="1691640" cy="694944"/>
          </a:xfrm>
          <a:prstGeom prst="roundRect">
            <a:avLst>
              <a:gd name="adj" fmla="val 7895"/>
            </a:avLst>
          </a:prstGeom>
          <a:solidFill>
            <a:schemeClr val="bg2"/>
          </a:solidFill>
          <a:ln w="12700">
            <a:solidFill>
              <a:schemeClr val="bg2"/>
            </a:solidFill>
            <a:prstDash val="solid"/>
          </a:ln>
        </p:spPr>
        <p:txBody>
          <a:bodyPr/>
          <a:lstStyle/>
          <a:p>
            <a:endParaRPr lang="en-US"/>
          </a:p>
        </p:txBody>
      </p:sp>
      <p:sp>
        <p:nvSpPr>
          <p:cNvPr id="4" name="Level 1 number"/>
          <p:cNvSpPr txBox="1"/>
          <p:nvPr/>
        </p:nvSpPr>
        <p:spPr>
          <a:xfrm>
            <a:off x="566928" y="1115568"/>
            <a:ext cx="1508760" cy="182880"/>
          </a:xfrm>
          <a:prstGeom prst="rect">
            <a:avLst/>
          </a:prstGeom>
          <a:noFill/>
          <a:ln/>
        </p:spPr>
        <p:txBody>
          <a:bodyPr wrap="square" lIns="0" tIns="0" rIns="0" bIns="0" rtlCol="0" anchor="t"/>
          <a:lstStyle/>
          <a:p>
            <a:pPr marL="0" indent="0">
              <a:buNone/>
            </a:pPr>
            <a:r>
              <a:rPr lang="en-US" sz="900" b="1" kern="0" spc="100" dirty="0">
                <a:solidFill>
                  <a:schemeClr val="accent3"/>
                </a:solidFill>
                <a:latin typeface="Calibri" pitchFamily="34" charset="0"/>
                <a:ea typeface="Calibri" pitchFamily="34" charset="-122"/>
                <a:cs typeface="Calibri" pitchFamily="34" charset="-120"/>
              </a:rPr>
              <a:t>LEVEL 1</a:t>
            </a:r>
            <a:endParaRPr lang="en-US" sz="900" dirty="0"/>
          </a:p>
        </p:txBody>
      </p:sp>
      <p:sp>
        <p:nvSpPr>
          <p:cNvPr id="5" name="Level 1 name"/>
          <p:cNvSpPr txBox="1"/>
          <p:nvPr/>
        </p:nvSpPr>
        <p:spPr>
          <a:xfrm>
            <a:off x="566928" y="1298448"/>
            <a:ext cx="1527048" cy="384048"/>
          </a:xfrm>
          <a:prstGeom prst="rect">
            <a:avLst/>
          </a:prstGeom>
          <a:noFill/>
          <a:ln/>
        </p:spPr>
        <p:txBody>
          <a:bodyPr wrap="square" lIns="0" tIns="0" rIns="0" bIns="0" rtlCol="0" anchor="t"/>
          <a:lstStyle/>
          <a:p>
            <a:pPr marL="0" indent="0">
              <a:buNone/>
            </a:pPr>
            <a:r>
              <a:rPr lang="en-US" sz="1300" b="1" dirty="0">
                <a:solidFill>
                  <a:schemeClr val="tx1"/>
                </a:solidFill>
                <a:latin typeface="Calibri" pitchFamily="34" charset="0"/>
                <a:ea typeface="Calibri" pitchFamily="34" charset="-122"/>
                <a:cs typeface="Calibri" pitchFamily="34" charset="-120"/>
              </a:rPr>
              <a:t>No AI Use</a:t>
            </a:r>
            <a:endParaRPr lang="en-US" sz="1300" dirty="0"/>
          </a:p>
        </p:txBody>
      </p:sp>
      <p:sp>
        <p:nvSpPr>
          <p:cNvPr id="6" name="Level 1 text card"/>
          <p:cNvSpPr/>
          <p:nvPr/>
        </p:nvSpPr>
        <p:spPr>
          <a:xfrm>
            <a:off x="2221992" y="1024128"/>
            <a:ext cx="6464808" cy="694944"/>
          </a:xfrm>
          <a:prstGeom prst="roundRect">
            <a:avLst>
              <a:gd name="adj" fmla="val 10526"/>
            </a:avLst>
          </a:prstGeom>
          <a:solidFill>
            <a:schemeClr val="bg1"/>
          </a:solidFill>
          <a:ln w="12700">
            <a:solidFill>
              <a:schemeClr val="bg1"/>
            </a:solidFill>
            <a:prstDash val="solid"/>
          </a:ln>
        </p:spPr>
        <p:txBody>
          <a:bodyPr/>
          <a:lstStyle/>
          <a:p>
            <a:endParaRPr lang="en-US"/>
          </a:p>
        </p:txBody>
      </p:sp>
      <p:sp>
        <p:nvSpPr>
          <p:cNvPr id="7" name="Level 1 cognitive connection"/>
          <p:cNvSpPr txBox="1"/>
          <p:nvPr/>
        </p:nvSpPr>
        <p:spPr>
          <a:xfrm>
            <a:off x="2331720" y="1060704"/>
            <a:ext cx="6245352" cy="621792"/>
          </a:xfrm>
          <a:prstGeom prst="rect">
            <a:avLst/>
          </a:prstGeom>
          <a:noFill/>
          <a:ln/>
        </p:spPr>
        <p:txBody>
          <a:bodyPr wrap="square" lIns="0" tIns="0" rIns="0" bIns="0" rtlCol="0" anchor="ctr"/>
          <a:lstStyle/>
          <a:p>
            <a:pPr marL="0" indent="0">
              <a:buNone/>
            </a:pPr>
            <a:r>
              <a:rPr lang="en-US" sz="1150" dirty="0">
                <a:solidFill>
                  <a:schemeClr val="tx1"/>
                </a:solidFill>
                <a:latin typeface="Calibri" pitchFamily="34" charset="0"/>
                <a:ea typeface="Calibri" pitchFamily="34" charset="-122"/>
                <a:cs typeface="Calibri" pitchFamily="34" charset="-120"/>
              </a:rPr>
              <a:t>Place an assignment here when the learning is the unaided effort: mastering a concept, building a skill to fluency, demonstrating individual competence. The cognitive payoff is durable foundational knowledge and genuine self-efficacy, secured before any tool can stand in for the thinking.</a:t>
            </a:r>
            <a:endParaRPr lang="en-US" sz="1150" dirty="0"/>
          </a:p>
        </p:txBody>
      </p:sp>
      <p:sp>
        <p:nvSpPr>
          <p:cNvPr id="8" name="Level 2 chip"/>
          <p:cNvSpPr/>
          <p:nvPr/>
        </p:nvSpPr>
        <p:spPr>
          <a:xfrm>
            <a:off x="457200" y="1755648"/>
            <a:ext cx="1691640" cy="694944"/>
          </a:xfrm>
          <a:prstGeom prst="roundRect">
            <a:avLst>
              <a:gd name="adj" fmla="val 7895"/>
            </a:avLst>
          </a:prstGeom>
          <a:solidFill>
            <a:schemeClr val="accent4"/>
          </a:solidFill>
          <a:ln w="12700">
            <a:solidFill>
              <a:schemeClr val="accent4"/>
            </a:solidFill>
            <a:prstDash val="solid"/>
          </a:ln>
        </p:spPr>
        <p:txBody>
          <a:bodyPr/>
          <a:lstStyle/>
          <a:p>
            <a:endParaRPr lang="en-US"/>
          </a:p>
        </p:txBody>
      </p:sp>
      <p:sp>
        <p:nvSpPr>
          <p:cNvPr id="9" name="Level 2 number"/>
          <p:cNvSpPr txBox="1"/>
          <p:nvPr/>
        </p:nvSpPr>
        <p:spPr>
          <a:xfrm>
            <a:off x="566928" y="1847088"/>
            <a:ext cx="1508760" cy="182880"/>
          </a:xfrm>
          <a:prstGeom prst="rect">
            <a:avLst/>
          </a:prstGeom>
          <a:noFill/>
          <a:ln/>
        </p:spPr>
        <p:txBody>
          <a:bodyPr wrap="square" lIns="0" tIns="0" rIns="0" bIns="0" rtlCol="0" anchor="t"/>
          <a:lstStyle/>
          <a:p>
            <a:pPr marL="0" indent="0">
              <a:buNone/>
            </a:pPr>
            <a:r>
              <a:rPr lang="en-US" sz="900" b="1" kern="0" spc="100" dirty="0">
                <a:solidFill>
                  <a:schemeClr val="tx1"/>
                </a:solidFill>
                <a:latin typeface="Calibri" pitchFamily="34" charset="0"/>
                <a:ea typeface="Calibri" pitchFamily="34" charset="-122"/>
                <a:cs typeface="Calibri" pitchFamily="34" charset="-120"/>
              </a:rPr>
              <a:t>LEVEL 2</a:t>
            </a:r>
            <a:endParaRPr lang="en-US" sz="900" dirty="0"/>
          </a:p>
        </p:txBody>
      </p:sp>
      <p:sp>
        <p:nvSpPr>
          <p:cNvPr id="10" name="Level 2 name"/>
          <p:cNvSpPr txBox="1"/>
          <p:nvPr/>
        </p:nvSpPr>
        <p:spPr>
          <a:xfrm>
            <a:off x="566928" y="2029968"/>
            <a:ext cx="1527048" cy="384048"/>
          </a:xfrm>
          <a:prstGeom prst="rect">
            <a:avLst/>
          </a:prstGeom>
          <a:noFill/>
          <a:ln/>
        </p:spPr>
        <p:txBody>
          <a:bodyPr wrap="square" lIns="0" tIns="0" rIns="0" bIns="0" rtlCol="0" anchor="t"/>
          <a:lstStyle/>
          <a:p>
            <a:pPr marL="0" indent="0">
              <a:buNone/>
            </a:pPr>
            <a:r>
              <a:rPr lang="en-US" sz="1300" b="1" dirty="0">
                <a:solidFill>
                  <a:schemeClr val="tx2"/>
                </a:solidFill>
                <a:latin typeface="Calibri" pitchFamily="34" charset="0"/>
                <a:ea typeface="Calibri" pitchFamily="34" charset="-122"/>
                <a:cs typeface="Calibri" pitchFamily="34" charset="-120"/>
              </a:rPr>
              <a:t>Limited AI Use</a:t>
            </a:r>
            <a:endParaRPr lang="en-US" sz="1300" dirty="0"/>
          </a:p>
        </p:txBody>
      </p:sp>
      <p:sp>
        <p:nvSpPr>
          <p:cNvPr id="11" name="Level 2 text card"/>
          <p:cNvSpPr/>
          <p:nvPr/>
        </p:nvSpPr>
        <p:spPr>
          <a:xfrm>
            <a:off x="2221992" y="1755648"/>
            <a:ext cx="6464808" cy="694944"/>
          </a:xfrm>
          <a:prstGeom prst="roundRect">
            <a:avLst>
              <a:gd name="adj" fmla="val 10526"/>
            </a:avLst>
          </a:prstGeom>
          <a:solidFill>
            <a:schemeClr val="bg2"/>
          </a:solidFill>
          <a:ln w="12700">
            <a:solidFill>
              <a:schemeClr val="bg2"/>
            </a:solidFill>
            <a:prstDash val="solid"/>
          </a:ln>
        </p:spPr>
        <p:txBody>
          <a:bodyPr/>
          <a:lstStyle/>
          <a:p>
            <a:endParaRPr lang="en-US"/>
          </a:p>
        </p:txBody>
      </p:sp>
      <p:sp>
        <p:nvSpPr>
          <p:cNvPr id="12" name="Level 2 cognitive connection"/>
          <p:cNvSpPr txBox="1"/>
          <p:nvPr/>
        </p:nvSpPr>
        <p:spPr>
          <a:xfrm>
            <a:off x="2331720" y="1792224"/>
            <a:ext cx="6245352" cy="621792"/>
          </a:xfrm>
          <a:prstGeom prst="rect">
            <a:avLst/>
          </a:prstGeom>
          <a:noFill/>
          <a:ln/>
        </p:spPr>
        <p:txBody>
          <a:bodyPr wrap="square" lIns="0" tIns="0" rIns="0" bIns="0" rtlCol="0" anchor="ctr"/>
          <a:lstStyle/>
          <a:p>
            <a:pPr marL="0" indent="0">
              <a:buNone/>
            </a:pPr>
            <a:r>
              <a:rPr lang="en-US" sz="1150" dirty="0">
                <a:solidFill>
                  <a:schemeClr val="tx1"/>
                </a:solidFill>
                <a:latin typeface="Calibri" pitchFamily="34" charset="0"/>
                <a:ea typeface="Calibri" pitchFamily="34" charset="-122"/>
                <a:cs typeface="Calibri" pitchFamily="34" charset="-120"/>
              </a:rPr>
              <a:t>Place an assignment here to offload low-value friction so students spend their effort on the skill that matters. The payoff is judgment about where help is appropriate, plus early habits of transparency, without surrendering the thinking.</a:t>
            </a:r>
            <a:endParaRPr lang="en-US" sz="1150" dirty="0"/>
          </a:p>
        </p:txBody>
      </p:sp>
      <p:sp>
        <p:nvSpPr>
          <p:cNvPr id="13" name="Level 3 chip"/>
          <p:cNvSpPr/>
          <p:nvPr/>
        </p:nvSpPr>
        <p:spPr>
          <a:xfrm>
            <a:off x="457200" y="2487168"/>
            <a:ext cx="1691640" cy="694944"/>
          </a:xfrm>
          <a:prstGeom prst="roundRect">
            <a:avLst>
              <a:gd name="adj" fmla="val 7895"/>
            </a:avLst>
          </a:prstGeom>
          <a:solidFill>
            <a:srgbClr val="4F7A63"/>
          </a:solidFill>
          <a:ln w="12700">
            <a:solidFill>
              <a:srgbClr val="4F7A63"/>
            </a:solidFill>
            <a:prstDash val="solid"/>
          </a:ln>
        </p:spPr>
        <p:txBody>
          <a:bodyPr/>
          <a:lstStyle/>
          <a:p>
            <a:endParaRPr lang="en-US"/>
          </a:p>
        </p:txBody>
      </p:sp>
      <p:sp>
        <p:nvSpPr>
          <p:cNvPr id="14" name="Level 3 number"/>
          <p:cNvSpPr txBox="1"/>
          <p:nvPr/>
        </p:nvSpPr>
        <p:spPr>
          <a:xfrm>
            <a:off x="566928" y="2578608"/>
            <a:ext cx="1508760" cy="182880"/>
          </a:xfrm>
          <a:prstGeom prst="rect">
            <a:avLst/>
          </a:prstGeom>
          <a:noFill/>
          <a:ln/>
        </p:spPr>
        <p:txBody>
          <a:bodyPr wrap="square" lIns="0" tIns="0" rIns="0" bIns="0" rtlCol="0" anchor="t"/>
          <a:lstStyle/>
          <a:p>
            <a:pPr marL="0" indent="0">
              <a:buNone/>
            </a:pPr>
            <a:r>
              <a:rPr lang="en-US" sz="900" b="1" kern="0" spc="100" dirty="0">
                <a:solidFill>
                  <a:schemeClr val="bg1"/>
                </a:solidFill>
                <a:latin typeface="Calibri" pitchFamily="34" charset="0"/>
                <a:ea typeface="Calibri" pitchFamily="34" charset="-122"/>
                <a:cs typeface="Calibri" pitchFamily="34" charset="-120"/>
              </a:rPr>
              <a:t>LEVEL 3</a:t>
            </a:r>
            <a:endParaRPr lang="en-US" sz="900" dirty="0"/>
          </a:p>
        </p:txBody>
      </p:sp>
      <p:sp>
        <p:nvSpPr>
          <p:cNvPr id="15" name="Level 3 name"/>
          <p:cNvSpPr txBox="1"/>
          <p:nvPr/>
        </p:nvSpPr>
        <p:spPr>
          <a:xfrm>
            <a:off x="566928" y="2761488"/>
            <a:ext cx="1527048" cy="384048"/>
          </a:xfrm>
          <a:prstGeom prst="rect">
            <a:avLst/>
          </a:prstGeom>
          <a:noFill/>
          <a:ln/>
        </p:spPr>
        <p:txBody>
          <a:bodyPr wrap="square" lIns="0" tIns="0" rIns="0" bIns="0" rtlCol="0" anchor="t"/>
          <a:lstStyle/>
          <a:p>
            <a:pPr marL="0" indent="0">
              <a:buNone/>
            </a:pPr>
            <a:r>
              <a:rPr lang="en-US" sz="1300" b="1" dirty="0">
                <a:solidFill>
                  <a:schemeClr val="bg1"/>
                </a:solidFill>
                <a:latin typeface="Calibri" pitchFamily="34" charset="0"/>
                <a:ea typeface="Calibri" pitchFamily="34" charset="-122"/>
                <a:cs typeface="Calibri" pitchFamily="34" charset="-120"/>
              </a:rPr>
              <a:t>Collaborative AI Use</a:t>
            </a:r>
            <a:endParaRPr lang="en-US" sz="1300" dirty="0"/>
          </a:p>
        </p:txBody>
      </p:sp>
      <p:sp>
        <p:nvSpPr>
          <p:cNvPr id="16" name="Level 3 text card"/>
          <p:cNvSpPr/>
          <p:nvPr/>
        </p:nvSpPr>
        <p:spPr>
          <a:xfrm>
            <a:off x="2221992" y="2487168"/>
            <a:ext cx="6464808" cy="694944"/>
          </a:xfrm>
          <a:prstGeom prst="roundRect">
            <a:avLst>
              <a:gd name="adj" fmla="val 10526"/>
            </a:avLst>
          </a:prstGeom>
          <a:solidFill>
            <a:schemeClr val="bg1"/>
          </a:solidFill>
          <a:ln w="12700">
            <a:solidFill>
              <a:schemeClr val="bg1"/>
            </a:solidFill>
            <a:prstDash val="solid"/>
          </a:ln>
        </p:spPr>
        <p:txBody>
          <a:bodyPr/>
          <a:lstStyle/>
          <a:p>
            <a:endParaRPr lang="en-US"/>
          </a:p>
        </p:txBody>
      </p:sp>
      <p:sp>
        <p:nvSpPr>
          <p:cNvPr id="17" name="Level 3 cognitive connection"/>
          <p:cNvSpPr txBox="1"/>
          <p:nvPr/>
        </p:nvSpPr>
        <p:spPr>
          <a:xfrm>
            <a:off x="2331720" y="2523744"/>
            <a:ext cx="6245352" cy="621792"/>
          </a:xfrm>
          <a:prstGeom prst="rect">
            <a:avLst/>
          </a:prstGeom>
          <a:noFill/>
          <a:ln/>
        </p:spPr>
        <p:txBody>
          <a:bodyPr wrap="square" lIns="0" tIns="0" rIns="0" bIns="0" rtlCol="0" anchor="ctr"/>
          <a:lstStyle/>
          <a:p>
            <a:pPr marL="0" indent="0">
              <a:buNone/>
            </a:pPr>
            <a:r>
              <a:rPr lang="en-US" sz="1150" dirty="0">
                <a:solidFill>
                  <a:schemeClr val="tx1"/>
                </a:solidFill>
                <a:latin typeface="Calibri" pitchFamily="34" charset="0"/>
                <a:ea typeface="Calibri" pitchFamily="34" charset="-122"/>
                <a:cs typeface="Calibri" pitchFamily="34" charset="-120"/>
              </a:rPr>
              <a:t>Place an assignment here when the target skill is critical evaluation. Students generate with AI, then adapt or reject its contributions with justification, and defending those calls is where discernment and deeper understanding actually form. The payoff is metacognition: you learn by critiquing.</a:t>
            </a:r>
            <a:endParaRPr lang="en-US" sz="1150" dirty="0"/>
          </a:p>
        </p:txBody>
      </p:sp>
      <p:sp>
        <p:nvSpPr>
          <p:cNvPr id="18" name="Level 4 chip"/>
          <p:cNvSpPr/>
          <p:nvPr/>
        </p:nvSpPr>
        <p:spPr>
          <a:xfrm>
            <a:off x="457200" y="3218688"/>
            <a:ext cx="1691640" cy="694944"/>
          </a:xfrm>
          <a:prstGeom prst="roundRect">
            <a:avLst>
              <a:gd name="adj" fmla="val 7895"/>
            </a:avLst>
          </a:prstGeom>
          <a:solidFill>
            <a:schemeClr val="accent1"/>
          </a:solidFill>
          <a:ln w="12700">
            <a:solidFill>
              <a:schemeClr val="accent1"/>
            </a:solidFill>
            <a:prstDash val="solid"/>
          </a:ln>
        </p:spPr>
        <p:txBody>
          <a:bodyPr/>
          <a:lstStyle/>
          <a:p>
            <a:endParaRPr lang="en-US"/>
          </a:p>
        </p:txBody>
      </p:sp>
      <p:sp>
        <p:nvSpPr>
          <p:cNvPr id="19" name="Level 4 number"/>
          <p:cNvSpPr txBox="1"/>
          <p:nvPr/>
        </p:nvSpPr>
        <p:spPr>
          <a:xfrm>
            <a:off x="566928" y="3310128"/>
            <a:ext cx="1508760" cy="182880"/>
          </a:xfrm>
          <a:prstGeom prst="rect">
            <a:avLst/>
          </a:prstGeom>
          <a:noFill/>
          <a:ln/>
        </p:spPr>
        <p:txBody>
          <a:bodyPr wrap="square" lIns="0" tIns="0" rIns="0" bIns="0" rtlCol="0" anchor="t"/>
          <a:lstStyle/>
          <a:p>
            <a:pPr marL="0" indent="0">
              <a:buNone/>
            </a:pPr>
            <a:r>
              <a:rPr lang="en-US" sz="900" b="1" kern="0" spc="100" dirty="0">
                <a:solidFill>
                  <a:srgbClr val="E3ECE6"/>
                </a:solidFill>
                <a:latin typeface="Calibri" pitchFamily="34" charset="0"/>
                <a:ea typeface="Calibri" pitchFamily="34" charset="-122"/>
                <a:cs typeface="Calibri" pitchFamily="34" charset="-120"/>
              </a:rPr>
              <a:t>LEVEL 4</a:t>
            </a:r>
            <a:endParaRPr lang="en-US" sz="900" dirty="0"/>
          </a:p>
        </p:txBody>
      </p:sp>
      <p:sp>
        <p:nvSpPr>
          <p:cNvPr id="20" name="Level 4 name"/>
          <p:cNvSpPr txBox="1"/>
          <p:nvPr/>
        </p:nvSpPr>
        <p:spPr>
          <a:xfrm>
            <a:off x="566928" y="3493008"/>
            <a:ext cx="1527048" cy="384048"/>
          </a:xfrm>
          <a:prstGeom prst="rect">
            <a:avLst/>
          </a:prstGeom>
          <a:noFill/>
          <a:ln/>
        </p:spPr>
        <p:txBody>
          <a:bodyPr wrap="square" lIns="0" tIns="0" rIns="0" bIns="0" rtlCol="0" anchor="t"/>
          <a:lstStyle/>
          <a:p>
            <a:pPr marL="0" indent="0">
              <a:buNone/>
            </a:pPr>
            <a:r>
              <a:rPr lang="en-US" sz="1300" b="1" dirty="0">
                <a:solidFill>
                  <a:schemeClr val="bg1"/>
                </a:solidFill>
                <a:latin typeface="Calibri" pitchFamily="34" charset="0"/>
                <a:ea typeface="Calibri" pitchFamily="34" charset="-122"/>
                <a:cs typeface="Calibri" pitchFamily="34" charset="-120"/>
              </a:rPr>
              <a:t>Integrated AI Use</a:t>
            </a:r>
            <a:endParaRPr lang="en-US" sz="1300" dirty="0"/>
          </a:p>
        </p:txBody>
      </p:sp>
      <p:sp>
        <p:nvSpPr>
          <p:cNvPr id="21" name="Level 4 text card"/>
          <p:cNvSpPr/>
          <p:nvPr/>
        </p:nvSpPr>
        <p:spPr>
          <a:xfrm>
            <a:off x="2221992" y="3218688"/>
            <a:ext cx="6464808" cy="694944"/>
          </a:xfrm>
          <a:prstGeom prst="roundRect">
            <a:avLst>
              <a:gd name="adj" fmla="val 10526"/>
            </a:avLst>
          </a:prstGeom>
          <a:solidFill>
            <a:schemeClr val="bg2"/>
          </a:solidFill>
          <a:ln w="12700">
            <a:solidFill>
              <a:schemeClr val="bg2"/>
            </a:solidFill>
            <a:prstDash val="solid"/>
          </a:ln>
        </p:spPr>
        <p:txBody>
          <a:bodyPr/>
          <a:lstStyle/>
          <a:p>
            <a:endParaRPr lang="en-US"/>
          </a:p>
        </p:txBody>
      </p:sp>
      <p:sp>
        <p:nvSpPr>
          <p:cNvPr id="22" name="Level 4 cognitive connection"/>
          <p:cNvSpPr txBox="1"/>
          <p:nvPr/>
        </p:nvSpPr>
        <p:spPr>
          <a:xfrm>
            <a:off x="2331720" y="3255264"/>
            <a:ext cx="6245352" cy="621792"/>
          </a:xfrm>
          <a:prstGeom prst="rect">
            <a:avLst/>
          </a:prstGeom>
          <a:noFill/>
          <a:ln/>
        </p:spPr>
        <p:txBody>
          <a:bodyPr wrap="square" lIns="0" tIns="0" rIns="0" bIns="0" rtlCol="0" anchor="ctr"/>
          <a:lstStyle/>
          <a:p>
            <a:pPr marL="0" indent="0">
              <a:buNone/>
            </a:pPr>
            <a:r>
              <a:rPr lang="en-US" sz="1150" dirty="0">
                <a:solidFill>
                  <a:schemeClr val="tx1"/>
                </a:solidFill>
                <a:latin typeface="Calibri" pitchFamily="34" charset="0"/>
                <a:ea typeface="Calibri" pitchFamily="34" charset="-122"/>
                <a:cs typeface="Calibri" pitchFamily="34" charset="-120"/>
              </a:rPr>
              <a:t>Place an assignment here when the outcome is authentic professional performance: choosing the right tool, orchestrating a workflow, and synthesizing several outputs into one coherent deliverable. The payoff is higher-order integration and transfer: cognition that mirrors how the discipline actually works.</a:t>
            </a:r>
            <a:endParaRPr lang="en-US" sz="1150" dirty="0"/>
          </a:p>
        </p:txBody>
      </p:sp>
      <p:sp>
        <p:nvSpPr>
          <p:cNvPr id="23" name="Level 5 chip"/>
          <p:cNvSpPr/>
          <p:nvPr/>
        </p:nvSpPr>
        <p:spPr>
          <a:xfrm>
            <a:off x="457200" y="3950208"/>
            <a:ext cx="1691640" cy="694944"/>
          </a:xfrm>
          <a:prstGeom prst="roundRect">
            <a:avLst>
              <a:gd name="adj" fmla="val 7895"/>
            </a:avLst>
          </a:prstGeom>
          <a:solidFill>
            <a:schemeClr val="tx1"/>
          </a:solidFill>
          <a:ln w="12700">
            <a:solidFill>
              <a:schemeClr val="tx1"/>
            </a:solidFill>
            <a:prstDash val="solid"/>
          </a:ln>
        </p:spPr>
        <p:txBody>
          <a:bodyPr/>
          <a:lstStyle/>
          <a:p>
            <a:endParaRPr lang="en-US"/>
          </a:p>
        </p:txBody>
      </p:sp>
      <p:sp>
        <p:nvSpPr>
          <p:cNvPr id="24" name="Level 5 number"/>
          <p:cNvSpPr txBox="1"/>
          <p:nvPr/>
        </p:nvSpPr>
        <p:spPr>
          <a:xfrm>
            <a:off x="566928" y="4041648"/>
            <a:ext cx="1508760" cy="182880"/>
          </a:xfrm>
          <a:prstGeom prst="rect">
            <a:avLst/>
          </a:prstGeom>
          <a:noFill/>
          <a:ln/>
        </p:spPr>
        <p:txBody>
          <a:bodyPr wrap="square" lIns="0" tIns="0" rIns="0" bIns="0" rtlCol="0" anchor="t"/>
          <a:lstStyle/>
          <a:p>
            <a:pPr marL="0" indent="0">
              <a:buNone/>
            </a:pPr>
            <a:r>
              <a:rPr lang="en-US" sz="900" b="1" kern="0" spc="100" dirty="0">
                <a:solidFill>
                  <a:schemeClr val="bg1"/>
                </a:solidFill>
                <a:latin typeface="Calibri" pitchFamily="34" charset="0"/>
                <a:ea typeface="Calibri" pitchFamily="34" charset="-122"/>
                <a:cs typeface="Calibri" pitchFamily="34" charset="-120"/>
              </a:rPr>
              <a:t>LEVEL 5</a:t>
            </a:r>
            <a:endParaRPr lang="en-US" sz="900" dirty="0"/>
          </a:p>
        </p:txBody>
      </p:sp>
      <p:sp>
        <p:nvSpPr>
          <p:cNvPr id="25" name="Level 5 name"/>
          <p:cNvSpPr txBox="1"/>
          <p:nvPr/>
        </p:nvSpPr>
        <p:spPr>
          <a:xfrm>
            <a:off x="566928" y="4224528"/>
            <a:ext cx="1527048" cy="384048"/>
          </a:xfrm>
          <a:prstGeom prst="rect">
            <a:avLst/>
          </a:prstGeom>
          <a:noFill/>
          <a:ln/>
        </p:spPr>
        <p:txBody>
          <a:bodyPr wrap="square" lIns="0" tIns="0" rIns="0" bIns="0" rtlCol="0" anchor="t"/>
          <a:lstStyle/>
          <a:p>
            <a:pPr marL="0" indent="0">
              <a:buNone/>
            </a:pPr>
            <a:r>
              <a:rPr lang="en-US" sz="1300" b="1" dirty="0">
                <a:solidFill>
                  <a:schemeClr val="accent2"/>
                </a:solidFill>
                <a:latin typeface="Calibri" pitchFamily="34" charset="0"/>
                <a:ea typeface="Calibri" pitchFamily="34" charset="-122"/>
                <a:cs typeface="Calibri" pitchFamily="34" charset="-120"/>
              </a:rPr>
              <a:t>AI Innovation</a:t>
            </a:r>
            <a:endParaRPr lang="en-US" sz="1300" dirty="0"/>
          </a:p>
        </p:txBody>
      </p:sp>
      <p:sp>
        <p:nvSpPr>
          <p:cNvPr id="26" name="Level 5 text card"/>
          <p:cNvSpPr/>
          <p:nvPr/>
        </p:nvSpPr>
        <p:spPr>
          <a:xfrm>
            <a:off x="2221992" y="3950208"/>
            <a:ext cx="6464808" cy="694944"/>
          </a:xfrm>
          <a:prstGeom prst="roundRect">
            <a:avLst>
              <a:gd name="adj" fmla="val 10526"/>
            </a:avLst>
          </a:prstGeom>
          <a:solidFill>
            <a:schemeClr val="bg1"/>
          </a:solidFill>
          <a:ln w="12700">
            <a:solidFill>
              <a:schemeClr val="bg1"/>
            </a:solidFill>
            <a:prstDash val="solid"/>
          </a:ln>
        </p:spPr>
        <p:txBody>
          <a:bodyPr/>
          <a:lstStyle/>
          <a:p>
            <a:endParaRPr lang="en-US"/>
          </a:p>
        </p:txBody>
      </p:sp>
      <p:sp>
        <p:nvSpPr>
          <p:cNvPr id="27" name="Level 5 cognitive connection"/>
          <p:cNvSpPr txBox="1"/>
          <p:nvPr/>
        </p:nvSpPr>
        <p:spPr>
          <a:xfrm>
            <a:off x="2331720" y="3986784"/>
            <a:ext cx="6245352" cy="621792"/>
          </a:xfrm>
          <a:prstGeom prst="rect">
            <a:avLst/>
          </a:prstGeom>
          <a:noFill/>
          <a:ln/>
        </p:spPr>
        <p:txBody>
          <a:bodyPr wrap="square" lIns="0" tIns="0" rIns="0" bIns="0" rtlCol="0" anchor="ctr"/>
          <a:lstStyle/>
          <a:p>
            <a:pPr marL="0" indent="0">
              <a:buNone/>
            </a:pPr>
            <a:r>
              <a:rPr lang="en-US" sz="1150" dirty="0">
                <a:solidFill>
                  <a:schemeClr val="tx1"/>
                </a:solidFill>
                <a:latin typeface="Calibri" pitchFamily="34" charset="0"/>
                <a:ea typeface="Calibri" pitchFamily="34" charset="-122"/>
                <a:cs typeface="Calibri" pitchFamily="34" charset="-120"/>
              </a:rPr>
              <a:t>Place an assignment here for capstone or innovation goals: using AI to create novel approaches, products, or insights, and taking responsibility for evaluating and advocating for responsible use. The payoff is the highest-order cognition: original creation paired with ethical ownership.</a:t>
            </a:r>
            <a:endParaRPr lang="en-US" sz="1150" dirty="0"/>
          </a:p>
        </p:txBody>
      </p:sp>
      <p:sp>
        <p:nvSpPr>
          <p:cNvPr id="28" name="Citation"/>
          <p:cNvSpPr txBox="1"/>
          <p:nvPr/>
        </p:nvSpPr>
        <p:spPr>
          <a:xfrm>
            <a:off x="457200" y="4754880"/>
            <a:ext cx="7772400" cy="256032"/>
          </a:xfrm>
          <a:prstGeom prst="rect">
            <a:avLst/>
          </a:prstGeom>
          <a:noFill/>
          <a:ln/>
        </p:spPr>
        <p:txBody>
          <a:bodyPr wrap="square" lIns="0" tIns="0" rIns="0" bIns="0" rtlCol="0" anchor="ctr"/>
          <a:lstStyle/>
          <a:p>
            <a:pPr marL="0" indent="0">
              <a:buNone/>
            </a:pPr>
            <a:r>
              <a:rPr lang="en-US" sz="1000" dirty="0">
                <a:solidFill>
                  <a:schemeClr val="accent3"/>
                </a:solidFill>
                <a:latin typeface="Calibri" pitchFamily="34" charset="0"/>
                <a:ea typeface="Calibri" pitchFamily="34" charset="-122"/>
                <a:cs typeface="Calibri" pitchFamily="34" charset="-120"/>
              </a:rPr>
              <a:t>Level names: IWU AI Literacy Continuum (Bleistein &amp; Snyder, 2026), adapted from the AIAS (Perkins et al., 2024)</a:t>
            </a:r>
            <a:endParaRPr lang="en-US" sz="1000" dirty="0"/>
          </a:p>
        </p:txBody>
      </p:sp>
      <p:sp>
        <p:nvSpPr>
          <p:cNvPr id="29" name="Slide Number Placeholder 0"/>
          <p:cNvSpPr>
            <a:spLocks noGrp="1"/>
          </p:cNvSpPr>
          <p:nvPr>
            <p:ph type="sldNum" sz="quarter" idx="4294967295"/>
          </p:nvPr>
        </p:nvSpPr>
        <p:spPr>
          <a:xfrm>
            <a:off x="841248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3"/>
                </a:solidFill>
              </a:defRPr>
            </a:lvl1pPr>
          </a:lstStyle>
          <a:p>
            <a:pPr algn="r"/>
            <a:fld id="{F7021451-1387-4CA6-816F-3879F97B5CBC}" type="slidenum">
              <a:rPr lang="en-US" b="0"/>
              <a:t>9</a:t>
            </a:fld>
            <a:endParaRPr lang="en-US"/>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Loop motif"/>
          <p:cNvSpPr/>
          <p:nvPr/>
        </p:nvSpPr>
        <p:spPr>
          <a:xfrm>
            <a:off x="7360920" y="-1417320"/>
            <a:ext cx="3017520" cy="3017520"/>
          </a:xfrm>
          <a:prstGeom prst="ellipse">
            <a:avLst/>
          </a:prstGeom>
          <a:ln w="177800">
            <a:solidFill>
              <a:schemeClr val="accent2">
                <a:alpha val="45000"/>
              </a:schemeClr>
            </a:solidFill>
            <a:prstDash val="solid"/>
          </a:ln>
        </p:spPr>
        <p:txBody>
          <a:bodyPr/>
          <a:lstStyle/>
          <a:p>
            <a:endParaRPr lang="en-US"/>
          </a:p>
        </p:txBody>
      </p:sp>
      <p:sp>
        <p:nvSpPr>
          <p:cNvPr id="3" name="Kicker"/>
          <p:cNvSpPr txBox="1"/>
          <p:nvPr/>
        </p:nvSpPr>
        <p:spPr>
          <a:xfrm>
            <a:off x="548640" y="1417320"/>
            <a:ext cx="5486400" cy="320040"/>
          </a:xfrm>
          <a:prstGeom prst="rect">
            <a:avLst/>
          </a:prstGeom>
          <a:noFill/>
          <a:ln/>
        </p:spPr>
        <p:txBody>
          <a:bodyPr wrap="square" lIns="0" tIns="0" rIns="0" bIns="0" rtlCol="0" anchor="t"/>
          <a:lstStyle/>
          <a:p>
            <a:pPr marL="0" indent="0">
              <a:buNone/>
            </a:pPr>
            <a:r>
              <a:rPr lang="en-US" sz="1200" b="1" kern="0" spc="300" dirty="0">
                <a:solidFill>
                  <a:schemeClr val="accent2"/>
                </a:solidFill>
                <a:latin typeface="Calibri" pitchFamily="34" charset="0"/>
                <a:ea typeface="Calibri" pitchFamily="34" charset="-122"/>
                <a:cs typeface="Calibri" pitchFamily="34" charset="-120"/>
              </a:rPr>
              <a:t>PART 1</a:t>
            </a:r>
            <a:endParaRPr lang="en-US" sz="1200" dirty="0"/>
          </a:p>
        </p:txBody>
      </p:sp>
      <p:sp>
        <p:nvSpPr>
          <p:cNvPr id="4" name="Section title"/>
          <p:cNvSpPr txBox="1"/>
          <p:nvPr/>
        </p:nvSpPr>
        <p:spPr>
          <a:xfrm>
            <a:off x="548640" y="1783080"/>
            <a:ext cx="6766560" cy="731520"/>
          </a:xfrm>
          <a:prstGeom prst="rect">
            <a:avLst/>
          </a:prstGeom>
          <a:noFill/>
          <a:ln/>
        </p:spPr>
        <p:txBody>
          <a:bodyPr wrap="square" lIns="0" tIns="0" rIns="0" bIns="0" rtlCol="0" anchor="t"/>
          <a:lstStyle/>
          <a:p>
            <a:pPr marL="0" indent="0">
              <a:buNone/>
            </a:pPr>
            <a:r>
              <a:rPr lang="en-US" sz="3600" b="1" dirty="0">
                <a:solidFill>
                  <a:schemeClr val="bg1"/>
                </a:solidFill>
                <a:latin typeface="Calibri" pitchFamily="34" charset="0"/>
                <a:ea typeface="Calibri" pitchFamily="34" charset="-122"/>
                <a:cs typeface="Calibri" pitchFamily="34" charset="-120"/>
              </a:rPr>
              <a:t>Human in the loop for learning</a:t>
            </a:r>
            <a:endParaRPr lang="en-US" sz="3600" dirty="0"/>
          </a:p>
        </p:txBody>
      </p:sp>
      <p:sp>
        <p:nvSpPr>
          <p:cNvPr id="5" name="Section subtitle"/>
          <p:cNvSpPr txBox="1"/>
          <p:nvPr/>
        </p:nvSpPr>
        <p:spPr>
          <a:xfrm>
            <a:off x="548640" y="2606040"/>
            <a:ext cx="6766560" cy="411480"/>
          </a:xfrm>
          <a:prstGeom prst="rect">
            <a:avLst/>
          </a:prstGeom>
          <a:noFill/>
          <a:ln/>
        </p:spPr>
        <p:txBody>
          <a:bodyPr wrap="square" lIns="0" tIns="0" rIns="0" bIns="0" rtlCol="0" anchor="t"/>
          <a:lstStyle/>
          <a:p>
            <a:pPr marL="0" indent="0">
              <a:buNone/>
            </a:pPr>
            <a:r>
              <a:rPr lang="en-US" sz="1800" i="1" dirty="0">
                <a:solidFill>
                  <a:srgbClr val="E3ECE6"/>
                </a:solidFill>
                <a:latin typeface="Calibri" pitchFamily="34" charset="0"/>
                <a:ea typeface="Calibri" pitchFamily="34" charset="-122"/>
                <a:cs typeface="Calibri" pitchFamily="34" charset="-120"/>
              </a:rPr>
              <a:t>Diagnosing AI's role by stress-testing an assignment</a:t>
            </a:r>
            <a:endParaRPr lang="en-US" sz="1800" dirty="0"/>
          </a:p>
        </p:txBody>
      </p:sp>
      <p:sp>
        <p:nvSpPr>
          <p:cNvPr id="25" name="Slide Number Placeholder 0"/>
          <p:cNvSpPr>
            <a:spLocks noGrp="1"/>
          </p:cNvSpPr>
          <p:nvPr>
            <p:ph type="sldNum" sz="quarter" idx="4294967295"/>
          </p:nvPr>
        </p:nvSpPr>
        <p:spPr>
          <a:xfrm>
            <a:off x="841248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C9CCCA"/>
                </a:solidFill>
              </a:defRPr>
            </a:lvl1pPr>
          </a:lstStyle>
          <a:p>
            <a:pPr algn="r"/>
            <a:fld id="{F7021451-1387-4CA6-816F-3879F97B5CBC}" type="slidenum">
              <a:rPr lang="en-US" b="0"/>
              <a:t>10</a:t>
            </a:fld>
            <a:endParaRPr lang="en-US"/>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11480" y="274320"/>
            <a:ext cx="8298180" cy="651510"/>
          </a:xfrm>
          <a:prstGeom prst="rect">
            <a:avLst/>
          </a:prstGeom>
          <a:noFill/>
          <a:ln/>
        </p:spPr>
        <p:txBody>
          <a:bodyPr wrap="square" lIns="0" tIns="0" rIns="0" bIns="0" rtlCol="0" anchor="ctr"/>
          <a:lstStyle/>
          <a:p>
            <a:r>
              <a:rPr lang="en-US" sz="2700" dirty="0"/>
              <a:t>Three kinds of cognitive load</a:t>
            </a:r>
          </a:p>
        </p:txBody>
      </p:sp>
      <p:sp>
        <p:nvSpPr>
          <p:cNvPr id="3" name="Load row 1"/>
          <p:cNvSpPr/>
          <p:nvPr/>
        </p:nvSpPr>
        <p:spPr>
          <a:xfrm>
            <a:off x="617220" y="1200150"/>
            <a:ext cx="5760720" cy="857250"/>
          </a:xfrm>
          <a:prstGeom prst="rect">
            <a:avLst/>
          </a:prstGeom>
          <a:solidFill>
            <a:schemeClr val="accent4"/>
          </a:solidFill>
          <a:ln w="12700">
            <a:solidFill>
              <a:schemeClr val="accent4"/>
            </a:solidFill>
            <a:prstDash val="solid"/>
          </a:ln>
        </p:spPr>
        <p:txBody>
          <a:bodyPr/>
          <a:lstStyle/>
          <a:p>
            <a:endParaRPr lang="en-US" sz="1350"/>
          </a:p>
        </p:txBody>
      </p:sp>
      <p:sp>
        <p:nvSpPr>
          <p:cNvPr id="4" name="Text 2"/>
          <p:cNvSpPr txBox="1"/>
          <p:nvPr/>
        </p:nvSpPr>
        <p:spPr>
          <a:xfrm>
            <a:off x="822960" y="1200150"/>
            <a:ext cx="1645920" cy="857250"/>
          </a:xfrm>
          <a:prstGeom prst="rect">
            <a:avLst/>
          </a:prstGeom>
          <a:noFill/>
          <a:ln/>
        </p:spPr>
        <p:txBody>
          <a:bodyPr wrap="square" lIns="0" tIns="0" rIns="0" bIns="0" rtlCol="0" anchor="ctr"/>
          <a:lstStyle/>
          <a:p>
            <a:r>
              <a:rPr lang="en-US" sz="1350" b="1" kern="0" spc="150" dirty="0">
                <a:solidFill>
                  <a:schemeClr val="tx2"/>
                </a:solidFill>
              </a:rPr>
              <a:t>INTRINSIC</a:t>
            </a:r>
            <a:endParaRPr lang="en-US" sz="1350" dirty="0"/>
          </a:p>
        </p:txBody>
      </p:sp>
      <p:sp>
        <p:nvSpPr>
          <p:cNvPr id="5" name="Text 3"/>
          <p:cNvSpPr txBox="1"/>
          <p:nvPr/>
        </p:nvSpPr>
        <p:spPr>
          <a:xfrm>
            <a:off x="2537460" y="1200150"/>
            <a:ext cx="3703320" cy="857250"/>
          </a:xfrm>
          <a:prstGeom prst="rect">
            <a:avLst/>
          </a:prstGeom>
          <a:noFill/>
          <a:ln/>
        </p:spPr>
        <p:txBody>
          <a:bodyPr wrap="square" lIns="0" tIns="0" rIns="0" bIns="0" rtlCol="0" anchor="ctr"/>
          <a:lstStyle/>
          <a:p>
            <a:r>
              <a:rPr lang="en-US" sz="1350" dirty="0"/>
              <a:t>The inherent complexity of the content.</a:t>
            </a:r>
          </a:p>
        </p:txBody>
      </p:sp>
      <p:pic>
        <p:nvPicPr>
          <p:cNvPr id="6" name="Load arrow 1" descr="preencoded.png"/>
          <p:cNvPicPr>
            <a:picLocks noChangeAspect="1"/>
          </p:cNvPicPr>
          <p:nvPr/>
        </p:nvPicPr>
        <p:blipFill>
          <a:blip r:embed="rId3"/>
          <a:stretch>
            <a:fillRect/>
          </a:stretch>
        </p:blipFill>
        <p:spPr>
          <a:xfrm>
            <a:off x="6515100" y="1488186"/>
            <a:ext cx="342900" cy="288036"/>
          </a:xfrm>
          <a:prstGeom prst="rect">
            <a:avLst/>
          </a:prstGeom>
        </p:spPr>
      </p:pic>
      <p:sp>
        <p:nvSpPr>
          <p:cNvPr id="7" name="Shaped by box 1"/>
          <p:cNvSpPr/>
          <p:nvPr/>
        </p:nvSpPr>
        <p:spPr>
          <a:xfrm>
            <a:off x="6995160" y="1282446"/>
            <a:ext cx="1577340" cy="685800"/>
          </a:xfrm>
          <a:prstGeom prst="roundRect">
            <a:avLst>
              <a:gd name="adj" fmla="val 12000"/>
            </a:avLst>
          </a:prstGeom>
          <a:solidFill>
            <a:schemeClr val="bg1"/>
          </a:solidFill>
          <a:ln w="19050">
            <a:solidFill>
              <a:schemeClr val="tx2"/>
            </a:solidFill>
            <a:prstDash val="solid"/>
          </a:ln>
        </p:spPr>
        <p:txBody>
          <a:bodyPr/>
          <a:lstStyle/>
          <a:p>
            <a:endParaRPr lang="en-US" sz="1350"/>
          </a:p>
        </p:txBody>
      </p:sp>
      <p:sp>
        <p:nvSpPr>
          <p:cNvPr id="8" name="Text 5"/>
          <p:cNvSpPr txBox="1"/>
          <p:nvPr/>
        </p:nvSpPr>
        <p:spPr>
          <a:xfrm>
            <a:off x="7063740" y="1282446"/>
            <a:ext cx="1440180" cy="685800"/>
          </a:xfrm>
          <a:prstGeom prst="rect">
            <a:avLst/>
          </a:prstGeom>
          <a:noFill/>
          <a:ln/>
        </p:spPr>
        <p:txBody>
          <a:bodyPr wrap="square" lIns="0" tIns="0" rIns="0" bIns="0" rtlCol="0" anchor="ctr"/>
          <a:lstStyle/>
          <a:p>
            <a:pPr algn="ctr"/>
            <a:r>
              <a:rPr lang="en-US" sz="975" dirty="0"/>
              <a:t>Shaped by</a:t>
            </a:r>
          </a:p>
          <a:p>
            <a:pPr algn="ctr"/>
            <a:r>
              <a:rPr lang="en-US" sz="1050" b="1" dirty="0">
                <a:solidFill>
                  <a:schemeClr val="tx2"/>
                </a:solidFill>
              </a:rPr>
              <a:t>the topic or subject</a:t>
            </a:r>
            <a:endParaRPr lang="en-US" sz="975" dirty="0"/>
          </a:p>
        </p:txBody>
      </p:sp>
      <p:sp>
        <p:nvSpPr>
          <p:cNvPr id="9" name="Load row 2"/>
          <p:cNvSpPr/>
          <p:nvPr/>
        </p:nvSpPr>
        <p:spPr>
          <a:xfrm>
            <a:off x="617220" y="2297430"/>
            <a:ext cx="5760720" cy="857250"/>
          </a:xfrm>
          <a:prstGeom prst="rect">
            <a:avLst/>
          </a:prstGeom>
          <a:solidFill>
            <a:schemeClr val="accent4"/>
          </a:solidFill>
          <a:ln w="12700">
            <a:solidFill>
              <a:schemeClr val="accent4"/>
            </a:solidFill>
            <a:prstDash val="solid"/>
          </a:ln>
        </p:spPr>
        <p:txBody>
          <a:bodyPr/>
          <a:lstStyle/>
          <a:p>
            <a:endParaRPr lang="en-US" sz="1350"/>
          </a:p>
        </p:txBody>
      </p:sp>
      <p:sp>
        <p:nvSpPr>
          <p:cNvPr id="10" name="Text 7"/>
          <p:cNvSpPr txBox="1"/>
          <p:nvPr/>
        </p:nvSpPr>
        <p:spPr>
          <a:xfrm>
            <a:off x="822960" y="2297430"/>
            <a:ext cx="1645920" cy="857250"/>
          </a:xfrm>
          <a:prstGeom prst="rect">
            <a:avLst/>
          </a:prstGeom>
          <a:noFill/>
          <a:ln/>
        </p:spPr>
        <p:txBody>
          <a:bodyPr wrap="square" lIns="0" tIns="0" rIns="0" bIns="0" rtlCol="0" anchor="ctr"/>
          <a:lstStyle/>
          <a:p>
            <a:r>
              <a:rPr lang="en-US" sz="1350" b="1" kern="0" spc="150" dirty="0">
                <a:solidFill>
                  <a:schemeClr val="tx2"/>
                </a:solidFill>
              </a:rPr>
              <a:t>EXTRANEOUS</a:t>
            </a:r>
            <a:endParaRPr lang="en-US" sz="1350" dirty="0"/>
          </a:p>
        </p:txBody>
      </p:sp>
      <p:sp>
        <p:nvSpPr>
          <p:cNvPr id="11" name="Text 8"/>
          <p:cNvSpPr txBox="1"/>
          <p:nvPr/>
        </p:nvSpPr>
        <p:spPr>
          <a:xfrm>
            <a:off x="2537460" y="2297430"/>
            <a:ext cx="3703320" cy="857250"/>
          </a:xfrm>
          <a:prstGeom prst="rect">
            <a:avLst/>
          </a:prstGeom>
          <a:noFill/>
          <a:ln/>
        </p:spPr>
        <p:txBody>
          <a:bodyPr wrap="square" lIns="0" tIns="0" rIns="0" bIns="0" rtlCol="0" anchor="ctr"/>
          <a:lstStyle/>
          <a:p>
            <a:r>
              <a:rPr lang="en-US" sz="1350" dirty="0"/>
              <a:t>Effort spent on how material is presented, not on the content itself.</a:t>
            </a:r>
          </a:p>
        </p:txBody>
      </p:sp>
      <p:pic>
        <p:nvPicPr>
          <p:cNvPr id="12" name="Load arrow 2" descr="preencoded.png"/>
          <p:cNvPicPr>
            <a:picLocks noChangeAspect="1"/>
          </p:cNvPicPr>
          <p:nvPr/>
        </p:nvPicPr>
        <p:blipFill>
          <a:blip r:embed="rId3"/>
          <a:stretch>
            <a:fillRect/>
          </a:stretch>
        </p:blipFill>
        <p:spPr>
          <a:xfrm>
            <a:off x="6515100" y="2585466"/>
            <a:ext cx="342900" cy="288036"/>
          </a:xfrm>
          <a:prstGeom prst="rect">
            <a:avLst/>
          </a:prstGeom>
        </p:spPr>
      </p:pic>
      <p:sp>
        <p:nvSpPr>
          <p:cNvPr id="13" name="Shaped by box 2"/>
          <p:cNvSpPr/>
          <p:nvPr/>
        </p:nvSpPr>
        <p:spPr>
          <a:xfrm>
            <a:off x="6995160" y="2379726"/>
            <a:ext cx="1577340" cy="685800"/>
          </a:xfrm>
          <a:prstGeom prst="roundRect">
            <a:avLst>
              <a:gd name="adj" fmla="val 12000"/>
            </a:avLst>
          </a:prstGeom>
          <a:solidFill>
            <a:schemeClr val="bg1"/>
          </a:solidFill>
          <a:ln w="19050">
            <a:solidFill>
              <a:schemeClr val="tx2"/>
            </a:solidFill>
            <a:prstDash val="solid"/>
          </a:ln>
        </p:spPr>
        <p:txBody>
          <a:bodyPr/>
          <a:lstStyle/>
          <a:p>
            <a:endParaRPr lang="en-US" sz="1350"/>
          </a:p>
        </p:txBody>
      </p:sp>
      <p:sp>
        <p:nvSpPr>
          <p:cNvPr id="14" name="Text 10"/>
          <p:cNvSpPr txBox="1"/>
          <p:nvPr/>
        </p:nvSpPr>
        <p:spPr>
          <a:xfrm>
            <a:off x="7063740" y="2379726"/>
            <a:ext cx="1440180" cy="685800"/>
          </a:xfrm>
          <a:prstGeom prst="rect">
            <a:avLst/>
          </a:prstGeom>
          <a:noFill/>
          <a:ln/>
        </p:spPr>
        <p:txBody>
          <a:bodyPr wrap="square" lIns="0" tIns="0" rIns="0" bIns="0" rtlCol="0" anchor="ctr"/>
          <a:lstStyle/>
          <a:p>
            <a:pPr algn="ctr"/>
            <a:r>
              <a:rPr lang="en-US" sz="975" dirty="0"/>
              <a:t>Shaped by</a:t>
            </a:r>
          </a:p>
          <a:p>
            <a:pPr algn="ctr"/>
            <a:r>
              <a:rPr lang="en-US" sz="1050" b="1" dirty="0">
                <a:solidFill>
                  <a:schemeClr val="tx2"/>
                </a:solidFill>
              </a:rPr>
              <a:t>learning design</a:t>
            </a:r>
            <a:endParaRPr lang="en-US" sz="975" dirty="0"/>
          </a:p>
        </p:txBody>
      </p:sp>
      <p:sp>
        <p:nvSpPr>
          <p:cNvPr id="15" name="Load row 3"/>
          <p:cNvSpPr/>
          <p:nvPr/>
        </p:nvSpPr>
        <p:spPr>
          <a:xfrm>
            <a:off x="617220" y="3394710"/>
            <a:ext cx="5760720" cy="857250"/>
          </a:xfrm>
          <a:prstGeom prst="rect">
            <a:avLst/>
          </a:prstGeom>
          <a:solidFill>
            <a:schemeClr val="accent2"/>
          </a:solidFill>
          <a:ln w="12700">
            <a:solidFill>
              <a:schemeClr val="accent2"/>
            </a:solidFill>
            <a:prstDash val="solid"/>
          </a:ln>
        </p:spPr>
        <p:txBody>
          <a:bodyPr/>
          <a:lstStyle/>
          <a:p>
            <a:endParaRPr lang="en-US" sz="1350"/>
          </a:p>
        </p:txBody>
      </p:sp>
      <p:sp>
        <p:nvSpPr>
          <p:cNvPr id="16" name="Text 12"/>
          <p:cNvSpPr txBox="1"/>
          <p:nvPr/>
        </p:nvSpPr>
        <p:spPr>
          <a:xfrm>
            <a:off x="822960" y="3394710"/>
            <a:ext cx="1645920" cy="857250"/>
          </a:xfrm>
          <a:prstGeom prst="rect">
            <a:avLst/>
          </a:prstGeom>
          <a:noFill/>
          <a:ln/>
        </p:spPr>
        <p:txBody>
          <a:bodyPr wrap="square" lIns="0" tIns="0" rIns="0" bIns="0" rtlCol="0" anchor="ctr"/>
          <a:lstStyle/>
          <a:p>
            <a:r>
              <a:rPr lang="en-US" sz="1350" b="1" kern="0" spc="150" dirty="0">
                <a:solidFill>
                  <a:schemeClr val="bg1"/>
                </a:solidFill>
              </a:rPr>
              <a:t>GERMANE</a:t>
            </a:r>
            <a:endParaRPr lang="en-US" sz="1350" dirty="0"/>
          </a:p>
        </p:txBody>
      </p:sp>
      <p:sp>
        <p:nvSpPr>
          <p:cNvPr id="17" name="Text 13"/>
          <p:cNvSpPr txBox="1"/>
          <p:nvPr/>
        </p:nvSpPr>
        <p:spPr>
          <a:xfrm>
            <a:off x="2537460" y="3394710"/>
            <a:ext cx="3703320" cy="857250"/>
          </a:xfrm>
          <a:prstGeom prst="rect">
            <a:avLst/>
          </a:prstGeom>
          <a:noFill/>
          <a:ln/>
        </p:spPr>
        <p:txBody>
          <a:bodyPr wrap="square" lIns="0" tIns="0" rIns="0" bIns="0" rtlCol="0" anchor="ctr"/>
          <a:lstStyle/>
          <a:p>
            <a:r>
              <a:rPr lang="en-US" sz="1350" dirty="0">
                <a:solidFill>
                  <a:schemeClr val="bg1"/>
                </a:solidFill>
              </a:rPr>
              <a:t>Effort devoted to building understanding.</a:t>
            </a:r>
            <a:endParaRPr lang="en-US" sz="1350" dirty="0"/>
          </a:p>
        </p:txBody>
      </p:sp>
      <p:pic>
        <p:nvPicPr>
          <p:cNvPr id="18" name="Load arrow 3" descr="preencoded.png"/>
          <p:cNvPicPr>
            <a:picLocks noChangeAspect="1"/>
          </p:cNvPicPr>
          <p:nvPr/>
        </p:nvPicPr>
        <p:blipFill>
          <a:blip r:embed="rId3"/>
          <a:stretch>
            <a:fillRect/>
          </a:stretch>
        </p:blipFill>
        <p:spPr>
          <a:xfrm>
            <a:off x="6515100" y="3682746"/>
            <a:ext cx="342900" cy="288036"/>
          </a:xfrm>
          <a:prstGeom prst="rect">
            <a:avLst/>
          </a:prstGeom>
        </p:spPr>
      </p:pic>
      <p:sp>
        <p:nvSpPr>
          <p:cNvPr id="19" name="Shaped by box 3"/>
          <p:cNvSpPr/>
          <p:nvPr/>
        </p:nvSpPr>
        <p:spPr>
          <a:xfrm>
            <a:off x="6995160" y="3477006"/>
            <a:ext cx="1577340" cy="685800"/>
          </a:xfrm>
          <a:prstGeom prst="roundRect">
            <a:avLst>
              <a:gd name="adj" fmla="val 12000"/>
            </a:avLst>
          </a:prstGeom>
          <a:solidFill>
            <a:schemeClr val="bg1"/>
          </a:solidFill>
          <a:ln w="19050">
            <a:solidFill>
              <a:schemeClr val="accent2"/>
            </a:solidFill>
            <a:prstDash val="solid"/>
          </a:ln>
        </p:spPr>
        <p:txBody>
          <a:bodyPr/>
          <a:lstStyle/>
          <a:p>
            <a:endParaRPr lang="en-US" sz="1350"/>
          </a:p>
        </p:txBody>
      </p:sp>
      <p:sp>
        <p:nvSpPr>
          <p:cNvPr id="20" name="Text 15"/>
          <p:cNvSpPr txBox="1"/>
          <p:nvPr/>
        </p:nvSpPr>
        <p:spPr>
          <a:xfrm>
            <a:off x="7063740" y="3477006"/>
            <a:ext cx="1440180" cy="685800"/>
          </a:xfrm>
          <a:prstGeom prst="rect">
            <a:avLst/>
          </a:prstGeom>
          <a:noFill/>
          <a:ln/>
        </p:spPr>
        <p:txBody>
          <a:bodyPr wrap="square" lIns="0" tIns="0" rIns="0" bIns="0" rtlCol="0" anchor="ctr"/>
          <a:lstStyle/>
          <a:p>
            <a:pPr algn="ctr"/>
            <a:r>
              <a:rPr lang="en-US" sz="975" dirty="0"/>
              <a:t>Shaped by</a:t>
            </a:r>
          </a:p>
          <a:p>
            <a:pPr algn="ctr"/>
            <a:r>
              <a:rPr lang="en-US" sz="1050" b="1" dirty="0">
                <a:solidFill>
                  <a:schemeClr val="accent2"/>
                </a:solidFill>
              </a:rPr>
              <a:t>the learner</a:t>
            </a:r>
            <a:endParaRPr lang="en-US" sz="975" dirty="0"/>
          </a:p>
        </p:txBody>
      </p:sp>
      <p:sp>
        <p:nvSpPr>
          <p:cNvPr id="21" name="Citation"/>
          <p:cNvSpPr txBox="1"/>
          <p:nvPr/>
        </p:nvSpPr>
        <p:spPr>
          <a:xfrm>
            <a:off x="411480" y="4732020"/>
            <a:ext cx="7886700" cy="274320"/>
          </a:xfrm>
          <a:prstGeom prst="rect">
            <a:avLst/>
          </a:prstGeom>
          <a:noFill/>
          <a:ln/>
        </p:spPr>
        <p:txBody>
          <a:bodyPr wrap="square" lIns="0" tIns="0" rIns="0" bIns="0" rtlCol="0" anchor="ctr"/>
          <a:lstStyle/>
          <a:p>
            <a:r>
              <a:rPr lang="en-US" sz="750" dirty="0">
                <a:solidFill>
                  <a:srgbClr val="6B6B6B"/>
                </a:solidFill>
              </a:rPr>
              <a:t>Sweller et al. (1998)</a:t>
            </a:r>
            <a:endParaRPr lang="en-US" sz="750" dirty="0"/>
          </a:p>
        </p:txBody>
      </p:sp>
      <p:sp>
        <p:nvSpPr>
          <p:cNvPr id="25" name="Slide Number Placeholder 0"/>
          <p:cNvSpPr>
            <a:spLocks noGrp="1"/>
          </p:cNvSpPr>
          <p:nvPr>
            <p:ph type="sldNum" sz="quarter" idx="4294967295"/>
          </p:nvPr>
        </p:nvSpPr>
        <p:spPr>
          <a:xfrm>
            <a:off x="8503920" y="4766310"/>
            <a:ext cx="411480" cy="240030"/>
          </a:xfrm>
          <a:prstGeom prst="rect">
            <a:avLst/>
          </a:prstGeom>
          <a:extLst>
            <a:ext uri="{C572A759-6A51-4108-AA02-DFA0A04FC94B}">
              <ma14:wrappingTextBoxFlag xmlns="" xmlns:ma14="http://schemas.microsoft.com/office/mac/drawingml/2011/main" val="0"/>
            </a:ext>
          </a:extLst>
        </p:spPr>
        <p:txBody>
          <a:bodyPr/>
          <a:lstStyle>
            <a:lvl1pPr>
              <a:defRPr sz="750">
                <a:solidFill>
                  <a:schemeClr val="tx1"/>
                </a:solidFill>
              </a:defRPr>
            </a:lvl1pPr>
          </a:lstStyle>
          <a:p>
            <a:pPr algn="r"/>
            <a:fld id="{F7021451-1387-4CA6-816F-3879F97B5CBC}" type="slidenum">
              <a:rPr lang="en-US" b="0"/>
              <a:t>11</a:t>
            </a:fld>
            <a:endParaRPr lang="en-US"/>
          </a:p>
        </p:txBody>
      </p:sp>
    </p:spTree>
    <p:extLst>
      <p:ext uri="{BB962C8B-B14F-4D97-AF65-F5344CB8AC3E}">
        <p14:creationId xmlns:p14="http://schemas.microsoft.com/office/powerpoint/2010/main" val="9947566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500"/>
                                        <p:tgtEl>
                                          <p:spTgt spid="15"/>
                                        </p:tgtEl>
                                      </p:cBhvr>
                                    </p:animEffect>
                                  </p:childTnLst>
                                </p:cTn>
                              </p:par>
                              <p:par>
                                <p:cTn id="30" presetID="10" presetClass="entr" presetSubtype="0" fill="hold"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par>
                                <p:cTn id="33" presetID="10" presetClass="entr" presetSubtype="0"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500"/>
                                        <p:tgtEl>
                                          <p:spTgt spid="17"/>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fade">
                                      <p:cBhvr>
                                        <p:cTn id="40" dur="500"/>
                                        <p:tgtEl>
                                          <p:spTgt spid="6"/>
                                        </p:tgtEl>
                                      </p:cBhvr>
                                    </p:animEffect>
                                  </p:childTnLst>
                                </p:cTn>
                              </p:par>
                              <p:par>
                                <p:cTn id="41" presetID="10" presetClass="entr" presetSubtype="0" fill="hold" nodeType="with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fade">
                                      <p:cBhvr>
                                        <p:cTn id="43" dur="500"/>
                                        <p:tgtEl>
                                          <p:spTgt spid="7"/>
                                        </p:tgtEl>
                                      </p:cBhvr>
                                    </p:animEffect>
                                  </p:childTnLst>
                                </p:cTn>
                              </p:par>
                              <p:par>
                                <p:cTn id="44" presetID="10" presetClass="entr" presetSubtype="0" fill="hold" nodeType="withEffect">
                                  <p:stCondLst>
                                    <p:cond delay="0"/>
                                  </p:stCondLst>
                                  <p:childTnLst>
                                    <p:set>
                                      <p:cBhvr>
                                        <p:cTn id="45" dur="1" fill="hold">
                                          <p:stCondLst>
                                            <p:cond delay="0"/>
                                          </p:stCondLst>
                                        </p:cTn>
                                        <p:tgtEl>
                                          <p:spTgt spid="8"/>
                                        </p:tgtEl>
                                        <p:attrNameLst>
                                          <p:attrName>style.visibility</p:attrName>
                                        </p:attrNameLst>
                                      </p:cBhvr>
                                      <p:to>
                                        <p:strVal val="visible"/>
                                      </p:to>
                                    </p:set>
                                    <p:animEffect transition="in" filter="fade">
                                      <p:cBhvr>
                                        <p:cTn id="46" dur="5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500"/>
                                        <p:tgtEl>
                                          <p:spTgt spid="12"/>
                                        </p:tgtEl>
                                      </p:cBhvr>
                                    </p:animEffect>
                                  </p:childTnLst>
                                </p:cTn>
                              </p:par>
                              <p:par>
                                <p:cTn id="52" presetID="10" presetClass="entr" presetSubtype="0" fill="hold" nodeType="with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500"/>
                                        <p:tgtEl>
                                          <p:spTgt spid="13"/>
                                        </p:tgtEl>
                                      </p:cBhvr>
                                    </p:animEffect>
                                  </p:childTnLst>
                                </p:cTn>
                              </p:par>
                              <p:par>
                                <p:cTn id="55" presetID="10" presetClass="entr" presetSubtype="0" fill="hold" nodeType="with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00"/>
                                        <p:tgtEl>
                                          <p:spTgt spid="14"/>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8"/>
                                        </p:tgtEl>
                                        <p:attrNameLst>
                                          <p:attrName>style.visibility</p:attrName>
                                        </p:attrNameLst>
                                      </p:cBhvr>
                                      <p:to>
                                        <p:strVal val="visible"/>
                                      </p:to>
                                    </p:set>
                                    <p:animEffect transition="in" filter="fade">
                                      <p:cBhvr>
                                        <p:cTn id="62" dur="500"/>
                                        <p:tgtEl>
                                          <p:spTgt spid="18"/>
                                        </p:tgtEl>
                                      </p:cBhvr>
                                    </p:animEffect>
                                  </p:childTnLst>
                                </p:cTn>
                              </p:par>
                              <p:par>
                                <p:cTn id="63" presetID="10" presetClass="entr" presetSubtype="0" fill="hold" nodeType="withEffect">
                                  <p:stCondLst>
                                    <p:cond delay="0"/>
                                  </p:stCondLst>
                                  <p:childTnLst>
                                    <p:set>
                                      <p:cBhvr>
                                        <p:cTn id="64" dur="1" fill="hold">
                                          <p:stCondLst>
                                            <p:cond delay="0"/>
                                          </p:stCondLst>
                                        </p:cTn>
                                        <p:tgtEl>
                                          <p:spTgt spid="19"/>
                                        </p:tgtEl>
                                        <p:attrNameLst>
                                          <p:attrName>style.visibility</p:attrName>
                                        </p:attrNameLst>
                                      </p:cBhvr>
                                      <p:to>
                                        <p:strVal val="visible"/>
                                      </p:to>
                                    </p:set>
                                    <p:animEffect transition="in" filter="fade">
                                      <p:cBhvr>
                                        <p:cTn id="65" dur="500"/>
                                        <p:tgtEl>
                                          <p:spTgt spid="19"/>
                                        </p:tgtEl>
                                      </p:cBhvr>
                                    </p:animEffect>
                                  </p:childTnLst>
                                </p:cTn>
                              </p:par>
                              <p:par>
                                <p:cTn id="66" presetID="10" presetClass="entr" presetSubtype="0" fill="hold" nodeType="withEffect">
                                  <p:stCondLst>
                                    <p:cond delay="0"/>
                                  </p:stCondLst>
                                  <p:childTnLst>
                                    <p:set>
                                      <p:cBhvr>
                                        <p:cTn id="67" dur="1" fill="hold">
                                          <p:stCondLst>
                                            <p:cond delay="0"/>
                                          </p:stCondLst>
                                        </p:cTn>
                                        <p:tgtEl>
                                          <p:spTgt spid="20"/>
                                        </p:tgtEl>
                                        <p:attrNameLst>
                                          <p:attrName>style.visibility</p:attrName>
                                        </p:attrNameLst>
                                      </p:cBhvr>
                                      <p:to>
                                        <p:strVal val="visible"/>
                                      </p:to>
                                    </p:set>
                                    <p:animEffect transition="in" filter="fade">
                                      <p:cBhvr>
                                        <p:cTn id="6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8" grpId="0" animBg="1"/>
      <p:bldP spid="9" grpId="0" animBg="1"/>
      <p:bldP spid="10" grpId="0" animBg="1"/>
      <p:bldP spid="11" grpId="0" animBg="1"/>
      <p:bldP spid="13" grpId="0" animBg="1"/>
      <p:bldP spid="14" grpId="0" animBg="1"/>
      <p:bldP spid="15" grpId="0" animBg="1"/>
      <p:bldP spid="16" grpId="0" animBg="1"/>
      <p:bldP spid="17" grpId="0" animBg="1"/>
      <p:bldP spid="19" grpId="0" animBg="1"/>
      <p:bldP spid="2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Line 1"/>
          <p:cNvSpPr txBox="1"/>
          <p:nvPr/>
        </p:nvSpPr>
        <p:spPr>
          <a:xfrm>
            <a:off x="731520" y="868680"/>
            <a:ext cx="7680960" cy="457200"/>
          </a:xfrm>
          <a:prstGeom prst="rect">
            <a:avLst/>
          </a:prstGeom>
          <a:noFill/>
          <a:ln/>
        </p:spPr>
        <p:txBody>
          <a:bodyPr wrap="square" lIns="0" tIns="0" rIns="0" bIns="0" rtlCol="0" anchor="t"/>
          <a:lstStyle/>
          <a:p>
            <a:pPr marL="0" indent="0">
              <a:buNone/>
            </a:pPr>
            <a:r>
              <a:rPr lang="en-US" sz="2600" dirty="0">
                <a:solidFill>
                  <a:schemeClr val="bg1"/>
                </a:solidFill>
                <a:latin typeface="Calibri" pitchFamily="34" charset="0"/>
                <a:ea typeface="Calibri" pitchFamily="34" charset="-122"/>
                <a:cs typeface="Calibri" pitchFamily="34" charset="-120"/>
              </a:rPr>
              <a:t>When used well,</a:t>
            </a:r>
            <a:endParaRPr lang="en-US" sz="2600" dirty="0"/>
          </a:p>
        </p:txBody>
      </p:sp>
      <p:sp>
        <p:nvSpPr>
          <p:cNvPr id="3" name="Line 2"/>
          <p:cNvSpPr txBox="1"/>
          <p:nvPr/>
        </p:nvSpPr>
        <p:spPr>
          <a:xfrm>
            <a:off x="731520" y="1325880"/>
            <a:ext cx="7680960" cy="640080"/>
          </a:xfrm>
          <a:prstGeom prst="rect">
            <a:avLst/>
          </a:prstGeom>
          <a:noFill/>
          <a:ln/>
        </p:spPr>
        <p:txBody>
          <a:bodyPr wrap="square" lIns="0" tIns="0" rIns="0" bIns="0" rtlCol="0" anchor="t"/>
          <a:lstStyle/>
          <a:p>
            <a:pPr marL="0" indent="0">
              <a:buNone/>
            </a:pPr>
            <a:r>
              <a:rPr lang="en-US" sz="3600" b="1" dirty="0">
                <a:solidFill>
                  <a:schemeClr val="accent2"/>
                </a:solidFill>
                <a:latin typeface="Calibri" pitchFamily="34" charset="0"/>
                <a:ea typeface="Calibri" pitchFamily="34" charset="-122"/>
                <a:cs typeface="Calibri" pitchFamily="34" charset="-120"/>
              </a:rPr>
              <a:t>AI can </a:t>
            </a:r>
            <a:r>
              <a:rPr lang="en-US" sz="3600" b="1" dirty="0">
                <a:solidFill>
                  <a:schemeClr val="bg1"/>
                </a:solidFill>
                <a:latin typeface="Calibri" pitchFamily="34" charset="0"/>
                <a:ea typeface="Calibri" pitchFamily="34" charset="-122"/>
                <a:cs typeface="Calibri" pitchFamily="34" charset="-120"/>
              </a:rPr>
              <a:t>fortify</a:t>
            </a:r>
            <a:r>
              <a:rPr lang="en-US" sz="3600" b="1" dirty="0">
                <a:solidFill>
                  <a:schemeClr val="accent2"/>
                </a:solidFill>
                <a:latin typeface="Calibri" pitchFamily="34" charset="0"/>
                <a:ea typeface="Calibri" pitchFamily="34" charset="-122"/>
                <a:cs typeface="Calibri" pitchFamily="34" charset="-120"/>
              </a:rPr>
              <a:t> learning.</a:t>
            </a:r>
            <a:endParaRPr lang="en-US" sz="3600" dirty="0"/>
          </a:p>
        </p:txBody>
      </p:sp>
      <p:sp>
        <p:nvSpPr>
          <p:cNvPr id="4" name="Line 3"/>
          <p:cNvSpPr txBox="1"/>
          <p:nvPr/>
        </p:nvSpPr>
        <p:spPr>
          <a:xfrm>
            <a:off x="731520" y="2514600"/>
            <a:ext cx="7680960" cy="457200"/>
          </a:xfrm>
          <a:prstGeom prst="rect">
            <a:avLst/>
          </a:prstGeom>
          <a:noFill/>
          <a:ln/>
        </p:spPr>
        <p:txBody>
          <a:bodyPr wrap="square" lIns="0" tIns="0" rIns="0" bIns="0" rtlCol="0" anchor="t"/>
          <a:lstStyle/>
          <a:p>
            <a:pPr marL="0" indent="0" algn="r">
              <a:buNone/>
            </a:pPr>
            <a:r>
              <a:rPr lang="en-US" sz="2600" dirty="0">
                <a:solidFill>
                  <a:schemeClr val="bg1"/>
                </a:solidFill>
                <a:latin typeface="Calibri" pitchFamily="34" charset="0"/>
                <a:ea typeface="Calibri" pitchFamily="34" charset="-122"/>
                <a:cs typeface="Calibri" pitchFamily="34" charset="-120"/>
              </a:rPr>
              <a:t>When used poorly,</a:t>
            </a:r>
            <a:endParaRPr lang="en-US" sz="2600" dirty="0"/>
          </a:p>
        </p:txBody>
      </p:sp>
      <p:sp>
        <p:nvSpPr>
          <p:cNvPr id="5" name="Line 4"/>
          <p:cNvSpPr txBox="1"/>
          <p:nvPr/>
        </p:nvSpPr>
        <p:spPr>
          <a:xfrm>
            <a:off x="731520" y="2971800"/>
            <a:ext cx="7680960" cy="640080"/>
          </a:xfrm>
          <a:prstGeom prst="rect">
            <a:avLst/>
          </a:prstGeom>
          <a:noFill/>
          <a:ln/>
        </p:spPr>
        <p:txBody>
          <a:bodyPr wrap="square" lIns="0" tIns="0" rIns="0" bIns="0" rtlCol="0" anchor="t"/>
          <a:lstStyle/>
          <a:p>
            <a:pPr marL="0" indent="0" algn="r">
              <a:buNone/>
            </a:pPr>
            <a:r>
              <a:rPr lang="en-US" sz="3600" b="1" dirty="0">
                <a:solidFill>
                  <a:schemeClr val="accent2"/>
                </a:solidFill>
                <a:latin typeface="Calibri" pitchFamily="34" charset="0"/>
                <a:ea typeface="Calibri" pitchFamily="34" charset="-122"/>
                <a:cs typeface="Calibri" pitchFamily="34" charset="-120"/>
              </a:rPr>
              <a:t>AI can make learning </a:t>
            </a:r>
            <a:r>
              <a:rPr lang="en-US" sz="3600" b="1" dirty="0">
                <a:solidFill>
                  <a:schemeClr val="bg1"/>
                </a:solidFill>
                <a:latin typeface="Calibri" pitchFamily="34" charset="0"/>
                <a:ea typeface="Calibri" pitchFamily="34" charset="-122"/>
                <a:cs typeface="Calibri" pitchFamily="34" charset="-120"/>
              </a:rPr>
              <a:t>fragile</a:t>
            </a:r>
            <a:r>
              <a:rPr lang="en-US" sz="3600" b="1" dirty="0">
                <a:solidFill>
                  <a:schemeClr val="accent2"/>
                </a:solidFill>
                <a:latin typeface="Calibri" pitchFamily="34" charset="0"/>
                <a:ea typeface="Calibri" pitchFamily="34" charset="-122"/>
                <a:cs typeface="Calibri" pitchFamily="34" charset="-120"/>
              </a:rPr>
              <a:t>.</a:t>
            </a:r>
            <a:endParaRPr lang="en-US" sz="3600" dirty="0"/>
          </a:p>
        </p:txBody>
      </p:sp>
      <p:sp>
        <p:nvSpPr>
          <p:cNvPr id="25" name="Slide Number Placeholder 0"/>
          <p:cNvSpPr>
            <a:spLocks noGrp="1"/>
          </p:cNvSpPr>
          <p:nvPr>
            <p:ph type="sldNum" sz="quarter" idx="4294967295"/>
          </p:nvPr>
        </p:nvSpPr>
        <p:spPr>
          <a:xfrm>
            <a:off x="841248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C9CCCA"/>
                </a:solidFill>
              </a:defRPr>
            </a:lvl1pPr>
          </a:lstStyle>
          <a:p>
            <a:pPr algn="r"/>
            <a:fld id="{F7021451-1387-4CA6-816F-3879F97B5CBC}" type="slidenum">
              <a:rPr lang="en-US" b="0"/>
              <a:t>12</a:t>
            </a:fld>
            <a:endParaRPr lang="en-US"/>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731520" y="1005840"/>
            <a:ext cx="7680960" cy="1645920"/>
          </a:xfrm>
          <a:prstGeom prst="rect">
            <a:avLst/>
          </a:prstGeom>
          <a:noFill/>
          <a:ln/>
        </p:spPr>
        <p:txBody>
          <a:bodyPr wrap="square" lIns="0" tIns="0" rIns="0" bIns="0" rtlCol="0" anchor="ctr"/>
          <a:lstStyle/>
          <a:p>
            <a:pPr marL="0" indent="0" algn="ctr">
              <a:buNone/>
            </a:pPr>
            <a:r>
              <a:rPr lang="en-US" sz="11000" b="1" kern="0" spc="1000" dirty="0">
                <a:solidFill>
                  <a:srgbClr val="FFFFFF"/>
                </a:solidFill>
                <a:latin typeface="Calibri" pitchFamily="34" charset="0"/>
                <a:ea typeface="Calibri" pitchFamily="34" charset="-122"/>
                <a:cs typeface="Calibri" pitchFamily="34" charset="-120"/>
              </a:rPr>
              <a:t>HELP</a:t>
            </a:r>
            <a:endParaRPr lang="en-US" sz="11000" dirty="0"/>
          </a:p>
        </p:txBody>
      </p:sp>
      <p:sp>
        <p:nvSpPr>
          <p:cNvPr id="3" name="Text 1"/>
          <p:cNvSpPr txBox="1"/>
          <p:nvPr/>
        </p:nvSpPr>
        <p:spPr>
          <a:xfrm>
            <a:off x="731520" y="3017520"/>
            <a:ext cx="7680960" cy="548640"/>
          </a:xfrm>
          <a:prstGeom prst="rect">
            <a:avLst/>
          </a:prstGeom>
          <a:noFill/>
          <a:ln/>
        </p:spPr>
        <p:txBody>
          <a:bodyPr wrap="square" lIns="0" tIns="0" rIns="0" bIns="0" rtlCol="0" anchor="t"/>
          <a:lstStyle/>
          <a:p>
            <a:pPr marL="0" indent="0" algn="ctr">
              <a:buNone/>
            </a:pPr>
            <a:r>
              <a:rPr lang="en-US" sz="2200" dirty="0">
                <a:solidFill>
                  <a:schemeClr val="accent2"/>
                </a:solidFill>
                <a:latin typeface="Calibri" pitchFamily="34" charset="0"/>
                <a:ea typeface="Calibri" pitchFamily="34" charset="-122"/>
                <a:cs typeface="Calibri" pitchFamily="34" charset="-120"/>
              </a:rPr>
              <a:t>What happens when a student asks AI for help?</a:t>
            </a:r>
            <a:endParaRPr lang="en-US" sz="2200" dirty="0">
              <a:solidFill>
                <a:schemeClr val="accent2"/>
              </a:solidFill>
            </a:endParaRPr>
          </a:p>
        </p:txBody>
      </p:sp>
    </p:spTree>
    <p:extLst>
      <p:ext uri="{BB962C8B-B14F-4D97-AF65-F5344CB8AC3E}">
        <p14:creationId xmlns:p14="http://schemas.microsoft.com/office/powerpoint/2010/main" val="2910144512"/>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afterEffect">
                                  <p:stCondLst>
                                    <p:cond delay="3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7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85800"/>
          </a:xfrm>
          <a:prstGeom prst="rect">
            <a:avLst/>
          </a:prstGeom>
          <a:noFill/>
          <a:ln/>
        </p:spPr>
        <p:txBody>
          <a:bodyPr wrap="square" lIns="0" tIns="0" rIns="0" bIns="0" rtlCol="0" anchor="ctr"/>
          <a:lstStyle/>
          <a:p>
            <a:pPr marL="0" indent="0" algn="ctr">
              <a:buNone/>
            </a:pPr>
            <a:r>
              <a:rPr lang="en-US" sz="3400" b="1" dirty="0">
                <a:solidFill>
                  <a:schemeClr val="tx2"/>
                </a:solidFill>
              </a:rPr>
              <a:t>The illusion of learning</a:t>
            </a:r>
            <a:endParaRPr lang="en-US" sz="3400" dirty="0"/>
          </a:p>
        </p:txBody>
      </p:sp>
      <p:sp>
        <p:nvSpPr>
          <p:cNvPr id="3" name="Step 1 card"/>
          <p:cNvSpPr/>
          <p:nvPr/>
        </p:nvSpPr>
        <p:spPr>
          <a:xfrm>
            <a:off x="457200" y="1234440"/>
            <a:ext cx="1783080" cy="2103120"/>
          </a:xfrm>
          <a:prstGeom prst="roundRect">
            <a:avLst>
              <a:gd name="adj" fmla="val 4103"/>
            </a:avLst>
          </a:prstGeom>
          <a:solidFill>
            <a:schemeClr val="bg2"/>
          </a:solidFill>
          <a:ln w="12700">
            <a:solidFill>
              <a:schemeClr val="bg2"/>
            </a:solidFill>
            <a:prstDash val="solid"/>
          </a:ln>
          <a:effectLst>
            <a:outerShdw blurRad="76200" dist="19050" dir="5400000" algn="bl" rotWithShape="0">
              <a:srgbClr val="000000">
                <a:alpha val="12000"/>
              </a:srgbClr>
            </a:outerShdw>
          </a:effectLst>
        </p:spPr>
        <p:txBody>
          <a:bodyPr/>
          <a:lstStyle/>
          <a:p>
            <a:endParaRPr lang="en-US"/>
          </a:p>
        </p:txBody>
      </p:sp>
      <p:sp>
        <p:nvSpPr>
          <p:cNvPr id="4" name="Ask for help circle"/>
          <p:cNvSpPr/>
          <p:nvPr/>
        </p:nvSpPr>
        <p:spPr>
          <a:xfrm>
            <a:off x="640080" y="1417320"/>
            <a:ext cx="548640" cy="548640"/>
          </a:xfrm>
          <a:prstGeom prst="ellipse">
            <a:avLst/>
          </a:prstGeom>
          <a:solidFill>
            <a:schemeClr val="accent1"/>
          </a:solidFill>
          <a:ln w="12700">
            <a:solidFill>
              <a:schemeClr val="accent1"/>
            </a:solidFill>
            <a:prstDash val="solid"/>
          </a:ln>
        </p:spPr>
        <p:txBody>
          <a:bodyPr/>
          <a:lstStyle/>
          <a:p>
            <a:endParaRPr lang="en-US"/>
          </a:p>
        </p:txBody>
      </p:sp>
      <p:pic>
        <p:nvPicPr>
          <p:cNvPr id="5" name="Ask for help icon" descr="Ask for help"/>
          <p:cNvPicPr>
            <a:picLocks noChangeAspect="1"/>
          </p:cNvPicPr>
          <p:nvPr/>
        </p:nvPicPr>
        <p:blipFill>
          <a:blip r:embed="rId3"/>
          <a:stretch>
            <a:fillRect/>
          </a:stretch>
        </p:blipFill>
        <p:spPr>
          <a:xfrm>
            <a:off x="782726" y="1559966"/>
            <a:ext cx="263347" cy="263347"/>
          </a:xfrm>
          <a:prstGeom prst="rect">
            <a:avLst/>
          </a:prstGeom>
        </p:spPr>
      </p:pic>
      <p:sp>
        <p:nvSpPr>
          <p:cNvPr id="6" name="Step 1 heading"/>
          <p:cNvSpPr txBox="1"/>
          <p:nvPr/>
        </p:nvSpPr>
        <p:spPr>
          <a:xfrm>
            <a:off x="640080" y="2103120"/>
            <a:ext cx="1463040" cy="548640"/>
          </a:xfrm>
          <a:prstGeom prst="rect">
            <a:avLst/>
          </a:prstGeom>
          <a:noFill/>
          <a:ln/>
        </p:spPr>
        <p:txBody>
          <a:bodyPr wrap="square" lIns="0" tIns="0" rIns="0" bIns="0" rtlCol="0" anchor="t"/>
          <a:lstStyle/>
          <a:p>
            <a:pPr marL="0" indent="0">
              <a:buNone/>
            </a:pPr>
            <a:r>
              <a:rPr lang="en-US" sz="1500" b="1" dirty="0">
                <a:solidFill>
                  <a:schemeClr val="tx2"/>
                </a:solidFill>
                <a:latin typeface="Calibri" pitchFamily="34" charset="0"/>
                <a:ea typeface="Calibri" pitchFamily="34" charset="-122"/>
                <a:cs typeface="Calibri" pitchFamily="34" charset="-120"/>
              </a:rPr>
              <a:t>Ask for help</a:t>
            </a:r>
            <a:endParaRPr lang="en-US" sz="1500" dirty="0"/>
          </a:p>
        </p:txBody>
      </p:sp>
      <p:sp>
        <p:nvSpPr>
          <p:cNvPr id="7" name="Step 1 body"/>
          <p:cNvSpPr txBox="1"/>
          <p:nvPr/>
        </p:nvSpPr>
        <p:spPr>
          <a:xfrm>
            <a:off x="640080" y="2670048"/>
            <a:ext cx="1463040" cy="59436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“Help me understand this.”</a:t>
            </a:r>
            <a:endParaRPr lang="en-US" sz="1300" dirty="0"/>
          </a:p>
        </p:txBody>
      </p:sp>
      <p:sp>
        <p:nvSpPr>
          <p:cNvPr id="8" name="Arrow 1"/>
          <p:cNvSpPr/>
          <p:nvPr/>
        </p:nvSpPr>
        <p:spPr>
          <a:xfrm>
            <a:off x="2331720" y="2148840"/>
            <a:ext cx="182880" cy="274320"/>
          </a:xfrm>
          <a:prstGeom prst="chevron">
            <a:avLst/>
          </a:prstGeom>
          <a:solidFill>
            <a:schemeClr val="accent6"/>
          </a:solidFill>
          <a:ln w="12700">
            <a:solidFill>
              <a:schemeClr val="accent6"/>
            </a:solidFill>
            <a:prstDash val="solid"/>
          </a:ln>
        </p:spPr>
        <p:txBody>
          <a:bodyPr/>
          <a:lstStyle/>
          <a:p>
            <a:endParaRPr lang="en-US"/>
          </a:p>
        </p:txBody>
      </p:sp>
      <p:sp>
        <p:nvSpPr>
          <p:cNvPr id="9" name="Step 2 card"/>
          <p:cNvSpPr/>
          <p:nvPr/>
        </p:nvSpPr>
        <p:spPr>
          <a:xfrm>
            <a:off x="2606040" y="1234440"/>
            <a:ext cx="1783080" cy="2103120"/>
          </a:xfrm>
          <a:prstGeom prst="roundRect">
            <a:avLst>
              <a:gd name="adj" fmla="val 4103"/>
            </a:avLst>
          </a:prstGeom>
          <a:solidFill>
            <a:schemeClr val="bg2"/>
          </a:solidFill>
          <a:ln w="28575">
            <a:solidFill>
              <a:srgbClr val="C8102E"/>
            </a:solidFill>
            <a:prstDash val="solid"/>
          </a:ln>
          <a:effectLst>
            <a:outerShdw blurRad="76200" dist="19050" dir="5400000" algn="bl" rotWithShape="0">
              <a:srgbClr val="000000">
                <a:alpha val="12000"/>
              </a:srgbClr>
            </a:outerShdw>
          </a:effectLst>
        </p:spPr>
        <p:txBody>
          <a:bodyPr/>
          <a:lstStyle/>
          <a:p>
            <a:endParaRPr lang="en-US"/>
          </a:p>
        </p:txBody>
      </p:sp>
      <p:sp>
        <p:nvSpPr>
          <p:cNvPr id="10" name="Get a fluent answer circle"/>
          <p:cNvSpPr/>
          <p:nvPr/>
        </p:nvSpPr>
        <p:spPr>
          <a:xfrm>
            <a:off x="2788920" y="1417320"/>
            <a:ext cx="548640" cy="548640"/>
          </a:xfrm>
          <a:prstGeom prst="ellipse">
            <a:avLst/>
          </a:prstGeom>
          <a:solidFill>
            <a:schemeClr val="accent1"/>
          </a:solidFill>
          <a:ln w="12700">
            <a:solidFill>
              <a:schemeClr val="accent1"/>
            </a:solidFill>
            <a:prstDash val="solid"/>
          </a:ln>
        </p:spPr>
        <p:txBody>
          <a:bodyPr/>
          <a:lstStyle/>
          <a:p>
            <a:endParaRPr lang="en-US"/>
          </a:p>
        </p:txBody>
      </p:sp>
      <p:pic>
        <p:nvPicPr>
          <p:cNvPr id="11" name="Get a fluent answer icon" descr="Get a fluent answer"/>
          <p:cNvPicPr>
            <a:picLocks noChangeAspect="1"/>
          </p:cNvPicPr>
          <p:nvPr/>
        </p:nvPicPr>
        <p:blipFill>
          <a:blip r:embed="rId4"/>
          <a:stretch>
            <a:fillRect/>
          </a:stretch>
        </p:blipFill>
        <p:spPr>
          <a:xfrm>
            <a:off x="2931566" y="1559966"/>
            <a:ext cx="263347" cy="263347"/>
          </a:xfrm>
          <a:prstGeom prst="rect">
            <a:avLst/>
          </a:prstGeom>
        </p:spPr>
      </p:pic>
      <p:sp>
        <p:nvSpPr>
          <p:cNvPr id="12" name="Step 2 heading"/>
          <p:cNvSpPr txBox="1"/>
          <p:nvPr/>
        </p:nvSpPr>
        <p:spPr>
          <a:xfrm>
            <a:off x="2788920" y="2103120"/>
            <a:ext cx="1463040" cy="548640"/>
          </a:xfrm>
          <a:prstGeom prst="rect">
            <a:avLst/>
          </a:prstGeom>
          <a:noFill/>
          <a:ln/>
        </p:spPr>
        <p:txBody>
          <a:bodyPr wrap="square" lIns="0" tIns="0" rIns="0" bIns="0" rtlCol="0" anchor="t"/>
          <a:lstStyle/>
          <a:p>
            <a:pPr marL="0" indent="0">
              <a:buNone/>
            </a:pPr>
            <a:r>
              <a:rPr lang="en-US" sz="1500" b="1" dirty="0">
                <a:solidFill>
                  <a:schemeClr val="tx2"/>
                </a:solidFill>
                <a:latin typeface="Calibri" pitchFamily="34" charset="0"/>
                <a:ea typeface="Calibri" pitchFamily="34" charset="-122"/>
                <a:cs typeface="Calibri" pitchFamily="34" charset="-120"/>
              </a:rPr>
              <a:t>Get a fluent answer</a:t>
            </a:r>
            <a:endParaRPr lang="en-US" sz="1500" dirty="0"/>
          </a:p>
        </p:txBody>
      </p:sp>
      <p:sp>
        <p:nvSpPr>
          <p:cNvPr id="13" name="Step 2 body"/>
          <p:cNvSpPr txBox="1"/>
          <p:nvPr/>
        </p:nvSpPr>
        <p:spPr>
          <a:xfrm>
            <a:off x="2788920" y="2670048"/>
            <a:ext cx="1463040" cy="59436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Complete, polished, confident</a:t>
            </a:r>
            <a:endParaRPr lang="en-US" sz="1300" dirty="0"/>
          </a:p>
        </p:txBody>
      </p:sp>
      <p:sp>
        <p:nvSpPr>
          <p:cNvPr id="14" name="Arrow 2"/>
          <p:cNvSpPr/>
          <p:nvPr/>
        </p:nvSpPr>
        <p:spPr>
          <a:xfrm>
            <a:off x="4480560" y="2148840"/>
            <a:ext cx="182880" cy="274320"/>
          </a:xfrm>
          <a:prstGeom prst="chevron">
            <a:avLst/>
          </a:prstGeom>
          <a:solidFill>
            <a:schemeClr val="accent6"/>
          </a:solidFill>
          <a:ln w="12700">
            <a:solidFill>
              <a:schemeClr val="accent6"/>
            </a:solidFill>
            <a:prstDash val="solid"/>
          </a:ln>
        </p:spPr>
        <p:txBody>
          <a:bodyPr/>
          <a:lstStyle/>
          <a:p>
            <a:endParaRPr lang="en-US"/>
          </a:p>
        </p:txBody>
      </p:sp>
      <p:sp>
        <p:nvSpPr>
          <p:cNvPr id="15" name="Step 3 card"/>
          <p:cNvSpPr/>
          <p:nvPr/>
        </p:nvSpPr>
        <p:spPr>
          <a:xfrm>
            <a:off x="4754880" y="1234440"/>
            <a:ext cx="1783080" cy="2103120"/>
          </a:xfrm>
          <a:prstGeom prst="roundRect">
            <a:avLst>
              <a:gd name="adj" fmla="val 4103"/>
            </a:avLst>
          </a:prstGeom>
          <a:solidFill>
            <a:schemeClr val="bg2"/>
          </a:solidFill>
          <a:ln w="12700">
            <a:solidFill>
              <a:schemeClr val="bg2"/>
            </a:solidFill>
            <a:prstDash val="solid"/>
          </a:ln>
          <a:effectLst>
            <a:outerShdw blurRad="76200" dist="19050" dir="5400000" algn="bl" rotWithShape="0">
              <a:srgbClr val="000000">
                <a:alpha val="12000"/>
              </a:srgbClr>
            </a:outerShdw>
          </a:effectLst>
        </p:spPr>
        <p:txBody>
          <a:bodyPr/>
          <a:lstStyle/>
          <a:p>
            <a:endParaRPr lang="en-US"/>
          </a:p>
        </p:txBody>
      </p:sp>
      <p:sp>
        <p:nvSpPr>
          <p:cNvPr id="16" name="Feel like you understand circle"/>
          <p:cNvSpPr/>
          <p:nvPr/>
        </p:nvSpPr>
        <p:spPr>
          <a:xfrm>
            <a:off x="4937760" y="1417320"/>
            <a:ext cx="548640" cy="548640"/>
          </a:xfrm>
          <a:prstGeom prst="ellipse">
            <a:avLst/>
          </a:prstGeom>
          <a:solidFill>
            <a:schemeClr val="accent1"/>
          </a:solidFill>
          <a:ln w="12700">
            <a:solidFill>
              <a:schemeClr val="accent1"/>
            </a:solidFill>
            <a:prstDash val="solid"/>
          </a:ln>
        </p:spPr>
        <p:txBody>
          <a:bodyPr/>
          <a:lstStyle/>
          <a:p>
            <a:endParaRPr lang="en-US"/>
          </a:p>
        </p:txBody>
      </p:sp>
      <p:pic>
        <p:nvPicPr>
          <p:cNvPr id="17" name="Feel like you understand icon" descr="Feel like you understand"/>
          <p:cNvPicPr>
            <a:picLocks noChangeAspect="1"/>
          </p:cNvPicPr>
          <p:nvPr/>
        </p:nvPicPr>
        <p:blipFill>
          <a:blip r:embed="rId5"/>
          <a:stretch>
            <a:fillRect/>
          </a:stretch>
        </p:blipFill>
        <p:spPr>
          <a:xfrm>
            <a:off x="5080406" y="1559966"/>
            <a:ext cx="263347" cy="263347"/>
          </a:xfrm>
          <a:prstGeom prst="rect">
            <a:avLst/>
          </a:prstGeom>
        </p:spPr>
      </p:pic>
      <p:sp>
        <p:nvSpPr>
          <p:cNvPr id="18" name="Step 3 heading"/>
          <p:cNvSpPr txBox="1"/>
          <p:nvPr/>
        </p:nvSpPr>
        <p:spPr>
          <a:xfrm>
            <a:off x="4937760" y="2103120"/>
            <a:ext cx="1463040" cy="548640"/>
          </a:xfrm>
          <a:prstGeom prst="rect">
            <a:avLst/>
          </a:prstGeom>
          <a:noFill/>
          <a:ln/>
        </p:spPr>
        <p:txBody>
          <a:bodyPr wrap="square" lIns="0" tIns="0" rIns="0" bIns="0" rtlCol="0" anchor="t"/>
          <a:lstStyle/>
          <a:p>
            <a:pPr marL="0" indent="0">
              <a:buNone/>
            </a:pPr>
            <a:r>
              <a:rPr lang="en-US" sz="1500" b="1" dirty="0">
                <a:solidFill>
                  <a:schemeClr val="tx2"/>
                </a:solidFill>
                <a:latin typeface="Calibri" pitchFamily="34" charset="0"/>
                <a:ea typeface="Calibri" pitchFamily="34" charset="-122"/>
                <a:cs typeface="Calibri" pitchFamily="34" charset="-120"/>
              </a:rPr>
              <a:t>Feel like you understand</a:t>
            </a:r>
            <a:endParaRPr lang="en-US" sz="1500" dirty="0"/>
          </a:p>
        </p:txBody>
      </p:sp>
      <p:sp>
        <p:nvSpPr>
          <p:cNvPr id="19" name="Step 3 body"/>
          <p:cNvSpPr txBox="1"/>
          <p:nvPr/>
        </p:nvSpPr>
        <p:spPr>
          <a:xfrm>
            <a:off x="4937760" y="2670048"/>
            <a:ext cx="1463040" cy="59436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It reads as knowing</a:t>
            </a:r>
            <a:endParaRPr lang="en-US" sz="1300" dirty="0"/>
          </a:p>
        </p:txBody>
      </p:sp>
      <p:sp>
        <p:nvSpPr>
          <p:cNvPr id="20" name="Arrow 3"/>
          <p:cNvSpPr/>
          <p:nvPr/>
        </p:nvSpPr>
        <p:spPr>
          <a:xfrm>
            <a:off x="6629400" y="2148840"/>
            <a:ext cx="182880" cy="274320"/>
          </a:xfrm>
          <a:prstGeom prst="chevron">
            <a:avLst/>
          </a:prstGeom>
          <a:solidFill>
            <a:schemeClr val="accent6"/>
          </a:solidFill>
          <a:ln w="12700">
            <a:solidFill>
              <a:schemeClr val="accent6"/>
            </a:solidFill>
            <a:prstDash val="solid"/>
          </a:ln>
        </p:spPr>
        <p:txBody>
          <a:bodyPr/>
          <a:lstStyle/>
          <a:p>
            <a:endParaRPr lang="en-US"/>
          </a:p>
        </p:txBody>
      </p:sp>
      <p:sp>
        <p:nvSpPr>
          <p:cNvPr id="21" name="Step 4 card"/>
          <p:cNvSpPr/>
          <p:nvPr/>
        </p:nvSpPr>
        <p:spPr>
          <a:xfrm>
            <a:off x="6903720" y="1234440"/>
            <a:ext cx="1783080" cy="2103120"/>
          </a:xfrm>
          <a:prstGeom prst="roundRect">
            <a:avLst>
              <a:gd name="adj" fmla="val 4103"/>
            </a:avLst>
          </a:prstGeom>
          <a:solidFill>
            <a:schemeClr val="accent5"/>
          </a:solidFill>
          <a:ln w="12700">
            <a:solidFill>
              <a:schemeClr val="accent5"/>
            </a:solidFill>
            <a:prstDash val="solid"/>
          </a:ln>
          <a:effectLst>
            <a:outerShdw blurRad="76200" dist="19050" dir="5400000" algn="bl" rotWithShape="0">
              <a:srgbClr val="000000">
                <a:alpha val="12000"/>
              </a:srgbClr>
            </a:outerShdw>
          </a:effectLst>
        </p:spPr>
        <p:txBody>
          <a:bodyPr/>
          <a:lstStyle/>
          <a:p>
            <a:endParaRPr lang="en-US"/>
          </a:p>
        </p:txBody>
      </p:sp>
      <p:sp>
        <p:nvSpPr>
          <p:cNvPr id="22" name="Germane load skipped circle"/>
          <p:cNvSpPr/>
          <p:nvPr/>
        </p:nvSpPr>
        <p:spPr>
          <a:xfrm>
            <a:off x="7086600" y="1417320"/>
            <a:ext cx="548640" cy="548640"/>
          </a:xfrm>
          <a:prstGeom prst="ellipse">
            <a:avLst/>
          </a:prstGeom>
          <a:solidFill>
            <a:schemeClr val="accent2"/>
          </a:solidFill>
          <a:ln w="12700">
            <a:solidFill>
              <a:schemeClr val="accent2"/>
            </a:solidFill>
            <a:prstDash val="solid"/>
          </a:ln>
        </p:spPr>
        <p:txBody>
          <a:bodyPr/>
          <a:lstStyle/>
          <a:p>
            <a:endParaRPr lang="en-US"/>
          </a:p>
        </p:txBody>
      </p:sp>
      <p:pic>
        <p:nvPicPr>
          <p:cNvPr id="23" name="Germane load skipped icon" descr="Germane load skipped"/>
          <p:cNvPicPr>
            <a:picLocks noChangeAspect="1"/>
          </p:cNvPicPr>
          <p:nvPr/>
        </p:nvPicPr>
        <p:blipFill>
          <a:blip r:embed="rId6"/>
          <a:stretch>
            <a:fillRect/>
          </a:stretch>
        </p:blipFill>
        <p:spPr>
          <a:xfrm>
            <a:off x="7229246" y="1559966"/>
            <a:ext cx="263347" cy="263347"/>
          </a:xfrm>
          <a:prstGeom prst="rect">
            <a:avLst/>
          </a:prstGeom>
        </p:spPr>
      </p:pic>
      <p:sp>
        <p:nvSpPr>
          <p:cNvPr id="24" name="Step 4 heading"/>
          <p:cNvSpPr txBox="1"/>
          <p:nvPr/>
        </p:nvSpPr>
        <p:spPr>
          <a:xfrm>
            <a:off x="7086600" y="2103120"/>
            <a:ext cx="1463040" cy="548640"/>
          </a:xfrm>
          <a:prstGeom prst="rect">
            <a:avLst/>
          </a:prstGeom>
          <a:noFill/>
          <a:ln/>
        </p:spPr>
        <p:txBody>
          <a:bodyPr wrap="square" lIns="0" tIns="0" rIns="0" bIns="0" rtlCol="0" anchor="t"/>
          <a:lstStyle/>
          <a:p>
            <a:pPr marL="0" indent="0">
              <a:buNone/>
            </a:pPr>
            <a:r>
              <a:rPr lang="en-US" sz="1500" b="1" dirty="0">
                <a:solidFill>
                  <a:schemeClr val="tx1"/>
                </a:solidFill>
                <a:latin typeface="Calibri" pitchFamily="34" charset="0"/>
                <a:ea typeface="Calibri" pitchFamily="34" charset="-122"/>
                <a:cs typeface="Calibri" pitchFamily="34" charset="-120"/>
              </a:rPr>
              <a:t>Germane load skipped</a:t>
            </a:r>
            <a:endParaRPr lang="en-US" sz="1500" dirty="0"/>
          </a:p>
        </p:txBody>
      </p:sp>
      <p:sp>
        <p:nvSpPr>
          <p:cNvPr id="25" name="Step 4 body"/>
          <p:cNvSpPr txBox="1"/>
          <p:nvPr/>
        </p:nvSpPr>
        <p:spPr>
          <a:xfrm>
            <a:off x="7086600" y="2670048"/>
            <a:ext cx="1463040" cy="59436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No effort, so no understanding built</a:t>
            </a:r>
            <a:endParaRPr lang="en-US" sz="1300" dirty="0"/>
          </a:p>
        </p:txBody>
      </p:sp>
      <p:sp>
        <p:nvSpPr>
          <p:cNvPr id="26" name="Takeaway"/>
          <p:cNvSpPr txBox="1"/>
          <p:nvPr/>
        </p:nvSpPr>
        <p:spPr>
          <a:xfrm>
            <a:off x="457200" y="3611880"/>
            <a:ext cx="8229600" cy="502920"/>
          </a:xfrm>
          <a:prstGeom prst="rect">
            <a:avLst/>
          </a:prstGeom>
          <a:noFill/>
          <a:ln/>
        </p:spPr>
        <p:txBody>
          <a:bodyPr wrap="square" lIns="0" tIns="0" rIns="0" bIns="0" rtlCol="0" anchor="ctr"/>
          <a:lstStyle/>
          <a:p>
            <a:pPr marL="0" indent="0" algn="ctr">
              <a:buNone/>
            </a:pPr>
            <a:r>
              <a:rPr lang="en-US" sz="2200" dirty="0">
                <a:solidFill>
                  <a:schemeClr val="tx1"/>
                </a:solidFill>
                <a:latin typeface="Calibri" pitchFamily="34" charset="0"/>
                <a:ea typeface="Calibri" pitchFamily="34" charset="-122"/>
                <a:cs typeface="Calibri" pitchFamily="34" charset="-120"/>
              </a:rPr>
              <a:t>The illusion of learning is </a:t>
            </a:r>
            <a:r>
              <a:rPr lang="en-US" sz="2200" b="1" dirty="0">
                <a:solidFill>
                  <a:schemeClr val="tx2"/>
                </a:solidFill>
                <a:latin typeface="Calibri" pitchFamily="34" charset="0"/>
                <a:ea typeface="Calibri" pitchFamily="34" charset="-122"/>
                <a:cs typeface="Calibri" pitchFamily="34" charset="-120"/>
              </a:rPr>
              <a:t>fragile</a:t>
            </a:r>
            <a:r>
              <a:rPr lang="en-US" sz="2200" dirty="0">
                <a:solidFill>
                  <a:schemeClr val="tx1"/>
                </a:solidFill>
                <a:latin typeface="Calibri" pitchFamily="34" charset="0"/>
                <a:ea typeface="Calibri" pitchFamily="34" charset="-122"/>
                <a:cs typeface="Calibri" pitchFamily="34" charset="-120"/>
              </a:rPr>
              <a:t> learning.</a:t>
            </a:r>
            <a:endParaRPr lang="en-US" sz="2200" dirty="0"/>
          </a:p>
        </p:txBody>
      </p:sp>
      <p:sp>
        <p:nvSpPr>
          <p:cNvPr id="27" name="Citation"/>
          <p:cNvSpPr txBox="1"/>
          <p:nvPr/>
        </p:nvSpPr>
        <p:spPr>
          <a:xfrm>
            <a:off x="457200" y="4754880"/>
            <a:ext cx="7772400" cy="256032"/>
          </a:xfrm>
          <a:prstGeom prst="rect">
            <a:avLst/>
          </a:prstGeom>
          <a:noFill/>
          <a:ln/>
        </p:spPr>
        <p:txBody>
          <a:bodyPr wrap="square" lIns="0" tIns="0" rIns="0" bIns="0" rtlCol="0" anchor="ctr"/>
          <a:lstStyle/>
          <a:p>
            <a:pPr marL="0" indent="0">
              <a:buNone/>
            </a:pPr>
            <a:r>
              <a:rPr lang="en-US" sz="1000" dirty="0">
                <a:solidFill>
                  <a:schemeClr val="accent3"/>
                </a:solidFill>
                <a:latin typeface="Calibri" pitchFamily="34" charset="0"/>
                <a:ea typeface="Calibri" pitchFamily="34" charset="-122"/>
                <a:cs typeface="Calibri" pitchFamily="34" charset="-120"/>
              </a:rPr>
              <a:t>Alstot (2026); Fisher et al. (2015); Klein &amp; Klein (2025)</a:t>
            </a:r>
            <a:endParaRPr lang="en-US" sz="1000" dirty="0"/>
          </a:p>
        </p:txBody>
      </p:sp>
      <p:sp>
        <p:nvSpPr>
          <p:cNvPr id="28" name="Slide Number Placeholder 0"/>
          <p:cNvSpPr>
            <a:spLocks noGrp="1"/>
          </p:cNvSpPr>
          <p:nvPr>
            <p:ph type="sldNum" sz="quarter" idx="4294967295"/>
          </p:nvPr>
        </p:nvSpPr>
        <p:spPr>
          <a:xfrm>
            <a:off x="841248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3"/>
                </a:solidFill>
              </a:defRPr>
            </a:lvl1pPr>
          </a:lstStyle>
          <a:p>
            <a:pPr algn="r"/>
            <a:fld id="{F7021451-1387-4CA6-816F-3879F97B5CBC}" type="slidenum">
              <a:rPr lang="en-US" b="0"/>
              <a:t>14</a:t>
            </a:fld>
            <a:endParaRPr lang="en-US"/>
          </a:p>
        </p:txBody>
      </p:sp>
    </p:spTree>
    <p:extLst>
      <p:ext uri="{BB962C8B-B14F-4D97-AF65-F5344CB8AC3E}">
        <p14:creationId xmlns:p14="http://schemas.microsoft.com/office/powerpoint/2010/main" val="869062480"/>
      </p:ext>
    </p:extLst>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2007D-E87F-4EFC-CB82-268F8CF6CB8F}"/>
              </a:ext>
            </a:extLst>
          </p:cNvPr>
          <p:cNvSpPr>
            <a:spLocks noGrp="1"/>
          </p:cNvSpPr>
          <p:nvPr>
            <p:ph type="title" idx="100"/>
          </p:nvPr>
        </p:nvSpPr>
        <p:spPr>
          <a:xfrm>
            <a:off x="252483" y="4458945"/>
            <a:ext cx="8229600" cy="685800"/>
          </a:xfrm>
        </p:spPr>
        <p:txBody>
          <a:bodyPr/>
          <a:lstStyle/>
          <a:p>
            <a:r>
              <a:rPr lang="en-US" dirty="0"/>
              <a:t>learning is painful!</a:t>
            </a:r>
          </a:p>
        </p:txBody>
      </p:sp>
      <p:pic>
        <p:nvPicPr>
          <p:cNvPr id="3" name="Online Media 2" descr="The Princess Bride Life Is Pain">
            <a:hlinkClick r:id="" action="ppaction://media"/>
            <a:extLst>
              <a:ext uri="{FF2B5EF4-FFF2-40B4-BE49-F238E27FC236}">
                <a16:creationId xmlns:a16="http://schemas.microsoft.com/office/drawing/2014/main" id="{2CDDCC61-08C5-F5A4-E4AB-48B9799B40C2}"/>
              </a:ext>
            </a:extLst>
          </p:cNvPr>
          <p:cNvPicPr>
            <a:picLocks noRot="1" noChangeAspect="1"/>
          </p:cNvPicPr>
          <p:nvPr>
            <a:videoFile r:link="rId1"/>
          </p:nvPr>
        </p:nvPicPr>
        <p:blipFill>
          <a:blip r:embed="rId4"/>
          <a:stretch>
            <a:fillRect/>
          </a:stretch>
        </p:blipFill>
        <p:spPr>
          <a:xfrm>
            <a:off x="1231831" y="735395"/>
            <a:ext cx="6680338" cy="3774391"/>
          </a:xfrm>
          <a:prstGeom prst="rect">
            <a:avLst/>
          </a:prstGeom>
        </p:spPr>
      </p:pic>
      <p:sp>
        <p:nvSpPr>
          <p:cNvPr id="4" name="Title 1">
            <a:extLst>
              <a:ext uri="{FF2B5EF4-FFF2-40B4-BE49-F238E27FC236}">
                <a16:creationId xmlns:a16="http://schemas.microsoft.com/office/drawing/2014/main" id="{4A025668-E019-3A77-4B95-319DA697ACC8}"/>
              </a:ext>
            </a:extLst>
          </p:cNvPr>
          <p:cNvSpPr txBox="1">
            <a:spLocks/>
          </p:cNvSpPr>
          <p:nvPr/>
        </p:nvSpPr>
        <p:spPr>
          <a:xfrm>
            <a:off x="609600" y="100436"/>
            <a:ext cx="8229600" cy="685800"/>
          </a:xfrm>
          <a:prstGeom prst="rect">
            <a:avLst/>
          </a:prstGeom>
          <a:noFill/>
          <a:ln/>
        </p:spPr>
        <p:txBody>
          <a:bodyPr wrap="square" rtlCol="0"/>
          <a:lstStyle>
            <a:lvl1pPr marL="0" indent="0" algn="ctr" defTabSz="914400" rtl="0" eaLnBrk="1" latinLnBrk="0" hangingPunct="1">
              <a:spcBef>
                <a:spcPct val="0"/>
              </a:spcBef>
              <a:buNone/>
              <a:defRPr lang="en-US" sz="3400" b="1" kern="1200" dirty="0">
                <a:solidFill>
                  <a:schemeClr val="tx2"/>
                </a:solidFill>
                <a:latin typeface="+mj-lt"/>
                <a:ea typeface="+mj-ea"/>
                <a:cs typeface="+mj-cs"/>
              </a:defRPr>
            </a:lvl1pPr>
          </a:lstStyle>
          <a:p>
            <a:r>
              <a:rPr lang="en-US" dirty="0"/>
              <a:t>We don’t like pain! But …</a:t>
            </a:r>
          </a:p>
        </p:txBody>
      </p:sp>
    </p:spTree>
    <p:extLst>
      <p:ext uri="{BB962C8B-B14F-4D97-AF65-F5344CB8AC3E}">
        <p14:creationId xmlns:p14="http://schemas.microsoft.com/office/powerpoint/2010/main" val="381024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2" fill="hold" display="0">
                  <p:stCondLst>
                    <p:cond delay="indefinite"/>
                  </p:stCondLst>
                </p:cTn>
                <p:tgtEl>
                  <p:spTgt spid="3"/>
                </p:tgtEl>
              </p:cMediaNode>
            </p:video>
            <p:seq concurrent="1" nextAc="seek">
              <p:cTn id="13" restart="whenNotActive" fill="hold" evtFilter="cancelBubble" nodeType="interactiveSeq">
                <p:stCondLst>
                  <p:cond evt="onClick" delay="0">
                    <p:tgtEl>
                      <p:spTgt spid="3"/>
                    </p:tgtEl>
                  </p:cond>
                </p:stCondLst>
                <p:endSync evt="end" delay="0">
                  <p:rtn val="all"/>
                </p:endSync>
                <p:childTnLst>
                  <p:par>
                    <p:cTn id="14" fill="hold">
                      <p:stCondLst>
                        <p:cond delay="0"/>
                      </p:stCondLst>
                      <p:childTnLst>
                        <p:par>
                          <p:cTn id="15" fill="hold">
                            <p:stCondLst>
                              <p:cond delay="0"/>
                            </p:stCondLst>
                            <p:childTnLst>
                              <p:par>
                                <p:cTn id="16" presetID="2" presetClass="mediacall" presetSubtype="0" fill="hold" nodeType="clickEffect">
                                  <p:stCondLst>
                                    <p:cond delay="0"/>
                                  </p:stCondLst>
                                  <p:childTnLst>
                                    <p:cmd type="call" cmd="togglePause">
                                      <p:cBhvr>
                                        <p:cTn id="17" dur="1" fill="hold"/>
                                        <p:tgtEl>
                                          <p:spTgt spid="3"/>
                                        </p:tgtEl>
                                      </p:cBhvr>
                                    </p:cmd>
                                  </p:childTnLst>
                                </p:cTn>
                              </p:par>
                            </p:childTnLst>
                          </p:cTn>
                        </p:par>
                      </p:childTnLst>
                    </p:cTn>
                  </p:par>
                </p:childTnLst>
              </p:cTn>
              <p:nextCondLst>
                <p:cond evt="onClick" delay="0">
                  <p:tgtEl>
                    <p:spTgt spid="3"/>
                  </p:tgtEl>
                </p:cond>
              </p:nextCondLst>
            </p:seq>
          </p:childTnLst>
        </p:cTn>
      </p:par>
    </p:tnLst>
    <p:bldLst>
      <p:bldP spid="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85800"/>
          </a:xfrm>
          <a:prstGeom prst="rect">
            <a:avLst/>
          </a:prstGeom>
          <a:noFill/>
          <a:ln/>
        </p:spPr>
        <p:txBody>
          <a:bodyPr wrap="square" lIns="0" tIns="0" rIns="0" bIns="0" rtlCol="0" anchor="ctr"/>
          <a:lstStyle/>
          <a:p>
            <a:pPr marL="0" indent="0" algn="ctr">
              <a:buNone/>
            </a:pPr>
            <a:r>
              <a:rPr lang="en-US" sz="3400" b="1" dirty="0">
                <a:solidFill>
                  <a:schemeClr val="tx2"/>
                </a:solidFill>
              </a:rPr>
              <a:t>Fortified or fragile?</a:t>
            </a:r>
            <a:endParaRPr lang="en-US" sz="3400" dirty="0"/>
          </a:p>
        </p:txBody>
      </p:sp>
      <p:sp>
        <p:nvSpPr>
          <p:cNvPr id="3" name="Germane load strip"/>
          <p:cNvSpPr/>
          <p:nvPr/>
        </p:nvSpPr>
        <p:spPr>
          <a:xfrm>
            <a:off x="457200" y="1097280"/>
            <a:ext cx="8229600" cy="566928"/>
          </a:xfrm>
          <a:prstGeom prst="roundRect">
            <a:avLst>
              <a:gd name="adj" fmla="val 12903"/>
            </a:avLst>
          </a:prstGeom>
          <a:solidFill>
            <a:schemeClr val="bg2"/>
          </a:solidFill>
          <a:ln w="12700">
            <a:solidFill>
              <a:schemeClr val="bg2"/>
            </a:solidFill>
            <a:prstDash val="solid"/>
          </a:ln>
        </p:spPr>
        <p:txBody>
          <a:bodyPr/>
          <a:lstStyle/>
          <a:p>
            <a:endParaRPr lang="en-US"/>
          </a:p>
        </p:txBody>
      </p:sp>
      <p:sp>
        <p:nvSpPr>
          <p:cNvPr id="4" name="Germane load definition"/>
          <p:cNvSpPr txBox="1"/>
          <p:nvPr/>
        </p:nvSpPr>
        <p:spPr>
          <a:xfrm>
            <a:off x="685800" y="1097280"/>
            <a:ext cx="7863840" cy="566928"/>
          </a:xfrm>
          <a:prstGeom prst="rect">
            <a:avLst/>
          </a:prstGeom>
          <a:noFill/>
          <a:ln/>
        </p:spPr>
        <p:txBody>
          <a:bodyPr wrap="square" lIns="0" tIns="0" rIns="0" bIns="0" rtlCol="0" anchor="ctr"/>
          <a:lstStyle/>
          <a:p>
            <a:pPr marL="0" indent="0">
              <a:buNone/>
            </a:pPr>
            <a:r>
              <a:rPr lang="en-US" sz="1500" b="1" kern="0" spc="100" dirty="0">
                <a:solidFill>
                  <a:schemeClr val="tx2"/>
                </a:solidFill>
                <a:latin typeface="Calibri" pitchFamily="34" charset="0"/>
                <a:ea typeface="Calibri" pitchFamily="34" charset="-122"/>
                <a:cs typeface="Calibri" pitchFamily="34" charset="-120"/>
              </a:rPr>
              <a:t>GERMANE LOAD   </a:t>
            </a:r>
            <a:r>
              <a:rPr lang="en-US" sz="1500" dirty="0">
                <a:solidFill>
                  <a:schemeClr val="tx1"/>
                </a:solidFill>
                <a:latin typeface="Calibri" pitchFamily="34" charset="0"/>
                <a:ea typeface="Calibri" pitchFamily="34" charset="-122"/>
                <a:cs typeface="Calibri" pitchFamily="34" charset="-120"/>
              </a:rPr>
              <a:t>Effort devoted to building understanding. Shaped by the learner.</a:t>
            </a:r>
            <a:endParaRPr lang="en-US" sz="1500" dirty="0"/>
          </a:p>
        </p:txBody>
      </p:sp>
      <p:sp>
        <p:nvSpPr>
          <p:cNvPr id="5" name="Fragile card"/>
          <p:cNvSpPr/>
          <p:nvPr/>
        </p:nvSpPr>
        <p:spPr>
          <a:xfrm>
            <a:off x="457200" y="1874520"/>
            <a:ext cx="3977640" cy="2697480"/>
          </a:xfrm>
          <a:prstGeom prst="roundRect">
            <a:avLst>
              <a:gd name="adj" fmla="val 2712"/>
            </a:avLst>
          </a:prstGeom>
          <a:solidFill>
            <a:schemeClr val="bg2"/>
          </a:solidFill>
          <a:ln w="12700">
            <a:solidFill>
              <a:schemeClr val="bg2"/>
            </a:solidFill>
            <a:prstDash val="solid"/>
          </a:ln>
          <a:effectLst>
            <a:outerShdw blurRad="76200" dist="19050" dir="5400000" algn="bl" rotWithShape="0">
              <a:srgbClr val="000000">
                <a:alpha val="12000"/>
              </a:srgbClr>
            </a:outerShdw>
          </a:effectLst>
        </p:spPr>
        <p:txBody>
          <a:bodyPr/>
          <a:lstStyle/>
          <a:p>
            <a:endParaRPr lang="en-US"/>
          </a:p>
        </p:txBody>
      </p:sp>
      <p:sp>
        <p:nvSpPr>
          <p:cNvPr id="6" name="Fragile circle"/>
          <p:cNvSpPr/>
          <p:nvPr/>
        </p:nvSpPr>
        <p:spPr>
          <a:xfrm>
            <a:off x="731520" y="2084832"/>
            <a:ext cx="658368" cy="658368"/>
          </a:xfrm>
          <a:prstGeom prst="ellipse">
            <a:avLst/>
          </a:prstGeom>
          <a:solidFill>
            <a:schemeClr val="accent3"/>
          </a:solidFill>
          <a:ln w="12700">
            <a:solidFill>
              <a:schemeClr val="accent3"/>
            </a:solidFill>
            <a:prstDash val="solid"/>
          </a:ln>
        </p:spPr>
        <p:txBody>
          <a:bodyPr/>
          <a:lstStyle/>
          <a:p>
            <a:endParaRPr lang="en-US"/>
          </a:p>
        </p:txBody>
      </p:sp>
      <p:pic>
        <p:nvPicPr>
          <p:cNvPr id="7" name="Fragile icon" descr="Fragile"/>
          <p:cNvPicPr>
            <a:picLocks noChangeAspect="1"/>
          </p:cNvPicPr>
          <p:nvPr/>
        </p:nvPicPr>
        <p:blipFill>
          <a:blip r:embed="rId3"/>
          <a:stretch>
            <a:fillRect/>
          </a:stretch>
        </p:blipFill>
        <p:spPr>
          <a:xfrm>
            <a:off x="902696" y="2256008"/>
            <a:ext cx="316017" cy="316017"/>
          </a:xfrm>
          <a:prstGeom prst="rect">
            <a:avLst/>
          </a:prstGeom>
        </p:spPr>
      </p:pic>
      <p:sp>
        <p:nvSpPr>
          <p:cNvPr id="8" name="Fragile name"/>
          <p:cNvSpPr txBox="1"/>
          <p:nvPr/>
        </p:nvSpPr>
        <p:spPr>
          <a:xfrm>
            <a:off x="1554480" y="2157984"/>
            <a:ext cx="2651760" cy="502920"/>
          </a:xfrm>
          <a:prstGeom prst="rect">
            <a:avLst/>
          </a:prstGeom>
          <a:noFill/>
          <a:ln/>
        </p:spPr>
        <p:txBody>
          <a:bodyPr wrap="square" lIns="0" tIns="0" rIns="0" bIns="0" rtlCol="0" anchor="ctr"/>
          <a:lstStyle/>
          <a:p>
            <a:pPr marL="0" indent="0">
              <a:buNone/>
            </a:pPr>
            <a:r>
              <a:rPr lang="en-US" sz="2400" b="1" dirty="0">
                <a:solidFill>
                  <a:schemeClr val="tx1"/>
                </a:solidFill>
                <a:latin typeface="Calibri" pitchFamily="34" charset="0"/>
                <a:ea typeface="Calibri" pitchFamily="34" charset="-122"/>
                <a:cs typeface="Calibri" pitchFamily="34" charset="-120"/>
              </a:rPr>
              <a:t>Fragile</a:t>
            </a:r>
            <a:endParaRPr lang="en-US" sz="2400" dirty="0"/>
          </a:p>
        </p:txBody>
      </p:sp>
      <p:sp>
        <p:nvSpPr>
          <p:cNvPr id="9" name="Fragile body"/>
          <p:cNvSpPr txBox="1"/>
          <p:nvPr/>
        </p:nvSpPr>
        <p:spPr>
          <a:xfrm>
            <a:off x="731520" y="2880360"/>
            <a:ext cx="3429000" cy="96012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Chronic reliance on AI-generated answers bypasses the effortful processing that builds understanding.</a:t>
            </a:r>
            <a:endParaRPr lang="en-US" sz="1500" dirty="0"/>
          </a:p>
        </p:txBody>
      </p:sp>
      <p:sp>
        <p:nvSpPr>
          <p:cNvPr id="10" name="Fragile pill"/>
          <p:cNvSpPr/>
          <p:nvPr/>
        </p:nvSpPr>
        <p:spPr>
          <a:xfrm>
            <a:off x="731520" y="4023360"/>
            <a:ext cx="3429000" cy="347472"/>
          </a:xfrm>
          <a:prstGeom prst="roundRect">
            <a:avLst>
              <a:gd name="adj" fmla="val 50000"/>
            </a:avLst>
          </a:prstGeom>
          <a:solidFill>
            <a:schemeClr val="bg1"/>
          </a:solidFill>
          <a:ln w="19050">
            <a:solidFill>
              <a:schemeClr val="tx1"/>
            </a:solidFill>
            <a:prstDash val="solid"/>
          </a:ln>
        </p:spPr>
        <p:txBody>
          <a:bodyPr/>
          <a:lstStyle/>
          <a:p>
            <a:endParaRPr lang="en-US"/>
          </a:p>
        </p:txBody>
      </p:sp>
      <p:sp>
        <p:nvSpPr>
          <p:cNvPr id="11" name="Fragile pill text"/>
          <p:cNvSpPr txBox="1"/>
          <p:nvPr/>
        </p:nvSpPr>
        <p:spPr>
          <a:xfrm>
            <a:off x="731520" y="4023360"/>
            <a:ext cx="3429000" cy="347472"/>
          </a:xfrm>
          <a:prstGeom prst="rect">
            <a:avLst/>
          </a:prstGeom>
          <a:noFill/>
          <a:ln/>
        </p:spPr>
        <p:txBody>
          <a:bodyPr wrap="square" lIns="0" tIns="0" rIns="0" bIns="0" rtlCol="0" anchor="ctr"/>
          <a:lstStyle/>
          <a:p>
            <a:pPr marL="0" indent="0" algn="ctr">
              <a:buNone/>
            </a:pPr>
            <a:r>
              <a:rPr lang="en-US" sz="1300" b="1" dirty="0">
                <a:solidFill>
                  <a:schemeClr val="tx1"/>
                </a:solidFill>
                <a:latin typeface="Calibri" pitchFamily="34" charset="0"/>
                <a:ea typeface="Calibri" pitchFamily="34" charset="-122"/>
                <a:cs typeface="Calibri" pitchFamily="34" charset="-120"/>
              </a:rPr>
              <a:t>Skips germane load</a:t>
            </a:r>
            <a:endParaRPr lang="en-US" sz="1300" dirty="0"/>
          </a:p>
        </p:txBody>
      </p:sp>
      <p:sp>
        <p:nvSpPr>
          <p:cNvPr id="12" name="Fortified card"/>
          <p:cNvSpPr/>
          <p:nvPr/>
        </p:nvSpPr>
        <p:spPr>
          <a:xfrm>
            <a:off x="4709160" y="1874520"/>
            <a:ext cx="3977640" cy="2697480"/>
          </a:xfrm>
          <a:prstGeom prst="roundRect">
            <a:avLst>
              <a:gd name="adj" fmla="val 2712"/>
            </a:avLst>
          </a:prstGeom>
          <a:solidFill>
            <a:schemeClr val="accent4"/>
          </a:solidFill>
          <a:ln w="12700">
            <a:solidFill>
              <a:schemeClr val="accent4"/>
            </a:solidFill>
            <a:prstDash val="solid"/>
          </a:ln>
          <a:effectLst>
            <a:outerShdw blurRad="76200" dist="19050" dir="5400000" algn="bl" rotWithShape="0">
              <a:srgbClr val="000000">
                <a:alpha val="12000"/>
              </a:srgbClr>
            </a:outerShdw>
          </a:effectLst>
        </p:spPr>
        <p:txBody>
          <a:bodyPr/>
          <a:lstStyle/>
          <a:p>
            <a:endParaRPr lang="en-US"/>
          </a:p>
        </p:txBody>
      </p:sp>
      <p:sp>
        <p:nvSpPr>
          <p:cNvPr id="13" name="Fortified circle"/>
          <p:cNvSpPr/>
          <p:nvPr/>
        </p:nvSpPr>
        <p:spPr>
          <a:xfrm>
            <a:off x="4983480" y="2084832"/>
            <a:ext cx="658368" cy="658368"/>
          </a:xfrm>
          <a:prstGeom prst="ellipse">
            <a:avLst/>
          </a:prstGeom>
          <a:solidFill>
            <a:schemeClr val="accent1"/>
          </a:solidFill>
          <a:ln w="12700">
            <a:solidFill>
              <a:schemeClr val="accent1"/>
            </a:solidFill>
            <a:prstDash val="solid"/>
          </a:ln>
        </p:spPr>
        <p:txBody>
          <a:bodyPr/>
          <a:lstStyle/>
          <a:p>
            <a:endParaRPr lang="en-US"/>
          </a:p>
        </p:txBody>
      </p:sp>
      <p:pic>
        <p:nvPicPr>
          <p:cNvPr id="14" name="Fortified icon" descr="Fortified"/>
          <p:cNvPicPr>
            <a:picLocks noChangeAspect="1"/>
          </p:cNvPicPr>
          <p:nvPr/>
        </p:nvPicPr>
        <p:blipFill>
          <a:blip r:embed="rId4"/>
          <a:stretch>
            <a:fillRect/>
          </a:stretch>
        </p:blipFill>
        <p:spPr>
          <a:xfrm>
            <a:off x="5154656" y="2256008"/>
            <a:ext cx="316017" cy="316017"/>
          </a:xfrm>
          <a:prstGeom prst="rect">
            <a:avLst/>
          </a:prstGeom>
        </p:spPr>
      </p:pic>
      <p:sp>
        <p:nvSpPr>
          <p:cNvPr id="15" name="Fortified name"/>
          <p:cNvSpPr txBox="1"/>
          <p:nvPr/>
        </p:nvSpPr>
        <p:spPr>
          <a:xfrm>
            <a:off x="5806440" y="2157984"/>
            <a:ext cx="2651760" cy="502920"/>
          </a:xfrm>
          <a:prstGeom prst="rect">
            <a:avLst/>
          </a:prstGeom>
          <a:noFill/>
          <a:ln/>
        </p:spPr>
        <p:txBody>
          <a:bodyPr wrap="square" lIns="0" tIns="0" rIns="0" bIns="0" rtlCol="0" anchor="ctr"/>
          <a:lstStyle/>
          <a:p>
            <a:pPr marL="0" indent="0">
              <a:buNone/>
            </a:pPr>
            <a:r>
              <a:rPr lang="en-US" sz="2400" b="1" dirty="0">
                <a:solidFill>
                  <a:schemeClr val="tx2"/>
                </a:solidFill>
                <a:latin typeface="Calibri" pitchFamily="34" charset="0"/>
                <a:ea typeface="Calibri" pitchFamily="34" charset="-122"/>
                <a:cs typeface="Calibri" pitchFamily="34" charset="-120"/>
              </a:rPr>
              <a:t>Fortified</a:t>
            </a:r>
            <a:endParaRPr lang="en-US" sz="2400" dirty="0"/>
          </a:p>
        </p:txBody>
      </p:sp>
      <p:sp>
        <p:nvSpPr>
          <p:cNvPr id="16" name="Fortified body"/>
          <p:cNvSpPr txBox="1"/>
          <p:nvPr/>
        </p:nvSpPr>
        <p:spPr>
          <a:xfrm>
            <a:off x="4983480" y="2880360"/>
            <a:ext cx="3429000" cy="96012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Directing AI engagements to stimulate the effortful human processing that builds understanding.</a:t>
            </a:r>
            <a:endParaRPr lang="en-US" sz="1500" dirty="0"/>
          </a:p>
        </p:txBody>
      </p:sp>
      <p:sp>
        <p:nvSpPr>
          <p:cNvPr id="17" name="Fortified pill"/>
          <p:cNvSpPr/>
          <p:nvPr/>
        </p:nvSpPr>
        <p:spPr>
          <a:xfrm>
            <a:off x="4983480" y="4023360"/>
            <a:ext cx="3429000" cy="347472"/>
          </a:xfrm>
          <a:prstGeom prst="roundRect">
            <a:avLst>
              <a:gd name="adj" fmla="val 50000"/>
            </a:avLst>
          </a:prstGeom>
          <a:solidFill>
            <a:schemeClr val="bg1"/>
          </a:solidFill>
          <a:ln w="19050">
            <a:solidFill>
              <a:schemeClr val="tx2"/>
            </a:solidFill>
            <a:prstDash val="solid"/>
          </a:ln>
        </p:spPr>
        <p:txBody>
          <a:bodyPr/>
          <a:lstStyle/>
          <a:p>
            <a:endParaRPr lang="en-US"/>
          </a:p>
        </p:txBody>
      </p:sp>
      <p:sp>
        <p:nvSpPr>
          <p:cNvPr id="18" name="Fortified pill text"/>
          <p:cNvSpPr txBox="1"/>
          <p:nvPr/>
        </p:nvSpPr>
        <p:spPr>
          <a:xfrm>
            <a:off x="4983480" y="4023360"/>
            <a:ext cx="3429000" cy="347472"/>
          </a:xfrm>
          <a:prstGeom prst="rect">
            <a:avLst/>
          </a:prstGeom>
          <a:noFill/>
          <a:ln/>
        </p:spPr>
        <p:txBody>
          <a:bodyPr wrap="square" lIns="0" tIns="0" rIns="0" bIns="0" rtlCol="0" anchor="ctr"/>
          <a:lstStyle/>
          <a:p>
            <a:pPr marL="0" indent="0" algn="ctr">
              <a:buNone/>
            </a:pPr>
            <a:r>
              <a:rPr lang="en-US" sz="1300" b="1" dirty="0">
                <a:solidFill>
                  <a:schemeClr val="tx2"/>
                </a:solidFill>
                <a:latin typeface="Calibri" pitchFamily="34" charset="0"/>
                <a:ea typeface="Calibri" pitchFamily="34" charset="-122"/>
                <a:cs typeface="Calibri" pitchFamily="34" charset="-120"/>
              </a:rPr>
              <a:t>Scaffolds germane load</a:t>
            </a:r>
            <a:endParaRPr lang="en-US" sz="1300" dirty="0"/>
          </a:p>
        </p:txBody>
      </p:sp>
      <p:sp>
        <p:nvSpPr>
          <p:cNvPr id="19" name="Citation"/>
          <p:cNvSpPr txBox="1"/>
          <p:nvPr/>
        </p:nvSpPr>
        <p:spPr>
          <a:xfrm>
            <a:off x="457200" y="4754880"/>
            <a:ext cx="7772400" cy="256032"/>
          </a:xfrm>
          <a:prstGeom prst="rect">
            <a:avLst/>
          </a:prstGeom>
          <a:noFill/>
          <a:ln/>
        </p:spPr>
        <p:txBody>
          <a:bodyPr wrap="square" lIns="0" tIns="0" rIns="0" bIns="0" rtlCol="0" anchor="ctr"/>
          <a:lstStyle/>
          <a:p>
            <a:pPr marL="0" indent="0">
              <a:buNone/>
            </a:pPr>
            <a:r>
              <a:rPr lang="en-US" sz="1000" dirty="0">
                <a:solidFill>
                  <a:schemeClr val="accent3"/>
                </a:solidFill>
                <a:latin typeface="Calibri" pitchFamily="34" charset="0"/>
                <a:ea typeface="Calibri" pitchFamily="34" charset="-122"/>
                <a:cs typeface="Calibri" pitchFamily="34" charset="-120"/>
              </a:rPr>
              <a:t>Klein &amp; Klein (2025); Sweller et al. (1998)</a:t>
            </a:r>
            <a:endParaRPr lang="en-US" sz="1000" dirty="0"/>
          </a:p>
        </p:txBody>
      </p:sp>
      <p:sp>
        <p:nvSpPr>
          <p:cNvPr id="25" name="Slide Number Placeholder 0"/>
          <p:cNvSpPr>
            <a:spLocks noGrp="1"/>
          </p:cNvSpPr>
          <p:nvPr>
            <p:ph type="sldNum" sz="quarter" idx="4294967295"/>
          </p:nvPr>
        </p:nvSpPr>
        <p:spPr>
          <a:xfrm>
            <a:off x="841248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3"/>
                </a:solidFill>
              </a:defRPr>
            </a:lvl1pPr>
          </a:lstStyle>
          <a:p>
            <a:pPr algn="r"/>
            <a:fld id="{F7021451-1387-4CA6-816F-3879F97B5CBC}" type="slidenum">
              <a:rPr lang="en-US" b="0"/>
              <a:t>16</a:t>
            </a:fld>
            <a:endParaRPr lang="en-US"/>
          </a:p>
        </p:txBody>
      </p:sp>
      <p:sp>
        <p:nvSpPr>
          <p:cNvPr id="20" name="Down Arrow Callout 19">
            <a:extLst>
              <a:ext uri="{FF2B5EF4-FFF2-40B4-BE49-F238E27FC236}">
                <a16:creationId xmlns:a16="http://schemas.microsoft.com/office/drawing/2014/main" id="{E738D051-448F-4203-0B35-D7C7436FD588}"/>
              </a:ext>
            </a:extLst>
          </p:cNvPr>
          <p:cNvSpPr/>
          <p:nvPr/>
        </p:nvSpPr>
        <p:spPr>
          <a:xfrm>
            <a:off x="6860115" y="1543715"/>
            <a:ext cx="2141334" cy="907542"/>
          </a:xfrm>
          <a:prstGeom prst="downArrowCallou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1"/>
                </a:solidFill>
              </a:rPr>
              <a:t>Design for this!</a:t>
            </a:r>
          </a:p>
        </p:txBody>
      </p:sp>
    </p:spTree>
    <p:extLst>
      <p:ext uri="{BB962C8B-B14F-4D97-AF65-F5344CB8AC3E}">
        <p14:creationId xmlns:p14="http://schemas.microsoft.com/office/powerpoint/2010/main" val="3762933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par>
                                <p:cTn id="34" presetID="10" presetClass="entr" presetSubtype="0"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500"/>
                                        <p:tgtEl>
                                          <p:spTgt spid="1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500"/>
                                        <p:tgtEl>
                                          <p:spTgt spid="17"/>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500"/>
                                        <p:tgtEl>
                                          <p:spTgt spid="18"/>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1" grpId="0" animBg="1"/>
      <p:bldP spid="12" grpId="0" animBg="1"/>
      <p:bldP spid="13" grpId="0" animBg="1"/>
      <p:bldP spid="15" grpId="0" animBg="1"/>
      <p:bldP spid="16" grpId="0" animBg="1"/>
      <p:bldP spid="17" grpId="0" animBg="1"/>
      <p:bldP spid="18" grpId="0" animBg="1"/>
      <p:bldP spid="2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74AC8-F381-9025-E676-ACD43576411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DA38C3D-3E48-5E86-353E-F91D7FA91A13}"/>
              </a:ext>
            </a:extLst>
          </p:cNvPr>
          <p:cNvSpPr>
            <a:spLocks noGrp="1"/>
          </p:cNvSpPr>
          <p:nvPr>
            <p:ph type="title" idx="100" hasCustomPrompt="1"/>
          </p:nvPr>
        </p:nvSpPr>
        <p:spPr>
          <a:xfrm>
            <a:off x="457200" y="256032"/>
            <a:ext cx="8229600" cy="685800"/>
          </a:xfrm>
          <a:prstGeom prst="rect">
            <a:avLst/>
          </a:prstGeom>
          <a:noFill/>
          <a:ln/>
        </p:spPr>
        <p:txBody>
          <a:bodyPr wrap="square" lIns="0" tIns="0" rIns="0" bIns="0" rtlCol="0" anchor="ctr"/>
          <a:lstStyle/>
          <a:p>
            <a:pPr marL="0" indent="0" algn="ctr">
              <a:buNone/>
            </a:pPr>
            <a:r>
              <a:rPr lang="en-US" sz="3400" b="1" dirty="0">
                <a:solidFill>
                  <a:schemeClr val="tx2"/>
                </a:solidFill>
              </a:rPr>
              <a:t>The AI Literacy Continuum</a:t>
            </a:r>
            <a:endParaRPr lang="en-US" sz="3400" dirty="0"/>
          </a:p>
        </p:txBody>
      </p:sp>
      <p:sp>
        <p:nvSpPr>
          <p:cNvPr id="3" name="Level 1 step">
            <a:extLst>
              <a:ext uri="{FF2B5EF4-FFF2-40B4-BE49-F238E27FC236}">
                <a16:creationId xmlns:a16="http://schemas.microsoft.com/office/drawing/2014/main" id="{39FDDD4E-A641-2C1E-36CE-AE7641AD43C8}"/>
              </a:ext>
            </a:extLst>
          </p:cNvPr>
          <p:cNvSpPr/>
          <p:nvPr/>
        </p:nvSpPr>
        <p:spPr>
          <a:xfrm>
            <a:off x="457200" y="2240280"/>
            <a:ext cx="1554480" cy="2286000"/>
          </a:xfrm>
          <a:prstGeom prst="roundRect">
            <a:avLst>
              <a:gd name="adj" fmla="val 3529"/>
            </a:avLst>
          </a:prstGeom>
          <a:solidFill>
            <a:schemeClr val="bg2"/>
          </a:solidFill>
          <a:ln w="12700">
            <a:solidFill>
              <a:schemeClr val="bg2"/>
            </a:solidFill>
            <a:prstDash val="solid"/>
          </a:ln>
        </p:spPr>
        <p:txBody>
          <a:bodyPr/>
          <a:lstStyle/>
          <a:p>
            <a:endParaRPr lang="en-US"/>
          </a:p>
        </p:txBody>
      </p:sp>
      <p:sp>
        <p:nvSpPr>
          <p:cNvPr id="4" name="Level 1 number">
            <a:extLst>
              <a:ext uri="{FF2B5EF4-FFF2-40B4-BE49-F238E27FC236}">
                <a16:creationId xmlns:a16="http://schemas.microsoft.com/office/drawing/2014/main" id="{A8B84B58-5F6A-6076-12E0-A8BD7536D18B}"/>
              </a:ext>
            </a:extLst>
          </p:cNvPr>
          <p:cNvSpPr txBox="1"/>
          <p:nvPr/>
        </p:nvSpPr>
        <p:spPr>
          <a:xfrm>
            <a:off x="566928" y="2350008"/>
            <a:ext cx="1335024" cy="201168"/>
          </a:xfrm>
          <a:prstGeom prst="rect">
            <a:avLst/>
          </a:prstGeom>
          <a:noFill/>
          <a:ln/>
        </p:spPr>
        <p:txBody>
          <a:bodyPr wrap="square" lIns="0" tIns="0" rIns="0" bIns="0" rtlCol="0" anchor="t"/>
          <a:lstStyle/>
          <a:p>
            <a:pPr marL="0" indent="0">
              <a:buNone/>
            </a:pPr>
            <a:r>
              <a:rPr lang="en-US" sz="1000" b="1" kern="0" spc="100" dirty="0">
                <a:solidFill>
                  <a:schemeClr val="accent3"/>
                </a:solidFill>
                <a:latin typeface="Calibri" pitchFamily="34" charset="0"/>
                <a:ea typeface="Calibri" pitchFamily="34" charset="-122"/>
                <a:cs typeface="Calibri" pitchFamily="34" charset="-120"/>
              </a:rPr>
              <a:t>LEVEL 1</a:t>
            </a:r>
            <a:endParaRPr lang="en-US" sz="1000" dirty="0"/>
          </a:p>
        </p:txBody>
      </p:sp>
      <p:sp>
        <p:nvSpPr>
          <p:cNvPr id="5" name="Level 1 name">
            <a:extLst>
              <a:ext uri="{FF2B5EF4-FFF2-40B4-BE49-F238E27FC236}">
                <a16:creationId xmlns:a16="http://schemas.microsoft.com/office/drawing/2014/main" id="{EA28656E-5A60-7F13-E005-FC064C7BFBBC}"/>
              </a:ext>
            </a:extLst>
          </p:cNvPr>
          <p:cNvSpPr txBox="1"/>
          <p:nvPr/>
        </p:nvSpPr>
        <p:spPr>
          <a:xfrm>
            <a:off x="566928" y="2569464"/>
            <a:ext cx="1371600" cy="457200"/>
          </a:xfrm>
          <a:prstGeom prst="rect">
            <a:avLst/>
          </a:prstGeom>
          <a:noFill/>
          <a:ln/>
        </p:spPr>
        <p:txBody>
          <a:bodyPr wrap="square" lIns="0" tIns="0" rIns="0" bIns="0" rtlCol="0" anchor="t"/>
          <a:lstStyle/>
          <a:p>
            <a:pPr marL="0" indent="0">
              <a:buNone/>
            </a:pPr>
            <a:r>
              <a:rPr lang="en-US" sz="1400" b="1" dirty="0">
                <a:solidFill>
                  <a:schemeClr val="tx1"/>
                </a:solidFill>
                <a:latin typeface="Calibri" pitchFamily="34" charset="0"/>
                <a:ea typeface="Calibri" pitchFamily="34" charset="-122"/>
                <a:cs typeface="Calibri" pitchFamily="34" charset="-120"/>
              </a:rPr>
              <a:t>No AI Use</a:t>
            </a:r>
            <a:endParaRPr lang="en-US" sz="1400" dirty="0"/>
          </a:p>
        </p:txBody>
      </p:sp>
      <p:sp>
        <p:nvSpPr>
          <p:cNvPr id="6" name="Level 1 descriptor">
            <a:extLst>
              <a:ext uri="{FF2B5EF4-FFF2-40B4-BE49-F238E27FC236}">
                <a16:creationId xmlns:a16="http://schemas.microsoft.com/office/drawing/2014/main" id="{C5E20CFD-075F-E304-E27C-5DC59571FB9B}"/>
              </a:ext>
            </a:extLst>
          </p:cNvPr>
          <p:cNvSpPr txBox="1"/>
          <p:nvPr/>
        </p:nvSpPr>
        <p:spPr>
          <a:xfrm>
            <a:off x="566928" y="3063240"/>
            <a:ext cx="1353312" cy="457200"/>
          </a:xfrm>
          <a:prstGeom prst="rect">
            <a:avLst/>
          </a:prstGeom>
          <a:noFill/>
          <a:ln/>
        </p:spPr>
        <p:txBody>
          <a:bodyPr wrap="square" lIns="0" tIns="0" rIns="0" bIns="0" rtlCol="0" anchor="t"/>
          <a:lstStyle/>
          <a:p>
            <a:pPr marL="0" indent="0">
              <a:buNone/>
            </a:pPr>
            <a:r>
              <a:rPr lang="en-US" sz="1200" dirty="0">
                <a:solidFill>
                  <a:schemeClr val="accent3"/>
                </a:solidFill>
                <a:latin typeface="Calibri" pitchFamily="34" charset="0"/>
                <a:ea typeface="Calibri" pitchFamily="34" charset="-122"/>
                <a:cs typeface="Calibri" pitchFamily="34" charset="-120"/>
              </a:rPr>
              <a:t>Work completed without AI</a:t>
            </a:r>
            <a:endParaRPr lang="en-US" sz="1200" dirty="0"/>
          </a:p>
        </p:txBody>
      </p:sp>
      <p:sp>
        <p:nvSpPr>
          <p:cNvPr id="7" name="Level 1 why label">
            <a:extLst>
              <a:ext uri="{FF2B5EF4-FFF2-40B4-BE49-F238E27FC236}">
                <a16:creationId xmlns:a16="http://schemas.microsoft.com/office/drawing/2014/main" id="{CBD6DD05-AD86-62C0-57DF-3D96323D6D42}"/>
              </a:ext>
            </a:extLst>
          </p:cNvPr>
          <p:cNvSpPr txBox="1"/>
          <p:nvPr/>
        </p:nvSpPr>
        <p:spPr>
          <a:xfrm>
            <a:off x="566928" y="3566160"/>
            <a:ext cx="1335024" cy="182880"/>
          </a:xfrm>
          <a:prstGeom prst="rect">
            <a:avLst/>
          </a:prstGeom>
          <a:noFill/>
          <a:ln/>
        </p:spPr>
        <p:txBody>
          <a:bodyPr wrap="square" lIns="0" tIns="0" rIns="0" bIns="0" rtlCol="0" anchor="t"/>
          <a:lstStyle/>
          <a:p>
            <a:pPr marL="0" indent="0">
              <a:buNone/>
            </a:pPr>
            <a:r>
              <a:rPr lang="en-US" sz="1000" b="1" kern="0" spc="200" dirty="0">
                <a:solidFill>
                  <a:schemeClr val="tx2"/>
                </a:solidFill>
                <a:latin typeface="Calibri" pitchFamily="34" charset="0"/>
                <a:ea typeface="Calibri" pitchFamily="34" charset="-122"/>
                <a:cs typeface="Calibri" pitchFamily="34" charset="-120"/>
              </a:rPr>
              <a:t>WHY</a:t>
            </a:r>
            <a:endParaRPr lang="en-US" sz="1000" dirty="0"/>
          </a:p>
        </p:txBody>
      </p:sp>
      <p:sp>
        <p:nvSpPr>
          <p:cNvPr id="8" name="Level 1 why">
            <a:extLst>
              <a:ext uri="{FF2B5EF4-FFF2-40B4-BE49-F238E27FC236}">
                <a16:creationId xmlns:a16="http://schemas.microsoft.com/office/drawing/2014/main" id="{3D5507CC-E411-E4DB-3B3F-4F74575F4394}"/>
              </a:ext>
            </a:extLst>
          </p:cNvPr>
          <p:cNvSpPr txBox="1"/>
          <p:nvPr/>
        </p:nvSpPr>
        <p:spPr>
          <a:xfrm>
            <a:off x="566928" y="3758184"/>
            <a:ext cx="1353312" cy="548640"/>
          </a:xfrm>
          <a:prstGeom prst="rect">
            <a:avLst/>
          </a:prstGeom>
          <a:noFill/>
          <a:ln/>
        </p:spPr>
        <p:txBody>
          <a:bodyPr wrap="square" lIns="0" tIns="0" rIns="0" bIns="0" rtlCol="0" anchor="t"/>
          <a:lstStyle/>
          <a:p>
            <a:pPr marL="0" indent="0">
              <a:buNone/>
            </a:pPr>
            <a:r>
              <a:rPr lang="en-US" sz="1200" b="1" dirty="0">
                <a:solidFill>
                  <a:schemeClr val="tx1"/>
                </a:solidFill>
                <a:latin typeface="Calibri" pitchFamily="34" charset="0"/>
                <a:ea typeface="Calibri" pitchFamily="34" charset="-122"/>
                <a:cs typeface="Calibri" pitchFamily="34" charset="-120"/>
              </a:rPr>
              <a:t>Evidence of independent competence (e.g., domain knowledge)</a:t>
            </a:r>
            <a:endParaRPr lang="en-US" sz="1200" dirty="0"/>
          </a:p>
        </p:txBody>
      </p:sp>
      <p:sp>
        <p:nvSpPr>
          <p:cNvPr id="9" name="Level 2 step">
            <a:extLst>
              <a:ext uri="{FF2B5EF4-FFF2-40B4-BE49-F238E27FC236}">
                <a16:creationId xmlns:a16="http://schemas.microsoft.com/office/drawing/2014/main" id="{6039FB93-4D8F-B805-4048-587C441EE0EC}"/>
              </a:ext>
            </a:extLst>
          </p:cNvPr>
          <p:cNvSpPr/>
          <p:nvPr/>
        </p:nvSpPr>
        <p:spPr>
          <a:xfrm>
            <a:off x="2103120" y="2002536"/>
            <a:ext cx="1554480" cy="2523744"/>
          </a:xfrm>
          <a:prstGeom prst="roundRect">
            <a:avLst>
              <a:gd name="adj" fmla="val 3529"/>
            </a:avLst>
          </a:prstGeom>
          <a:solidFill>
            <a:schemeClr val="accent4"/>
          </a:solidFill>
          <a:ln w="12700">
            <a:solidFill>
              <a:schemeClr val="accent4"/>
            </a:solidFill>
            <a:prstDash val="solid"/>
          </a:ln>
        </p:spPr>
        <p:txBody>
          <a:bodyPr/>
          <a:lstStyle/>
          <a:p>
            <a:endParaRPr lang="en-US"/>
          </a:p>
        </p:txBody>
      </p:sp>
      <p:sp>
        <p:nvSpPr>
          <p:cNvPr id="10" name="Level 2 number">
            <a:extLst>
              <a:ext uri="{FF2B5EF4-FFF2-40B4-BE49-F238E27FC236}">
                <a16:creationId xmlns:a16="http://schemas.microsoft.com/office/drawing/2014/main" id="{8A924121-16CF-2EF0-A611-72390A2BE535}"/>
              </a:ext>
            </a:extLst>
          </p:cNvPr>
          <p:cNvSpPr txBox="1"/>
          <p:nvPr/>
        </p:nvSpPr>
        <p:spPr>
          <a:xfrm>
            <a:off x="2212848" y="2112264"/>
            <a:ext cx="1335024" cy="201168"/>
          </a:xfrm>
          <a:prstGeom prst="rect">
            <a:avLst/>
          </a:prstGeom>
          <a:noFill/>
          <a:ln/>
        </p:spPr>
        <p:txBody>
          <a:bodyPr wrap="square" lIns="0" tIns="0" rIns="0" bIns="0" rtlCol="0" anchor="t"/>
          <a:lstStyle/>
          <a:p>
            <a:pPr marL="0" indent="0">
              <a:buNone/>
            </a:pPr>
            <a:r>
              <a:rPr lang="en-US" sz="1000" b="1" kern="0" spc="100" dirty="0">
                <a:solidFill>
                  <a:schemeClr val="tx1"/>
                </a:solidFill>
                <a:latin typeface="Calibri" pitchFamily="34" charset="0"/>
                <a:ea typeface="Calibri" pitchFamily="34" charset="-122"/>
                <a:cs typeface="Calibri" pitchFamily="34" charset="-120"/>
              </a:rPr>
              <a:t>LEVEL 2</a:t>
            </a:r>
            <a:endParaRPr lang="en-US" sz="1000" dirty="0"/>
          </a:p>
        </p:txBody>
      </p:sp>
      <p:sp>
        <p:nvSpPr>
          <p:cNvPr id="11" name="Level 2 name">
            <a:extLst>
              <a:ext uri="{FF2B5EF4-FFF2-40B4-BE49-F238E27FC236}">
                <a16:creationId xmlns:a16="http://schemas.microsoft.com/office/drawing/2014/main" id="{9F291543-423D-5197-AB8F-29254CB8CEE2}"/>
              </a:ext>
            </a:extLst>
          </p:cNvPr>
          <p:cNvSpPr txBox="1"/>
          <p:nvPr/>
        </p:nvSpPr>
        <p:spPr>
          <a:xfrm>
            <a:off x="2212848" y="2331720"/>
            <a:ext cx="1371600" cy="457200"/>
          </a:xfrm>
          <a:prstGeom prst="rect">
            <a:avLst/>
          </a:prstGeom>
          <a:noFill/>
          <a:ln/>
        </p:spPr>
        <p:txBody>
          <a:bodyPr wrap="square" lIns="0" tIns="0" rIns="0" bIns="0" rtlCol="0" anchor="t"/>
          <a:lstStyle/>
          <a:p>
            <a:pPr marL="0" indent="0">
              <a:buNone/>
            </a:pPr>
            <a:r>
              <a:rPr lang="en-US" sz="1400" b="1" dirty="0">
                <a:solidFill>
                  <a:schemeClr val="tx2"/>
                </a:solidFill>
                <a:latin typeface="Calibri" pitchFamily="34" charset="0"/>
                <a:ea typeface="Calibri" pitchFamily="34" charset="-122"/>
                <a:cs typeface="Calibri" pitchFamily="34" charset="-120"/>
              </a:rPr>
              <a:t>Limited AI Use</a:t>
            </a:r>
            <a:endParaRPr lang="en-US" sz="1400" dirty="0"/>
          </a:p>
        </p:txBody>
      </p:sp>
      <p:sp>
        <p:nvSpPr>
          <p:cNvPr id="12" name="Level 2 descriptor">
            <a:extLst>
              <a:ext uri="{FF2B5EF4-FFF2-40B4-BE49-F238E27FC236}">
                <a16:creationId xmlns:a16="http://schemas.microsoft.com/office/drawing/2014/main" id="{9134159E-1ECA-BBC1-AC17-D3F6A7CBFFAD}"/>
              </a:ext>
            </a:extLst>
          </p:cNvPr>
          <p:cNvSpPr txBox="1"/>
          <p:nvPr/>
        </p:nvSpPr>
        <p:spPr>
          <a:xfrm>
            <a:off x="2212848" y="2825496"/>
            <a:ext cx="1353312" cy="457200"/>
          </a:xfrm>
          <a:prstGeom prst="rect">
            <a:avLst/>
          </a:prstGeom>
          <a:noFill/>
          <a:ln/>
        </p:spPr>
        <p:txBody>
          <a:bodyPr wrap="square" lIns="0" tIns="0" rIns="0" bIns="0" rtlCol="0" anchor="t"/>
          <a:lstStyle/>
          <a:p>
            <a:pPr marL="0" indent="0">
              <a:buNone/>
            </a:pPr>
            <a:r>
              <a:rPr lang="en-US" sz="1200" dirty="0">
                <a:solidFill>
                  <a:schemeClr val="tx1"/>
                </a:solidFill>
                <a:latin typeface="Calibri" pitchFamily="34" charset="0"/>
                <a:ea typeface="Calibri" pitchFamily="34" charset="-122"/>
                <a:cs typeface="Calibri" pitchFamily="34" charset="-120"/>
              </a:rPr>
              <a:t>AI for narrow, specified tasks</a:t>
            </a:r>
            <a:endParaRPr lang="en-US" sz="1200" dirty="0"/>
          </a:p>
        </p:txBody>
      </p:sp>
      <p:sp>
        <p:nvSpPr>
          <p:cNvPr id="13" name="Level 2 why label">
            <a:extLst>
              <a:ext uri="{FF2B5EF4-FFF2-40B4-BE49-F238E27FC236}">
                <a16:creationId xmlns:a16="http://schemas.microsoft.com/office/drawing/2014/main" id="{480B2C3D-C7E3-DABF-4A68-90CAE349A0E1}"/>
              </a:ext>
            </a:extLst>
          </p:cNvPr>
          <p:cNvSpPr txBox="1"/>
          <p:nvPr/>
        </p:nvSpPr>
        <p:spPr>
          <a:xfrm>
            <a:off x="2212848" y="3328416"/>
            <a:ext cx="1335024" cy="182880"/>
          </a:xfrm>
          <a:prstGeom prst="rect">
            <a:avLst/>
          </a:prstGeom>
          <a:noFill/>
          <a:ln/>
        </p:spPr>
        <p:txBody>
          <a:bodyPr wrap="square" lIns="0" tIns="0" rIns="0" bIns="0" rtlCol="0" anchor="t"/>
          <a:lstStyle/>
          <a:p>
            <a:pPr marL="0" indent="0">
              <a:buNone/>
            </a:pPr>
            <a:r>
              <a:rPr lang="en-US" sz="1000" b="1" kern="0" spc="200" dirty="0">
                <a:solidFill>
                  <a:schemeClr val="tx2"/>
                </a:solidFill>
                <a:latin typeface="Calibri" pitchFamily="34" charset="0"/>
                <a:ea typeface="Calibri" pitchFamily="34" charset="-122"/>
                <a:cs typeface="Calibri" pitchFamily="34" charset="-120"/>
              </a:rPr>
              <a:t>WHY</a:t>
            </a:r>
            <a:endParaRPr lang="en-US" sz="1000" dirty="0"/>
          </a:p>
        </p:txBody>
      </p:sp>
      <p:sp>
        <p:nvSpPr>
          <p:cNvPr id="14" name="Level 2 why">
            <a:extLst>
              <a:ext uri="{FF2B5EF4-FFF2-40B4-BE49-F238E27FC236}">
                <a16:creationId xmlns:a16="http://schemas.microsoft.com/office/drawing/2014/main" id="{330D5624-E016-0C5E-D405-6A24EB18ABE8}"/>
              </a:ext>
            </a:extLst>
          </p:cNvPr>
          <p:cNvSpPr txBox="1"/>
          <p:nvPr/>
        </p:nvSpPr>
        <p:spPr>
          <a:xfrm>
            <a:off x="2212848" y="3520440"/>
            <a:ext cx="1353312" cy="548640"/>
          </a:xfrm>
          <a:prstGeom prst="rect">
            <a:avLst/>
          </a:prstGeom>
          <a:noFill/>
          <a:ln/>
        </p:spPr>
        <p:txBody>
          <a:bodyPr wrap="square" lIns="0" tIns="0" rIns="0" bIns="0" rtlCol="0" anchor="t"/>
          <a:lstStyle/>
          <a:p>
            <a:pPr marL="0" indent="0">
              <a:buNone/>
            </a:pPr>
            <a:r>
              <a:rPr lang="en-US" sz="1200" b="1" dirty="0">
                <a:solidFill>
                  <a:schemeClr val="tx2"/>
                </a:solidFill>
                <a:latin typeface="Calibri" pitchFamily="34" charset="0"/>
                <a:ea typeface="Calibri" pitchFamily="34" charset="-122"/>
                <a:cs typeface="Calibri" pitchFamily="34" charset="-120"/>
              </a:rPr>
              <a:t>Lower non-essential barriers (e.g., grammar)</a:t>
            </a:r>
            <a:endParaRPr lang="en-US" sz="1200" dirty="0"/>
          </a:p>
        </p:txBody>
      </p:sp>
      <p:sp>
        <p:nvSpPr>
          <p:cNvPr id="15" name="Level 3 step">
            <a:extLst>
              <a:ext uri="{FF2B5EF4-FFF2-40B4-BE49-F238E27FC236}">
                <a16:creationId xmlns:a16="http://schemas.microsoft.com/office/drawing/2014/main" id="{67DB6D4B-06F6-8ACB-379D-CAF3B7249950}"/>
              </a:ext>
            </a:extLst>
          </p:cNvPr>
          <p:cNvSpPr/>
          <p:nvPr/>
        </p:nvSpPr>
        <p:spPr>
          <a:xfrm>
            <a:off x="3749040" y="1764792"/>
            <a:ext cx="1554480" cy="2761488"/>
          </a:xfrm>
          <a:prstGeom prst="roundRect">
            <a:avLst>
              <a:gd name="adj" fmla="val 3529"/>
            </a:avLst>
          </a:prstGeom>
          <a:solidFill>
            <a:srgbClr val="4F7A63"/>
          </a:solidFill>
          <a:ln w="12700">
            <a:solidFill>
              <a:srgbClr val="4F7A63"/>
            </a:solidFill>
            <a:prstDash val="solid"/>
          </a:ln>
        </p:spPr>
        <p:txBody>
          <a:bodyPr/>
          <a:lstStyle/>
          <a:p>
            <a:endParaRPr lang="en-US"/>
          </a:p>
        </p:txBody>
      </p:sp>
      <p:sp>
        <p:nvSpPr>
          <p:cNvPr id="16" name="Level 3 number">
            <a:extLst>
              <a:ext uri="{FF2B5EF4-FFF2-40B4-BE49-F238E27FC236}">
                <a16:creationId xmlns:a16="http://schemas.microsoft.com/office/drawing/2014/main" id="{494B6CDE-FC38-5F81-85DC-72CD3B467FD8}"/>
              </a:ext>
            </a:extLst>
          </p:cNvPr>
          <p:cNvSpPr txBox="1"/>
          <p:nvPr/>
        </p:nvSpPr>
        <p:spPr>
          <a:xfrm>
            <a:off x="3858768" y="1874520"/>
            <a:ext cx="1335024" cy="201168"/>
          </a:xfrm>
          <a:prstGeom prst="rect">
            <a:avLst/>
          </a:prstGeom>
          <a:noFill/>
          <a:ln/>
        </p:spPr>
        <p:txBody>
          <a:bodyPr wrap="square" lIns="0" tIns="0" rIns="0" bIns="0" rtlCol="0" anchor="t"/>
          <a:lstStyle/>
          <a:p>
            <a:pPr marL="0" indent="0">
              <a:buNone/>
            </a:pPr>
            <a:r>
              <a:rPr lang="en-US" sz="1000" b="1" kern="0" spc="100" dirty="0">
                <a:solidFill>
                  <a:schemeClr val="bg1"/>
                </a:solidFill>
                <a:latin typeface="Calibri" pitchFamily="34" charset="0"/>
                <a:ea typeface="Calibri" pitchFamily="34" charset="-122"/>
                <a:cs typeface="Calibri" pitchFamily="34" charset="-120"/>
              </a:rPr>
              <a:t>LEVEL 3</a:t>
            </a:r>
            <a:endParaRPr lang="en-US" sz="1000" dirty="0"/>
          </a:p>
        </p:txBody>
      </p:sp>
      <p:sp>
        <p:nvSpPr>
          <p:cNvPr id="17" name="Level 3 name">
            <a:extLst>
              <a:ext uri="{FF2B5EF4-FFF2-40B4-BE49-F238E27FC236}">
                <a16:creationId xmlns:a16="http://schemas.microsoft.com/office/drawing/2014/main" id="{9B4D95AD-68E0-DEB1-6CE4-50CA48CEFF7D}"/>
              </a:ext>
            </a:extLst>
          </p:cNvPr>
          <p:cNvSpPr txBox="1"/>
          <p:nvPr/>
        </p:nvSpPr>
        <p:spPr>
          <a:xfrm>
            <a:off x="3858768" y="2093976"/>
            <a:ext cx="1371600" cy="457200"/>
          </a:xfrm>
          <a:prstGeom prst="rect">
            <a:avLst/>
          </a:prstGeom>
          <a:noFill/>
          <a:ln/>
        </p:spPr>
        <p:txBody>
          <a:bodyPr wrap="square" lIns="0" tIns="0" rIns="0" bIns="0" rtlCol="0" anchor="t"/>
          <a:lstStyle/>
          <a:p>
            <a:pPr marL="0" indent="0">
              <a:buNone/>
            </a:pPr>
            <a:r>
              <a:rPr lang="en-US" sz="1400" b="1" dirty="0">
                <a:solidFill>
                  <a:schemeClr val="bg1"/>
                </a:solidFill>
                <a:latin typeface="Calibri" pitchFamily="34" charset="0"/>
                <a:ea typeface="Calibri" pitchFamily="34" charset="-122"/>
                <a:cs typeface="Calibri" pitchFamily="34" charset="-120"/>
              </a:rPr>
              <a:t>Collaborative AI Use</a:t>
            </a:r>
            <a:endParaRPr lang="en-US" sz="1400" dirty="0"/>
          </a:p>
        </p:txBody>
      </p:sp>
      <p:sp>
        <p:nvSpPr>
          <p:cNvPr id="18" name="Level 3 descriptor">
            <a:extLst>
              <a:ext uri="{FF2B5EF4-FFF2-40B4-BE49-F238E27FC236}">
                <a16:creationId xmlns:a16="http://schemas.microsoft.com/office/drawing/2014/main" id="{604075F9-61FA-D973-9102-65B2678329C5}"/>
              </a:ext>
            </a:extLst>
          </p:cNvPr>
          <p:cNvSpPr txBox="1"/>
          <p:nvPr/>
        </p:nvSpPr>
        <p:spPr>
          <a:xfrm>
            <a:off x="3858768" y="2587752"/>
            <a:ext cx="1353312" cy="457200"/>
          </a:xfrm>
          <a:prstGeom prst="rect">
            <a:avLst/>
          </a:prstGeom>
          <a:noFill/>
          <a:ln/>
        </p:spPr>
        <p:txBody>
          <a:bodyPr wrap="square" lIns="0" tIns="0" rIns="0" bIns="0" rtlCol="0" anchor="t"/>
          <a:lstStyle/>
          <a:p>
            <a:pPr marL="0" indent="0">
              <a:buNone/>
            </a:pPr>
            <a:r>
              <a:rPr lang="en-US" sz="1200" dirty="0">
                <a:solidFill>
                  <a:schemeClr val="bg1"/>
                </a:solidFill>
                <a:latin typeface="Calibri" pitchFamily="34" charset="0"/>
                <a:ea typeface="Calibri" pitchFamily="34" charset="-122"/>
                <a:cs typeface="Calibri" pitchFamily="34" charset="-120"/>
              </a:rPr>
              <a:t>AI as a thought partner throughout</a:t>
            </a:r>
            <a:endParaRPr lang="en-US" sz="1200" dirty="0"/>
          </a:p>
        </p:txBody>
      </p:sp>
      <p:sp>
        <p:nvSpPr>
          <p:cNvPr id="19" name="Level 3 why label">
            <a:extLst>
              <a:ext uri="{FF2B5EF4-FFF2-40B4-BE49-F238E27FC236}">
                <a16:creationId xmlns:a16="http://schemas.microsoft.com/office/drawing/2014/main" id="{C7DE76D8-40C9-BFA0-0B22-4A41F29D2650}"/>
              </a:ext>
            </a:extLst>
          </p:cNvPr>
          <p:cNvSpPr txBox="1"/>
          <p:nvPr/>
        </p:nvSpPr>
        <p:spPr>
          <a:xfrm>
            <a:off x="3858768" y="3090672"/>
            <a:ext cx="1335024" cy="182880"/>
          </a:xfrm>
          <a:prstGeom prst="rect">
            <a:avLst/>
          </a:prstGeom>
          <a:noFill/>
          <a:ln/>
        </p:spPr>
        <p:txBody>
          <a:bodyPr wrap="square" lIns="0" tIns="0" rIns="0" bIns="0" rtlCol="0" anchor="t"/>
          <a:lstStyle/>
          <a:p>
            <a:pPr marL="0" indent="0">
              <a:buNone/>
            </a:pPr>
            <a:r>
              <a:rPr lang="en-US" sz="1000" b="1" kern="0" spc="200" dirty="0">
                <a:solidFill>
                  <a:schemeClr val="accent2"/>
                </a:solidFill>
                <a:latin typeface="Calibri" pitchFamily="34" charset="0"/>
                <a:ea typeface="Calibri" pitchFamily="34" charset="-122"/>
                <a:cs typeface="Calibri" pitchFamily="34" charset="-120"/>
              </a:rPr>
              <a:t>WHY</a:t>
            </a:r>
            <a:endParaRPr lang="en-US" sz="1000" dirty="0"/>
          </a:p>
        </p:txBody>
      </p:sp>
      <p:sp>
        <p:nvSpPr>
          <p:cNvPr id="20" name="Level 3 why">
            <a:extLst>
              <a:ext uri="{FF2B5EF4-FFF2-40B4-BE49-F238E27FC236}">
                <a16:creationId xmlns:a16="http://schemas.microsoft.com/office/drawing/2014/main" id="{67BE719E-A0F3-C50F-8970-3CD98B2A9904}"/>
              </a:ext>
            </a:extLst>
          </p:cNvPr>
          <p:cNvSpPr txBox="1"/>
          <p:nvPr/>
        </p:nvSpPr>
        <p:spPr>
          <a:xfrm>
            <a:off x="3858768" y="3282696"/>
            <a:ext cx="1353312" cy="548640"/>
          </a:xfrm>
          <a:prstGeom prst="rect">
            <a:avLst/>
          </a:prstGeom>
          <a:noFill/>
          <a:ln/>
        </p:spPr>
        <p:txBody>
          <a:bodyPr wrap="square" lIns="0" tIns="0" rIns="0" bIns="0" rtlCol="0" anchor="t"/>
          <a:lstStyle/>
          <a:p>
            <a:pPr marL="0" indent="0">
              <a:buNone/>
            </a:pPr>
            <a:r>
              <a:rPr lang="en-US" sz="1200" b="1" dirty="0">
                <a:solidFill>
                  <a:schemeClr val="bg1"/>
                </a:solidFill>
                <a:latin typeface="Calibri" pitchFamily="34" charset="0"/>
                <a:ea typeface="Calibri" pitchFamily="34" charset="-122"/>
                <a:cs typeface="Calibri" pitchFamily="34" charset="-120"/>
              </a:rPr>
              <a:t>Engage critical thinking through reflection</a:t>
            </a:r>
            <a:endParaRPr lang="en-US" sz="1200" dirty="0"/>
          </a:p>
        </p:txBody>
      </p:sp>
      <p:sp>
        <p:nvSpPr>
          <p:cNvPr id="21" name="Level 4 step">
            <a:extLst>
              <a:ext uri="{FF2B5EF4-FFF2-40B4-BE49-F238E27FC236}">
                <a16:creationId xmlns:a16="http://schemas.microsoft.com/office/drawing/2014/main" id="{EAD299FD-9F06-B7F6-251C-171CB3948F10}"/>
              </a:ext>
            </a:extLst>
          </p:cNvPr>
          <p:cNvSpPr/>
          <p:nvPr/>
        </p:nvSpPr>
        <p:spPr>
          <a:xfrm>
            <a:off x="5394960" y="1527048"/>
            <a:ext cx="1554480" cy="2999232"/>
          </a:xfrm>
          <a:prstGeom prst="roundRect">
            <a:avLst>
              <a:gd name="adj" fmla="val 3529"/>
            </a:avLst>
          </a:prstGeom>
          <a:solidFill>
            <a:schemeClr val="accent1"/>
          </a:solidFill>
          <a:ln w="12700">
            <a:solidFill>
              <a:schemeClr val="accent1"/>
            </a:solidFill>
            <a:prstDash val="solid"/>
          </a:ln>
        </p:spPr>
        <p:txBody>
          <a:bodyPr/>
          <a:lstStyle/>
          <a:p>
            <a:endParaRPr lang="en-US"/>
          </a:p>
        </p:txBody>
      </p:sp>
      <p:sp>
        <p:nvSpPr>
          <p:cNvPr id="22" name="Level 4 number">
            <a:extLst>
              <a:ext uri="{FF2B5EF4-FFF2-40B4-BE49-F238E27FC236}">
                <a16:creationId xmlns:a16="http://schemas.microsoft.com/office/drawing/2014/main" id="{E91237ED-CF8E-0201-BD89-243C7427D7E0}"/>
              </a:ext>
            </a:extLst>
          </p:cNvPr>
          <p:cNvSpPr txBox="1"/>
          <p:nvPr/>
        </p:nvSpPr>
        <p:spPr>
          <a:xfrm>
            <a:off x="5504688" y="1636776"/>
            <a:ext cx="1335024" cy="201168"/>
          </a:xfrm>
          <a:prstGeom prst="rect">
            <a:avLst/>
          </a:prstGeom>
          <a:noFill/>
          <a:ln/>
        </p:spPr>
        <p:txBody>
          <a:bodyPr wrap="square" lIns="0" tIns="0" rIns="0" bIns="0" rtlCol="0" anchor="t"/>
          <a:lstStyle/>
          <a:p>
            <a:pPr marL="0" indent="0">
              <a:buNone/>
            </a:pPr>
            <a:r>
              <a:rPr lang="en-US" sz="1000" b="1" kern="0" spc="100" dirty="0">
                <a:solidFill>
                  <a:srgbClr val="E3ECE6"/>
                </a:solidFill>
                <a:latin typeface="Calibri" pitchFamily="34" charset="0"/>
                <a:ea typeface="Calibri" pitchFamily="34" charset="-122"/>
                <a:cs typeface="Calibri" pitchFamily="34" charset="-120"/>
              </a:rPr>
              <a:t>LEVEL 4</a:t>
            </a:r>
            <a:endParaRPr lang="en-US" sz="1000" dirty="0"/>
          </a:p>
        </p:txBody>
      </p:sp>
      <p:sp>
        <p:nvSpPr>
          <p:cNvPr id="23" name="Level 4 name">
            <a:extLst>
              <a:ext uri="{FF2B5EF4-FFF2-40B4-BE49-F238E27FC236}">
                <a16:creationId xmlns:a16="http://schemas.microsoft.com/office/drawing/2014/main" id="{10661CDF-4EBD-00C4-4C8D-A190A563699A}"/>
              </a:ext>
            </a:extLst>
          </p:cNvPr>
          <p:cNvSpPr txBox="1"/>
          <p:nvPr/>
        </p:nvSpPr>
        <p:spPr>
          <a:xfrm>
            <a:off x="5504688" y="1856232"/>
            <a:ext cx="1371600" cy="457200"/>
          </a:xfrm>
          <a:prstGeom prst="rect">
            <a:avLst/>
          </a:prstGeom>
          <a:noFill/>
          <a:ln/>
        </p:spPr>
        <p:txBody>
          <a:bodyPr wrap="square" lIns="0" tIns="0" rIns="0" bIns="0" rtlCol="0" anchor="t"/>
          <a:lstStyle/>
          <a:p>
            <a:pPr marL="0" indent="0">
              <a:buNone/>
            </a:pPr>
            <a:r>
              <a:rPr lang="en-US" sz="1400" b="1" dirty="0">
                <a:solidFill>
                  <a:schemeClr val="bg1"/>
                </a:solidFill>
                <a:latin typeface="Calibri" pitchFamily="34" charset="0"/>
                <a:ea typeface="Calibri" pitchFamily="34" charset="-122"/>
                <a:cs typeface="Calibri" pitchFamily="34" charset="-120"/>
              </a:rPr>
              <a:t>Integrated AI Use</a:t>
            </a:r>
            <a:endParaRPr lang="en-US" sz="1400" dirty="0"/>
          </a:p>
        </p:txBody>
      </p:sp>
      <p:sp>
        <p:nvSpPr>
          <p:cNvPr id="24" name="Level 4 descriptor">
            <a:extLst>
              <a:ext uri="{FF2B5EF4-FFF2-40B4-BE49-F238E27FC236}">
                <a16:creationId xmlns:a16="http://schemas.microsoft.com/office/drawing/2014/main" id="{958053E9-31E2-44CB-29BD-8CCBA3D342EA}"/>
              </a:ext>
            </a:extLst>
          </p:cNvPr>
          <p:cNvSpPr txBox="1"/>
          <p:nvPr/>
        </p:nvSpPr>
        <p:spPr>
          <a:xfrm>
            <a:off x="5504688" y="2350008"/>
            <a:ext cx="1353312" cy="457200"/>
          </a:xfrm>
          <a:prstGeom prst="rect">
            <a:avLst/>
          </a:prstGeom>
          <a:noFill/>
          <a:ln/>
        </p:spPr>
        <p:txBody>
          <a:bodyPr wrap="square" lIns="0" tIns="0" rIns="0" bIns="0" rtlCol="0" anchor="t"/>
          <a:lstStyle/>
          <a:p>
            <a:pPr marL="0" indent="0">
              <a:buNone/>
            </a:pPr>
            <a:r>
              <a:rPr lang="en-US" sz="1200" dirty="0">
                <a:solidFill>
                  <a:srgbClr val="E3ECE6"/>
                </a:solidFill>
                <a:latin typeface="Calibri" pitchFamily="34" charset="0"/>
                <a:ea typeface="Calibri" pitchFamily="34" charset="-122"/>
                <a:cs typeface="Calibri" pitchFamily="34" charset="-120"/>
              </a:rPr>
              <a:t>AI woven in as in professional practice</a:t>
            </a:r>
            <a:endParaRPr lang="en-US" sz="1200" dirty="0"/>
          </a:p>
        </p:txBody>
      </p:sp>
      <p:sp>
        <p:nvSpPr>
          <p:cNvPr id="25" name="Level 4 why label">
            <a:extLst>
              <a:ext uri="{FF2B5EF4-FFF2-40B4-BE49-F238E27FC236}">
                <a16:creationId xmlns:a16="http://schemas.microsoft.com/office/drawing/2014/main" id="{168640BB-2E90-2761-7EA4-F451D392F08C}"/>
              </a:ext>
            </a:extLst>
          </p:cNvPr>
          <p:cNvSpPr txBox="1"/>
          <p:nvPr/>
        </p:nvSpPr>
        <p:spPr>
          <a:xfrm>
            <a:off x="5504688" y="2852928"/>
            <a:ext cx="1335024" cy="182880"/>
          </a:xfrm>
          <a:prstGeom prst="rect">
            <a:avLst/>
          </a:prstGeom>
          <a:noFill/>
          <a:ln/>
        </p:spPr>
        <p:txBody>
          <a:bodyPr wrap="square" lIns="0" tIns="0" rIns="0" bIns="0" rtlCol="0" anchor="t"/>
          <a:lstStyle/>
          <a:p>
            <a:pPr marL="0" indent="0">
              <a:buNone/>
            </a:pPr>
            <a:r>
              <a:rPr lang="en-US" sz="1000" b="1" kern="0" spc="200" dirty="0">
                <a:solidFill>
                  <a:schemeClr val="accent2"/>
                </a:solidFill>
                <a:latin typeface="Calibri" pitchFamily="34" charset="0"/>
                <a:ea typeface="Calibri" pitchFamily="34" charset="-122"/>
                <a:cs typeface="Calibri" pitchFamily="34" charset="-120"/>
              </a:rPr>
              <a:t>WHY</a:t>
            </a:r>
            <a:endParaRPr lang="en-US" sz="1000" dirty="0"/>
          </a:p>
        </p:txBody>
      </p:sp>
      <p:sp>
        <p:nvSpPr>
          <p:cNvPr id="26" name="Level 4 why">
            <a:extLst>
              <a:ext uri="{FF2B5EF4-FFF2-40B4-BE49-F238E27FC236}">
                <a16:creationId xmlns:a16="http://schemas.microsoft.com/office/drawing/2014/main" id="{EB85D62F-030E-A485-C618-10E42A956AFC}"/>
              </a:ext>
            </a:extLst>
          </p:cNvPr>
          <p:cNvSpPr txBox="1"/>
          <p:nvPr/>
        </p:nvSpPr>
        <p:spPr>
          <a:xfrm>
            <a:off x="5504688" y="3044952"/>
            <a:ext cx="1353312" cy="548640"/>
          </a:xfrm>
          <a:prstGeom prst="rect">
            <a:avLst/>
          </a:prstGeom>
          <a:noFill/>
          <a:ln/>
        </p:spPr>
        <p:txBody>
          <a:bodyPr wrap="square" lIns="0" tIns="0" rIns="0" bIns="0" rtlCol="0" anchor="t"/>
          <a:lstStyle/>
          <a:p>
            <a:pPr marL="0" indent="0">
              <a:buNone/>
            </a:pPr>
            <a:r>
              <a:rPr lang="en-US" sz="1200" b="1" dirty="0">
                <a:solidFill>
                  <a:schemeClr val="bg1"/>
                </a:solidFill>
                <a:latin typeface="Calibri" pitchFamily="34" charset="0"/>
                <a:ea typeface="Calibri" pitchFamily="34" charset="-122"/>
                <a:cs typeface="Calibri" pitchFamily="34" charset="-120"/>
              </a:rPr>
              <a:t>Co-create with human-directed interaction</a:t>
            </a:r>
            <a:endParaRPr lang="en-US" sz="1200" dirty="0"/>
          </a:p>
        </p:txBody>
      </p:sp>
      <p:sp>
        <p:nvSpPr>
          <p:cNvPr id="27" name="Level 5 step">
            <a:extLst>
              <a:ext uri="{FF2B5EF4-FFF2-40B4-BE49-F238E27FC236}">
                <a16:creationId xmlns:a16="http://schemas.microsoft.com/office/drawing/2014/main" id="{7BC7F2BB-04FD-035A-F372-E2C9D525B5A7}"/>
              </a:ext>
            </a:extLst>
          </p:cNvPr>
          <p:cNvSpPr/>
          <p:nvPr/>
        </p:nvSpPr>
        <p:spPr>
          <a:xfrm>
            <a:off x="7040880" y="1289304"/>
            <a:ext cx="1554480" cy="3236976"/>
          </a:xfrm>
          <a:prstGeom prst="roundRect">
            <a:avLst>
              <a:gd name="adj" fmla="val 3529"/>
            </a:avLst>
          </a:prstGeom>
          <a:solidFill>
            <a:schemeClr val="tx1"/>
          </a:solidFill>
          <a:ln w="12700">
            <a:solidFill>
              <a:schemeClr val="tx1"/>
            </a:solidFill>
            <a:prstDash val="solid"/>
          </a:ln>
        </p:spPr>
        <p:txBody>
          <a:bodyPr/>
          <a:lstStyle/>
          <a:p>
            <a:endParaRPr lang="en-US"/>
          </a:p>
        </p:txBody>
      </p:sp>
      <p:sp>
        <p:nvSpPr>
          <p:cNvPr id="28" name="Level 5 number">
            <a:extLst>
              <a:ext uri="{FF2B5EF4-FFF2-40B4-BE49-F238E27FC236}">
                <a16:creationId xmlns:a16="http://schemas.microsoft.com/office/drawing/2014/main" id="{B25FC8F8-4D40-EE0F-7B69-E9A8931B5EF2}"/>
              </a:ext>
            </a:extLst>
          </p:cNvPr>
          <p:cNvSpPr txBox="1"/>
          <p:nvPr/>
        </p:nvSpPr>
        <p:spPr>
          <a:xfrm>
            <a:off x="7150608" y="1399032"/>
            <a:ext cx="1335024" cy="201168"/>
          </a:xfrm>
          <a:prstGeom prst="rect">
            <a:avLst/>
          </a:prstGeom>
          <a:noFill/>
          <a:ln/>
        </p:spPr>
        <p:txBody>
          <a:bodyPr wrap="square" lIns="0" tIns="0" rIns="0" bIns="0" rtlCol="0" anchor="t"/>
          <a:lstStyle/>
          <a:p>
            <a:pPr marL="0" indent="0">
              <a:buNone/>
            </a:pPr>
            <a:r>
              <a:rPr lang="en-US" sz="1000" b="1" kern="0" spc="100" dirty="0">
                <a:solidFill>
                  <a:schemeClr val="bg1"/>
                </a:solidFill>
                <a:latin typeface="Calibri" pitchFamily="34" charset="0"/>
                <a:ea typeface="Calibri" pitchFamily="34" charset="-122"/>
                <a:cs typeface="Calibri" pitchFamily="34" charset="-120"/>
              </a:rPr>
              <a:t>LEVEL 5</a:t>
            </a:r>
            <a:endParaRPr lang="en-US" sz="1000" dirty="0"/>
          </a:p>
        </p:txBody>
      </p:sp>
      <p:sp>
        <p:nvSpPr>
          <p:cNvPr id="29" name="Level 5 name">
            <a:extLst>
              <a:ext uri="{FF2B5EF4-FFF2-40B4-BE49-F238E27FC236}">
                <a16:creationId xmlns:a16="http://schemas.microsoft.com/office/drawing/2014/main" id="{0B39BD6F-29BE-FD7F-4C49-EDCE8D2354AA}"/>
              </a:ext>
            </a:extLst>
          </p:cNvPr>
          <p:cNvSpPr txBox="1"/>
          <p:nvPr/>
        </p:nvSpPr>
        <p:spPr>
          <a:xfrm>
            <a:off x="7150608" y="1618488"/>
            <a:ext cx="1371600" cy="457200"/>
          </a:xfrm>
          <a:prstGeom prst="rect">
            <a:avLst/>
          </a:prstGeom>
          <a:noFill/>
          <a:ln/>
        </p:spPr>
        <p:txBody>
          <a:bodyPr wrap="square" lIns="0" tIns="0" rIns="0" bIns="0" rtlCol="0" anchor="t"/>
          <a:lstStyle/>
          <a:p>
            <a:pPr marL="0" indent="0">
              <a:buNone/>
            </a:pPr>
            <a:r>
              <a:rPr lang="en-US" sz="1400" b="1" dirty="0">
                <a:solidFill>
                  <a:schemeClr val="accent2"/>
                </a:solidFill>
                <a:latin typeface="Calibri" pitchFamily="34" charset="0"/>
                <a:ea typeface="Calibri" pitchFamily="34" charset="-122"/>
                <a:cs typeface="Calibri" pitchFamily="34" charset="-120"/>
              </a:rPr>
              <a:t>AI Innovation</a:t>
            </a:r>
            <a:endParaRPr lang="en-US" sz="1400" dirty="0"/>
          </a:p>
        </p:txBody>
      </p:sp>
      <p:sp>
        <p:nvSpPr>
          <p:cNvPr id="30" name="Level 5 descriptor">
            <a:extLst>
              <a:ext uri="{FF2B5EF4-FFF2-40B4-BE49-F238E27FC236}">
                <a16:creationId xmlns:a16="http://schemas.microsoft.com/office/drawing/2014/main" id="{F7648CBF-FB4E-35A2-B5B5-A93E2C321321}"/>
              </a:ext>
            </a:extLst>
          </p:cNvPr>
          <p:cNvSpPr txBox="1"/>
          <p:nvPr/>
        </p:nvSpPr>
        <p:spPr>
          <a:xfrm>
            <a:off x="7150608" y="2112264"/>
            <a:ext cx="1353312" cy="457200"/>
          </a:xfrm>
          <a:prstGeom prst="rect">
            <a:avLst/>
          </a:prstGeom>
          <a:noFill/>
          <a:ln/>
        </p:spPr>
        <p:txBody>
          <a:bodyPr wrap="square" lIns="0" tIns="0" rIns="0" bIns="0" rtlCol="0" anchor="t"/>
          <a:lstStyle/>
          <a:p>
            <a:pPr marL="0" indent="0">
              <a:buNone/>
            </a:pPr>
            <a:r>
              <a:rPr lang="en-US" sz="1200" dirty="0">
                <a:solidFill>
                  <a:schemeClr val="bg1"/>
                </a:solidFill>
                <a:latin typeface="Calibri" pitchFamily="34" charset="0"/>
                <a:ea typeface="Calibri" pitchFamily="34" charset="-122"/>
                <a:cs typeface="Calibri" pitchFamily="34" charset="-120"/>
              </a:rPr>
              <a:t>AI used to create novel approaches</a:t>
            </a:r>
            <a:endParaRPr lang="en-US" sz="1200" dirty="0"/>
          </a:p>
        </p:txBody>
      </p:sp>
      <p:sp>
        <p:nvSpPr>
          <p:cNvPr id="31" name="Level 5 why label">
            <a:extLst>
              <a:ext uri="{FF2B5EF4-FFF2-40B4-BE49-F238E27FC236}">
                <a16:creationId xmlns:a16="http://schemas.microsoft.com/office/drawing/2014/main" id="{5709E97C-C290-A59C-527B-0A7F967A051F}"/>
              </a:ext>
            </a:extLst>
          </p:cNvPr>
          <p:cNvSpPr txBox="1"/>
          <p:nvPr/>
        </p:nvSpPr>
        <p:spPr>
          <a:xfrm>
            <a:off x="7150608" y="2615184"/>
            <a:ext cx="1335024" cy="182880"/>
          </a:xfrm>
          <a:prstGeom prst="rect">
            <a:avLst/>
          </a:prstGeom>
          <a:noFill/>
          <a:ln/>
        </p:spPr>
        <p:txBody>
          <a:bodyPr wrap="square" lIns="0" tIns="0" rIns="0" bIns="0" rtlCol="0" anchor="t"/>
          <a:lstStyle/>
          <a:p>
            <a:pPr marL="0" indent="0">
              <a:buNone/>
            </a:pPr>
            <a:r>
              <a:rPr lang="en-US" sz="1000" b="1" kern="0" spc="200" dirty="0">
                <a:solidFill>
                  <a:schemeClr val="accent2"/>
                </a:solidFill>
                <a:latin typeface="Calibri" pitchFamily="34" charset="0"/>
                <a:ea typeface="Calibri" pitchFamily="34" charset="-122"/>
                <a:cs typeface="Calibri" pitchFamily="34" charset="-120"/>
              </a:rPr>
              <a:t>WHY</a:t>
            </a:r>
            <a:endParaRPr lang="en-US" sz="1000" dirty="0"/>
          </a:p>
        </p:txBody>
      </p:sp>
      <p:sp>
        <p:nvSpPr>
          <p:cNvPr id="32" name="Level 5 why">
            <a:extLst>
              <a:ext uri="{FF2B5EF4-FFF2-40B4-BE49-F238E27FC236}">
                <a16:creationId xmlns:a16="http://schemas.microsoft.com/office/drawing/2014/main" id="{CD40F780-D0BE-6A0F-F131-F04840AEF3B5}"/>
              </a:ext>
            </a:extLst>
          </p:cNvPr>
          <p:cNvSpPr txBox="1"/>
          <p:nvPr/>
        </p:nvSpPr>
        <p:spPr>
          <a:xfrm>
            <a:off x="7150608" y="2807208"/>
            <a:ext cx="1353312" cy="548640"/>
          </a:xfrm>
          <a:prstGeom prst="rect">
            <a:avLst/>
          </a:prstGeom>
          <a:noFill/>
          <a:ln/>
        </p:spPr>
        <p:txBody>
          <a:bodyPr wrap="square" lIns="0" tIns="0" rIns="0" bIns="0" rtlCol="0" anchor="t"/>
          <a:lstStyle/>
          <a:p>
            <a:pPr marL="0" indent="0">
              <a:buNone/>
            </a:pPr>
            <a:r>
              <a:rPr lang="en-US" sz="1200" b="1" dirty="0">
                <a:solidFill>
                  <a:schemeClr val="accent2"/>
                </a:solidFill>
                <a:latin typeface="Calibri" pitchFamily="34" charset="0"/>
                <a:ea typeface="Calibri" pitchFamily="34" charset="-122"/>
                <a:cs typeface="Calibri" pitchFamily="34" charset="-120"/>
              </a:rPr>
              <a:t>Evidence of AI fluency (discernment and stewardship)</a:t>
            </a:r>
            <a:endParaRPr lang="en-US" sz="1200" dirty="0"/>
          </a:p>
        </p:txBody>
      </p:sp>
      <p:sp>
        <p:nvSpPr>
          <p:cNvPr id="33" name="Prompt card">
            <a:extLst>
              <a:ext uri="{FF2B5EF4-FFF2-40B4-BE49-F238E27FC236}">
                <a16:creationId xmlns:a16="http://schemas.microsoft.com/office/drawing/2014/main" id="{F55ABEBE-1C01-2C70-2A7B-21A5FCE8B792}"/>
              </a:ext>
            </a:extLst>
          </p:cNvPr>
          <p:cNvSpPr/>
          <p:nvPr/>
        </p:nvSpPr>
        <p:spPr>
          <a:xfrm>
            <a:off x="457200" y="1024128"/>
            <a:ext cx="3200400" cy="822960"/>
          </a:xfrm>
          <a:prstGeom prst="roundRect">
            <a:avLst>
              <a:gd name="adj" fmla="val 8889"/>
            </a:avLst>
          </a:prstGeom>
          <a:solidFill>
            <a:schemeClr val="accent5"/>
          </a:solidFill>
          <a:ln w="12700">
            <a:solidFill>
              <a:schemeClr val="accent5"/>
            </a:solidFill>
            <a:prstDash val="solid"/>
          </a:ln>
        </p:spPr>
        <p:txBody>
          <a:bodyPr/>
          <a:lstStyle/>
          <a:p>
            <a:endParaRPr lang="en-US"/>
          </a:p>
        </p:txBody>
      </p:sp>
      <p:sp>
        <p:nvSpPr>
          <p:cNvPr id="34" name="Prompt">
            <a:extLst>
              <a:ext uri="{FF2B5EF4-FFF2-40B4-BE49-F238E27FC236}">
                <a16:creationId xmlns:a16="http://schemas.microsoft.com/office/drawing/2014/main" id="{E45968FC-C5CA-ADC3-06C0-438D0BDE8C68}"/>
              </a:ext>
            </a:extLst>
          </p:cNvPr>
          <p:cNvSpPr txBox="1"/>
          <p:nvPr/>
        </p:nvSpPr>
        <p:spPr>
          <a:xfrm>
            <a:off x="621792" y="1042416"/>
            <a:ext cx="2926080" cy="786384"/>
          </a:xfrm>
          <a:prstGeom prst="rect">
            <a:avLst/>
          </a:prstGeom>
          <a:noFill/>
          <a:ln/>
        </p:spPr>
        <p:txBody>
          <a:bodyPr wrap="square" lIns="0" tIns="0" rIns="0" bIns="0" rtlCol="0" anchor="ctr"/>
          <a:lstStyle/>
          <a:p>
            <a:pPr marL="0" indent="0">
              <a:buNone/>
            </a:pPr>
            <a:r>
              <a:rPr lang="en-US" sz="1400" b="1" dirty="0">
                <a:solidFill>
                  <a:schemeClr val="tx1"/>
                </a:solidFill>
                <a:latin typeface="Calibri" pitchFamily="34" charset="0"/>
                <a:ea typeface="Calibri" pitchFamily="34" charset="-122"/>
                <a:cs typeface="Calibri" pitchFamily="34" charset="-120"/>
              </a:rPr>
              <a:t>Where does one of your assignments sit today?</a:t>
            </a:r>
            <a:endParaRPr lang="en-US" sz="1400" dirty="0"/>
          </a:p>
          <a:p>
            <a:pPr marL="0" indent="0">
              <a:buNone/>
            </a:pPr>
            <a:r>
              <a:rPr lang="en-US" sz="1400" dirty="0">
                <a:solidFill>
                  <a:schemeClr val="tx1"/>
                </a:solidFill>
                <a:latin typeface="Calibri" pitchFamily="34" charset="0"/>
                <a:ea typeface="Calibri" pitchFamily="34" charset="-122"/>
                <a:cs typeface="Calibri" pitchFamily="34" charset="-120"/>
              </a:rPr>
              <a:t>Where would you want it to sit?</a:t>
            </a:r>
            <a:endParaRPr lang="en-US" sz="1400" dirty="0"/>
          </a:p>
        </p:txBody>
      </p:sp>
      <p:sp>
        <p:nvSpPr>
          <p:cNvPr id="35" name="Citation">
            <a:extLst>
              <a:ext uri="{FF2B5EF4-FFF2-40B4-BE49-F238E27FC236}">
                <a16:creationId xmlns:a16="http://schemas.microsoft.com/office/drawing/2014/main" id="{3B733D49-0911-E802-FB3A-CD7B1EF3D718}"/>
              </a:ext>
            </a:extLst>
          </p:cNvPr>
          <p:cNvSpPr txBox="1"/>
          <p:nvPr/>
        </p:nvSpPr>
        <p:spPr>
          <a:xfrm>
            <a:off x="457200" y="4754880"/>
            <a:ext cx="7772400" cy="256032"/>
          </a:xfrm>
          <a:prstGeom prst="rect">
            <a:avLst/>
          </a:prstGeom>
          <a:noFill/>
          <a:ln/>
        </p:spPr>
        <p:txBody>
          <a:bodyPr wrap="square" lIns="0" tIns="0" rIns="0" bIns="0" rtlCol="0" anchor="ctr"/>
          <a:lstStyle/>
          <a:p>
            <a:pPr marL="0" indent="0">
              <a:buNone/>
            </a:pPr>
            <a:r>
              <a:rPr lang="en-US" sz="1000" dirty="0">
                <a:solidFill>
                  <a:schemeClr val="accent3"/>
                </a:solidFill>
                <a:latin typeface="Calibri" pitchFamily="34" charset="0"/>
                <a:ea typeface="Calibri" pitchFamily="34" charset="-122"/>
                <a:cs typeface="Calibri" pitchFamily="34" charset="-120"/>
              </a:rPr>
              <a:t>IWU AI Literacy Continuum (Bleistein &amp; Snyder, 2026), adapted from the AIAS (Perkins et al., 2024)</a:t>
            </a:r>
            <a:endParaRPr lang="en-US" sz="1000" dirty="0"/>
          </a:p>
        </p:txBody>
      </p:sp>
      <p:sp>
        <p:nvSpPr>
          <p:cNvPr id="36" name="Slide Number Placeholder 0">
            <a:extLst>
              <a:ext uri="{FF2B5EF4-FFF2-40B4-BE49-F238E27FC236}">
                <a16:creationId xmlns:a16="http://schemas.microsoft.com/office/drawing/2014/main" id="{0FE5D484-BAC2-0061-2BBE-8A8678B275EE}"/>
              </a:ext>
            </a:extLst>
          </p:cNvPr>
          <p:cNvSpPr>
            <a:spLocks noGrp="1"/>
          </p:cNvSpPr>
          <p:nvPr>
            <p:ph type="sldNum" sz="quarter" idx="4294967295"/>
          </p:nvPr>
        </p:nvSpPr>
        <p:spPr>
          <a:xfrm>
            <a:off x="841248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3"/>
                </a:solidFill>
              </a:defRPr>
            </a:lvl1pPr>
          </a:lstStyle>
          <a:p>
            <a:pPr algn="r"/>
            <a:fld id="{F7021451-1387-4CA6-816F-3879F97B5CBC}" type="slidenum">
              <a:rPr lang="en-US" b="0"/>
              <a:t>17</a:t>
            </a:fld>
            <a:endParaRPr lang="en-US"/>
          </a:p>
        </p:txBody>
      </p:sp>
    </p:spTree>
    <p:extLst>
      <p:ext uri="{BB962C8B-B14F-4D97-AF65-F5344CB8AC3E}">
        <p14:creationId xmlns:p14="http://schemas.microsoft.com/office/powerpoint/2010/main" val="2983073604"/>
      </p:ext>
    </p:extLst>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85800"/>
          </a:xfrm>
          <a:prstGeom prst="rect">
            <a:avLst/>
          </a:prstGeom>
          <a:noFill/>
          <a:ln/>
        </p:spPr>
        <p:txBody>
          <a:bodyPr wrap="square" lIns="0" tIns="0" rIns="0" bIns="0" rtlCol="0" anchor="ctr"/>
          <a:lstStyle/>
          <a:p>
            <a:pPr marL="0" indent="0" algn="ctr">
              <a:buNone/>
            </a:pPr>
            <a:r>
              <a:rPr lang="en-US" dirty="0"/>
              <a:t>Assignment Stress Test</a:t>
            </a:r>
            <a:endParaRPr lang="en-US" sz="3400" dirty="0"/>
          </a:p>
        </p:txBody>
      </p:sp>
      <p:sp>
        <p:nvSpPr>
          <p:cNvPr id="3" name="Move 1 card"/>
          <p:cNvSpPr/>
          <p:nvPr/>
        </p:nvSpPr>
        <p:spPr>
          <a:xfrm>
            <a:off x="457200" y="1143000"/>
            <a:ext cx="1883664" cy="2514600"/>
          </a:xfrm>
          <a:prstGeom prst="roundRect">
            <a:avLst>
              <a:gd name="adj" fmla="val 3883"/>
            </a:avLst>
          </a:prstGeom>
          <a:solidFill>
            <a:schemeClr val="bg2"/>
          </a:solidFill>
          <a:ln w="12700">
            <a:solidFill>
              <a:schemeClr val="bg2"/>
            </a:solidFill>
            <a:prstDash val="solid"/>
          </a:ln>
          <a:effectLst>
            <a:outerShdw blurRad="76200" dist="19050" dir="5400000" algn="bl" rotWithShape="0">
              <a:srgbClr val="000000">
                <a:alpha val="12000"/>
              </a:srgbClr>
            </a:outerShdw>
          </a:effectLst>
        </p:spPr>
        <p:txBody>
          <a:bodyPr/>
          <a:lstStyle/>
          <a:p>
            <a:endParaRPr lang="en-US"/>
          </a:p>
        </p:txBody>
      </p:sp>
      <p:sp>
        <p:nvSpPr>
          <p:cNvPr id="4" name="Move 1 number circle"/>
          <p:cNvSpPr/>
          <p:nvPr/>
        </p:nvSpPr>
        <p:spPr>
          <a:xfrm>
            <a:off x="640080" y="1325880"/>
            <a:ext cx="457200" cy="457200"/>
          </a:xfrm>
          <a:prstGeom prst="ellipse">
            <a:avLst/>
          </a:prstGeom>
          <a:solidFill>
            <a:schemeClr val="accent2"/>
          </a:solidFill>
          <a:ln w="12700">
            <a:solidFill>
              <a:schemeClr val="accent2"/>
            </a:solidFill>
            <a:prstDash val="solid"/>
          </a:ln>
        </p:spPr>
        <p:txBody>
          <a:bodyPr/>
          <a:lstStyle/>
          <a:p>
            <a:endParaRPr lang="en-US"/>
          </a:p>
        </p:txBody>
      </p:sp>
      <p:sp>
        <p:nvSpPr>
          <p:cNvPr id="5" name="Move 1 number"/>
          <p:cNvSpPr txBox="1"/>
          <p:nvPr/>
        </p:nvSpPr>
        <p:spPr>
          <a:xfrm>
            <a:off x="640080" y="1325880"/>
            <a:ext cx="457200" cy="457200"/>
          </a:xfrm>
          <a:prstGeom prst="rect">
            <a:avLst/>
          </a:prstGeom>
          <a:noFill/>
          <a:ln/>
        </p:spPr>
        <p:txBody>
          <a:bodyPr wrap="square" lIns="0" tIns="0" rIns="0" bIns="0" rtlCol="0" anchor="ctr"/>
          <a:lstStyle/>
          <a:p>
            <a:pPr marL="0" indent="0" algn="ctr">
              <a:buNone/>
            </a:pPr>
            <a:r>
              <a:rPr lang="en-US" sz="1800" b="1" dirty="0">
                <a:solidFill>
                  <a:schemeClr val="tx2"/>
                </a:solidFill>
                <a:latin typeface="Calibri" pitchFamily="34" charset="0"/>
                <a:ea typeface="Calibri" pitchFamily="34" charset="-122"/>
                <a:cs typeface="Calibri" pitchFamily="34" charset="-120"/>
              </a:rPr>
              <a:t>1</a:t>
            </a:r>
            <a:endParaRPr lang="en-US" sz="1800" dirty="0"/>
          </a:p>
        </p:txBody>
      </p:sp>
      <p:pic>
        <p:nvPicPr>
          <p:cNvPr id="6" name="Move 1 icon" descr="List"/>
          <p:cNvPicPr>
            <a:picLocks noChangeAspect="1"/>
          </p:cNvPicPr>
          <p:nvPr/>
        </p:nvPicPr>
        <p:blipFill>
          <a:blip r:embed="rId3"/>
          <a:stretch>
            <a:fillRect/>
          </a:stretch>
        </p:blipFill>
        <p:spPr>
          <a:xfrm>
            <a:off x="1792224" y="1389888"/>
            <a:ext cx="347472" cy="347472"/>
          </a:xfrm>
          <a:prstGeom prst="rect">
            <a:avLst/>
          </a:prstGeom>
        </p:spPr>
      </p:pic>
      <p:sp>
        <p:nvSpPr>
          <p:cNvPr id="7" name="Move 1 heading"/>
          <p:cNvSpPr txBox="1"/>
          <p:nvPr/>
        </p:nvSpPr>
        <p:spPr>
          <a:xfrm>
            <a:off x="640080" y="1920240"/>
            <a:ext cx="1563624" cy="384048"/>
          </a:xfrm>
          <a:prstGeom prst="rect">
            <a:avLst/>
          </a:prstGeom>
          <a:noFill/>
          <a:ln/>
        </p:spPr>
        <p:txBody>
          <a:bodyPr wrap="square" lIns="0" tIns="0" rIns="0" bIns="0" rtlCol="0" anchor="t"/>
          <a:lstStyle/>
          <a:p>
            <a:pPr marL="0" indent="0">
              <a:buNone/>
            </a:pPr>
            <a:r>
              <a:rPr lang="en-US" sz="2000" b="1" dirty="0">
                <a:solidFill>
                  <a:schemeClr val="tx2"/>
                </a:solidFill>
                <a:latin typeface="Calibri" pitchFamily="34" charset="0"/>
                <a:ea typeface="Calibri" pitchFamily="34" charset="-122"/>
                <a:cs typeface="Calibri" pitchFamily="34" charset="-120"/>
              </a:rPr>
              <a:t>List</a:t>
            </a:r>
            <a:endParaRPr lang="en-US" sz="2000" dirty="0"/>
          </a:p>
        </p:txBody>
      </p:sp>
      <p:sp>
        <p:nvSpPr>
          <p:cNvPr id="8" name="Move 1 what"/>
          <p:cNvSpPr txBox="1"/>
          <p:nvPr/>
        </p:nvSpPr>
        <p:spPr>
          <a:xfrm>
            <a:off x="640080" y="2331720"/>
            <a:ext cx="1563624" cy="594360"/>
          </a:xfrm>
          <a:prstGeom prst="rect">
            <a:avLst/>
          </a:prstGeom>
          <a:noFill/>
          <a:ln/>
        </p:spPr>
        <p:txBody>
          <a:bodyPr wrap="square" lIns="0" tIns="0" rIns="0" bIns="0" rtlCol="0" anchor="t"/>
          <a:lstStyle/>
          <a:p>
            <a:pPr marL="0" indent="0">
              <a:buNone/>
            </a:pPr>
            <a:r>
              <a:rPr lang="en-US" sz="1400" b="1" dirty="0">
                <a:solidFill>
                  <a:schemeClr val="tx1"/>
                </a:solidFill>
                <a:latin typeface="Calibri" pitchFamily="34" charset="0"/>
                <a:ea typeface="Calibri" pitchFamily="34" charset="-122"/>
                <a:cs typeface="Calibri" pitchFamily="34" charset="-120"/>
              </a:rPr>
              <a:t>What students do, step by step</a:t>
            </a:r>
            <a:endParaRPr lang="en-US" sz="1400" dirty="0"/>
          </a:p>
        </p:txBody>
      </p:sp>
      <p:sp>
        <p:nvSpPr>
          <p:cNvPr id="9" name="Move 1 detail"/>
          <p:cNvSpPr txBox="1"/>
          <p:nvPr/>
        </p:nvSpPr>
        <p:spPr>
          <a:xfrm>
            <a:off x="640080" y="2926080"/>
            <a:ext cx="1563624" cy="640080"/>
          </a:xfrm>
          <a:prstGeom prst="rect">
            <a:avLst/>
          </a:prstGeom>
          <a:noFill/>
          <a:ln/>
        </p:spPr>
        <p:txBody>
          <a:bodyPr wrap="square" lIns="0" tIns="0" rIns="0" bIns="0" rtlCol="0" anchor="t"/>
          <a:lstStyle/>
          <a:p>
            <a:pPr marL="0" indent="0">
              <a:buNone/>
            </a:pPr>
            <a:r>
              <a:rPr lang="en-US" sz="1300" dirty="0">
                <a:solidFill>
                  <a:schemeClr val="accent3"/>
                </a:solidFill>
                <a:latin typeface="Calibri" pitchFamily="34" charset="0"/>
                <a:ea typeface="Calibri" pitchFamily="34" charset="-122"/>
                <a:cs typeface="Calibri" pitchFamily="34" charset="-120"/>
              </a:rPr>
              <a:t>The visible work, one task per line</a:t>
            </a:r>
            <a:endParaRPr lang="en-US" sz="1300" dirty="0"/>
          </a:p>
        </p:txBody>
      </p:sp>
      <p:sp>
        <p:nvSpPr>
          <p:cNvPr id="10" name="Move 2 card"/>
          <p:cNvSpPr/>
          <p:nvPr/>
        </p:nvSpPr>
        <p:spPr>
          <a:xfrm>
            <a:off x="2569464" y="1143000"/>
            <a:ext cx="1883664" cy="2514600"/>
          </a:xfrm>
          <a:prstGeom prst="roundRect">
            <a:avLst>
              <a:gd name="adj" fmla="val 3883"/>
            </a:avLst>
          </a:prstGeom>
          <a:solidFill>
            <a:schemeClr val="bg2"/>
          </a:solidFill>
          <a:ln w="12700">
            <a:solidFill>
              <a:schemeClr val="bg2"/>
            </a:solidFill>
            <a:prstDash val="solid"/>
          </a:ln>
          <a:effectLst>
            <a:outerShdw blurRad="76200" dist="19050" dir="5400000" algn="bl" rotWithShape="0">
              <a:srgbClr val="000000">
                <a:alpha val="12000"/>
              </a:srgbClr>
            </a:outerShdw>
          </a:effectLst>
        </p:spPr>
        <p:txBody>
          <a:bodyPr/>
          <a:lstStyle/>
          <a:p>
            <a:endParaRPr lang="en-US"/>
          </a:p>
        </p:txBody>
      </p:sp>
      <p:sp>
        <p:nvSpPr>
          <p:cNvPr id="11" name="Move 2 number circle"/>
          <p:cNvSpPr/>
          <p:nvPr/>
        </p:nvSpPr>
        <p:spPr>
          <a:xfrm>
            <a:off x="2752344" y="1325880"/>
            <a:ext cx="457200" cy="457200"/>
          </a:xfrm>
          <a:prstGeom prst="ellipse">
            <a:avLst/>
          </a:prstGeom>
          <a:solidFill>
            <a:schemeClr val="accent2"/>
          </a:solidFill>
          <a:ln w="12700">
            <a:solidFill>
              <a:schemeClr val="accent2"/>
            </a:solidFill>
            <a:prstDash val="solid"/>
          </a:ln>
        </p:spPr>
        <p:txBody>
          <a:bodyPr/>
          <a:lstStyle/>
          <a:p>
            <a:endParaRPr lang="en-US"/>
          </a:p>
        </p:txBody>
      </p:sp>
      <p:sp>
        <p:nvSpPr>
          <p:cNvPr id="12" name="Move 2 number"/>
          <p:cNvSpPr txBox="1"/>
          <p:nvPr/>
        </p:nvSpPr>
        <p:spPr>
          <a:xfrm>
            <a:off x="2752344" y="1325880"/>
            <a:ext cx="457200" cy="457200"/>
          </a:xfrm>
          <a:prstGeom prst="rect">
            <a:avLst/>
          </a:prstGeom>
          <a:noFill/>
          <a:ln/>
        </p:spPr>
        <p:txBody>
          <a:bodyPr wrap="square" lIns="0" tIns="0" rIns="0" bIns="0" rtlCol="0" anchor="ctr"/>
          <a:lstStyle/>
          <a:p>
            <a:pPr marL="0" indent="0" algn="ctr">
              <a:buNone/>
            </a:pPr>
            <a:r>
              <a:rPr lang="en-US" sz="1800" b="1" dirty="0">
                <a:solidFill>
                  <a:schemeClr val="tx2"/>
                </a:solidFill>
                <a:latin typeface="Calibri" pitchFamily="34" charset="0"/>
                <a:ea typeface="Calibri" pitchFamily="34" charset="-122"/>
                <a:cs typeface="Calibri" pitchFamily="34" charset="-120"/>
              </a:rPr>
              <a:t>2</a:t>
            </a:r>
            <a:endParaRPr lang="en-US" sz="1800" dirty="0"/>
          </a:p>
        </p:txBody>
      </p:sp>
      <p:pic>
        <p:nvPicPr>
          <p:cNvPr id="13" name="Move 2 icon" descr="Name"/>
          <p:cNvPicPr>
            <a:picLocks noChangeAspect="1"/>
          </p:cNvPicPr>
          <p:nvPr/>
        </p:nvPicPr>
        <p:blipFill>
          <a:blip r:embed="rId4"/>
          <a:stretch>
            <a:fillRect/>
          </a:stretch>
        </p:blipFill>
        <p:spPr>
          <a:xfrm>
            <a:off x="3904488" y="1389888"/>
            <a:ext cx="347472" cy="347472"/>
          </a:xfrm>
          <a:prstGeom prst="rect">
            <a:avLst/>
          </a:prstGeom>
        </p:spPr>
      </p:pic>
      <p:sp>
        <p:nvSpPr>
          <p:cNvPr id="14" name="Move 2 heading"/>
          <p:cNvSpPr txBox="1"/>
          <p:nvPr/>
        </p:nvSpPr>
        <p:spPr>
          <a:xfrm>
            <a:off x="2752344" y="1920240"/>
            <a:ext cx="1563624" cy="384048"/>
          </a:xfrm>
          <a:prstGeom prst="rect">
            <a:avLst/>
          </a:prstGeom>
          <a:noFill/>
          <a:ln/>
        </p:spPr>
        <p:txBody>
          <a:bodyPr wrap="square" lIns="0" tIns="0" rIns="0" bIns="0" rtlCol="0" anchor="t"/>
          <a:lstStyle/>
          <a:p>
            <a:pPr marL="0" indent="0">
              <a:buNone/>
            </a:pPr>
            <a:r>
              <a:rPr lang="en-US" sz="2000" b="1" dirty="0">
                <a:solidFill>
                  <a:schemeClr val="tx2"/>
                </a:solidFill>
                <a:latin typeface="Calibri" pitchFamily="34" charset="0"/>
                <a:ea typeface="Calibri" pitchFamily="34" charset="-122"/>
                <a:cs typeface="Calibri" pitchFamily="34" charset="-120"/>
              </a:rPr>
              <a:t>Name</a:t>
            </a:r>
            <a:endParaRPr lang="en-US" sz="2000" dirty="0"/>
          </a:p>
        </p:txBody>
      </p:sp>
      <p:sp>
        <p:nvSpPr>
          <p:cNvPr id="15" name="Move 2 what"/>
          <p:cNvSpPr txBox="1"/>
          <p:nvPr/>
        </p:nvSpPr>
        <p:spPr>
          <a:xfrm>
            <a:off x="2752344" y="2331720"/>
            <a:ext cx="1563624" cy="594360"/>
          </a:xfrm>
          <a:prstGeom prst="rect">
            <a:avLst/>
          </a:prstGeom>
          <a:noFill/>
          <a:ln/>
        </p:spPr>
        <p:txBody>
          <a:bodyPr wrap="square" lIns="0" tIns="0" rIns="0" bIns="0" rtlCol="0" anchor="t"/>
          <a:lstStyle/>
          <a:p>
            <a:pPr marL="0" indent="0">
              <a:buNone/>
            </a:pPr>
            <a:r>
              <a:rPr lang="en-US" sz="1400" b="1" dirty="0">
                <a:solidFill>
                  <a:schemeClr val="tx1"/>
                </a:solidFill>
                <a:latin typeface="Calibri" pitchFamily="34" charset="0"/>
                <a:ea typeface="Calibri" pitchFamily="34" charset="-122"/>
                <a:cs typeface="Calibri" pitchFamily="34" charset="-120"/>
              </a:rPr>
              <a:t>The thinking each step develops</a:t>
            </a:r>
            <a:endParaRPr lang="en-US" sz="1400" dirty="0"/>
          </a:p>
        </p:txBody>
      </p:sp>
      <p:sp>
        <p:nvSpPr>
          <p:cNvPr id="16" name="Move 2 detail"/>
          <p:cNvSpPr txBox="1"/>
          <p:nvPr/>
        </p:nvSpPr>
        <p:spPr>
          <a:xfrm>
            <a:off x="2752344" y="2926080"/>
            <a:ext cx="1563624" cy="640080"/>
          </a:xfrm>
          <a:prstGeom prst="rect">
            <a:avLst/>
          </a:prstGeom>
          <a:noFill/>
          <a:ln/>
        </p:spPr>
        <p:txBody>
          <a:bodyPr wrap="square" lIns="0" tIns="0" rIns="0" bIns="0" rtlCol="0" anchor="t"/>
          <a:lstStyle/>
          <a:p>
            <a:pPr marL="0" indent="0">
              <a:buNone/>
            </a:pPr>
            <a:r>
              <a:rPr lang="en-US" sz="1300" dirty="0">
                <a:solidFill>
                  <a:schemeClr val="accent3"/>
                </a:solidFill>
                <a:latin typeface="Calibri" pitchFamily="34" charset="0"/>
                <a:ea typeface="Calibri" pitchFamily="34" charset="-122"/>
                <a:cs typeface="Calibri" pitchFamily="34" charset="-120"/>
              </a:rPr>
              <a:t>Why they do it: the cognitive move</a:t>
            </a:r>
            <a:endParaRPr lang="en-US" sz="1300" dirty="0"/>
          </a:p>
        </p:txBody>
      </p:sp>
      <p:sp>
        <p:nvSpPr>
          <p:cNvPr id="17" name="Move 3 card"/>
          <p:cNvSpPr/>
          <p:nvPr/>
        </p:nvSpPr>
        <p:spPr>
          <a:xfrm>
            <a:off x="4681728" y="1143000"/>
            <a:ext cx="1883664" cy="2514600"/>
          </a:xfrm>
          <a:prstGeom prst="roundRect">
            <a:avLst>
              <a:gd name="adj" fmla="val 3883"/>
            </a:avLst>
          </a:prstGeom>
          <a:solidFill>
            <a:schemeClr val="bg2"/>
          </a:solidFill>
          <a:ln w="12700">
            <a:solidFill>
              <a:schemeClr val="bg2"/>
            </a:solidFill>
            <a:prstDash val="solid"/>
          </a:ln>
          <a:effectLst>
            <a:outerShdw blurRad="76200" dist="19050" dir="5400000" algn="bl" rotWithShape="0">
              <a:srgbClr val="000000">
                <a:alpha val="12000"/>
              </a:srgbClr>
            </a:outerShdw>
          </a:effectLst>
        </p:spPr>
        <p:txBody>
          <a:bodyPr/>
          <a:lstStyle/>
          <a:p>
            <a:endParaRPr lang="en-US"/>
          </a:p>
        </p:txBody>
      </p:sp>
      <p:sp>
        <p:nvSpPr>
          <p:cNvPr id="18" name="Move 3 number circle"/>
          <p:cNvSpPr/>
          <p:nvPr/>
        </p:nvSpPr>
        <p:spPr>
          <a:xfrm>
            <a:off x="4864608" y="1325880"/>
            <a:ext cx="457200" cy="457200"/>
          </a:xfrm>
          <a:prstGeom prst="ellipse">
            <a:avLst/>
          </a:prstGeom>
          <a:solidFill>
            <a:schemeClr val="accent2"/>
          </a:solidFill>
          <a:ln w="12700">
            <a:solidFill>
              <a:schemeClr val="accent2"/>
            </a:solidFill>
            <a:prstDash val="solid"/>
          </a:ln>
        </p:spPr>
        <p:txBody>
          <a:bodyPr/>
          <a:lstStyle/>
          <a:p>
            <a:endParaRPr lang="en-US"/>
          </a:p>
        </p:txBody>
      </p:sp>
      <p:sp>
        <p:nvSpPr>
          <p:cNvPr id="19" name="Move 3 number"/>
          <p:cNvSpPr txBox="1"/>
          <p:nvPr/>
        </p:nvSpPr>
        <p:spPr>
          <a:xfrm>
            <a:off x="4864608" y="1325880"/>
            <a:ext cx="457200" cy="457200"/>
          </a:xfrm>
          <a:prstGeom prst="rect">
            <a:avLst/>
          </a:prstGeom>
          <a:noFill/>
          <a:ln/>
        </p:spPr>
        <p:txBody>
          <a:bodyPr wrap="square" lIns="0" tIns="0" rIns="0" bIns="0" rtlCol="0" anchor="ctr"/>
          <a:lstStyle/>
          <a:p>
            <a:pPr marL="0" indent="0" algn="ctr">
              <a:buNone/>
            </a:pPr>
            <a:r>
              <a:rPr lang="en-US" sz="1800" b="1" dirty="0">
                <a:solidFill>
                  <a:schemeClr val="tx2"/>
                </a:solidFill>
                <a:latin typeface="Calibri" pitchFamily="34" charset="0"/>
                <a:ea typeface="Calibri" pitchFamily="34" charset="-122"/>
                <a:cs typeface="Calibri" pitchFamily="34" charset="-120"/>
              </a:rPr>
              <a:t>3</a:t>
            </a:r>
            <a:endParaRPr lang="en-US" sz="1800" dirty="0"/>
          </a:p>
        </p:txBody>
      </p:sp>
      <p:pic>
        <p:nvPicPr>
          <p:cNvPr id="20" name="Move 3 icon" descr="Run"/>
          <p:cNvPicPr>
            <a:picLocks noChangeAspect="1"/>
          </p:cNvPicPr>
          <p:nvPr/>
        </p:nvPicPr>
        <p:blipFill>
          <a:blip r:embed="rId5"/>
          <a:stretch>
            <a:fillRect/>
          </a:stretch>
        </p:blipFill>
        <p:spPr>
          <a:xfrm>
            <a:off x="6016752" y="1389888"/>
            <a:ext cx="347472" cy="347472"/>
          </a:xfrm>
          <a:prstGeom prst="rect">
            <a:avLst/>
          </a:prstGeom>
        </p:spPr>
      </p:pic>
      <p:sp>
        <p:nvSpPr>
          <p:cNvPr id="21" name="Move 3 heading"/>
          <p:cNvSpPr txBox="1"/>
          <p:nvPr/>
        </p:nvSpPr>
        <p:spPr>
          <a:xfrm>
            <a:off x="4864608" y="1920240"/>
            <a:ext cx="1563624" cy="384048"/>
          </a:xfrm>
          <a:prstGeom prst="rect">
            <a:avLst/>
          </a:prstGeom>
          <a:noFill/>
          <a:ln/>
        </p:spPr>
        <p:txBody>
          <a:bodyPr wrap="square" lIns="0" tIns="0" rIns="0" bIns="0" rtlCol="0" anchor="t"/>
          <a:lstStyle/>
          <a:p>
            <a:pPr marL="0" indent="0">
              <a:buNone/>
            </a:pPr>
            <a:r>
              <a:rPr lang="en-US" sz="2000" b="1" dirty="0">
                <a:solidFill>
                  <a:schemeClr val="tx2"/>
                </a:solidFill>
                <a:latin typeface="Calibri" pitchFamily="34" charset="0"/>
                <a:ea typeface="Calibri" pitchFamily="34" charset="-122"/>
                <a:cs typeface="Calibri" pitchFamily="34" charset="-120"/>
              </a:rPr>
              <a:t>Run</a:t>
            </a:r>
            <a:endParaRPr lang="en-US" sz="2000" dirty="0"/>
          </a:p>
        </p:txBody>
      </p:sp>
      <p:sp>
        <p:nvSpPr>
          <p:cNvPr id="22" name="Move 3 what"/>
          <p:cNvSpPr txBox="1"/>
          <p:nvPr/>
        </p:nvSpPr>
        <p:spPr>
          <a:xfrm>
            <a:off x="4864608" y="2331720"/>
            <a:ext cx="1563624" cy="594360"/>
          </a:xfrm>
          <a:prstGeom prst="rect">
            <a:avLst/>
          </a:prstGeom>
          <a:noFill/>
          <a:ln/>
        </p:spPr>
        <p:txBody>
          <a:bodyPr wrap="square" lIns="0" tIns="0" rIns="0" bIns="0" rtlCol="0" anchor="t"/>
          <a:lstStyle/>
          <a:p>
            <a:pPr marL="0" indent="0">
              <a:buNone/>
            </a:pPr>
            <a:r>
              <a:rPr lang="en-US" sz="1400" b="1" dirty="0">
                <a:solidFill>
                  <a:schemeClr val="tx1"/>
                </a:solidFill>
                <a:latin typeface="Calibri" pitchFamily="34" charset="0"/>
                <a:ea typeface="Calibri" pitchFamily="34" charset="-122"/>
                <a:cs typeface="Calibri" pitchFamily="34" charset="-120"/>
              </a:rPr>
              <a:t>The assignment through AI</a:t>
            </a:r>
            <a:endParaRPr lang="en-US" sz="1400" dirty="0"/>
          </a:p>
        </p:txBody>
      </p:sp>
      <p:sp>
        <p:nvSpPr>
          <p:cNvPr id="23" name="Move 3 detail"/>
          <p:cNvSpPr txBox="1"/>
          <p:nvPr/>
        </p:nvSpPr>
        <p:spPr>
          <a:xfrm>
            <a:off x="4864608" y="2926080"/>
            <a:ext cx="1563624" cy="640080"/>
          </a:xfrm>
          <a:prstGeom prst="rect">
            <a:avLst/>
          </a:prstGeom>
          <a:noFill/>
          <a:ln/>
        </p:spPr>
        <p:txBody>
          <a:bodyPr wrap="square" lIns="0" tIns="0" rIns="0" bIns="0" rtlCol="0" anchor="t"/>
          <a:lstStyle/>
          <a:p>
            <a:pPr marL="0" indent="0">
              <a:buNone/>
            </a:pPr>
            <a:r>
              <a:rPr lang="en-US" sz="1300" dirty="0">
                <a:solidFill>
                  <a:schemeClr val="accent3"/>
                </a:solidFill>
                <a:latin typeface="Calibri" pitchFamily="34" charset="0"/>
                <a:ea typeface="Calibri" pitchFamily="34" charset="-122"/>
                <a:cs typeface="Calibri" pitchFamily="34" charset="-120"/>
              </a:rPr>
              <a:t>As a student would. Note what AI produced.</a:t>
            </a:r>
            <a:endParaRPr lang="en-US" sz="1300" dirty="0"/>
          </a:p>
        </p:txBody>
      </p:sp>
      <p:sp>
        <p:nvSpPr>
          <p:cNvPr id="24" name="Move 4 card"/>
          <p:cNvSpPr/>
          <p:nvPr/>
        </p:nvSpPr>
        <p:spPr>
          <a:xfrm>
            <a:off x="6793992" y="1143000"/>
            <a:ext cx="1883664" cy="2514600"/>
          </a:xfrm>
          <a:prstGeom prst="roundRect">
            <a:avLst>
              <a:gd name="adj" fmla="val 3883"/>
            </a:avLst>
          </a:prstGeom>
          <a:solidFill>
            <a:schemeClr val="accent4"/>
          </a:solidFill>
          <a:ln w="12700">
            <a:solidFill>
              <a:schemeClr val="accent4"/>
            </a:solidFill>
            <a:prstDash val="solid"/>
          </a:ln>
          <a:effectLst>
            <a:outerShdw blurRad="76200" dist="19050" dir="5400000" algn="bl" rotWithShape="0">
              <a:srgbClr val="000000">
                <a:alpha val="12000"/>
              </a:srgbClr>
            </a:outerShdw>
          </a:effectLst>
        </p:spPr>
        <p:txBody>
          <a:bodyPr/>
          <a:lstStyle/>
          <a:p>
            <a:endParaRPr lang="en-US"/>
          </a:p>
        </p:txBody>
      </p:sp>
      <p:sp>
        <p:nvSpPr>
          <p:cNvPr id="25" name="Move 4 number circle"/>
          <p:cNvSpPr/>
          <p:nvPr/>
        </p:nvSpPr>
        <p:spPr>
          <a:xfrm>
            <a:off x="6976872" y="1325880"/>
            <a:ext cx="457200" cy="457200"/>
          </a:xfrm>
          <a:prstGeom prst="ellipse">
            <a:avLst/>
          </a:prstGeom>
          <a:solidFill>
            <a:schemeClr val="accent2"/>
          </a:solidFill>
          <a:ln w="12700">
            <a:solidFill>
              <a:schemeClr val="accent2"/>
            </a:solidFill>
            <a:prstDash val="solid"/>
          </a:ln>
        </p:spPr>
        <p:txBody>
          <a:bodyPr/>
          <a:lstStyle/>
          <a:p>
            <a:endParaRPr lang="en-US"/>
          </a:p>
        </p:txBody>
      </p:sp>
      <p:sp>
        <p:nvSpPr>
          <p:cNvPr id="26" name="Move 4 number"/>
          <p:cNvSpPr txBox="1"/>
          <p:nvPr/>
        </p:nvSpPr>
        <p:spPr>
          <a:xfrm>
            <a:off x="6976872" y="1325880"/>
            <a:ext cx="457200" cy="457200"/>
          </a:xfrm>
          <a:prstGeom prst="rect">
            <a:avLst/>
          </a:prstGeom>
          <a:noFill/>
          <a:ln/>
        </p:spPr>
        <p:txBody>
          <a:bodyPr wrap="square" lIns="0" tIns="0" rIns="0" bIns="0" rtlCol="0" anchor="ctr"/>
          <a:lstStyle/>
          <a:p>
            <a:pPr marL="0" indent="0" algn="ctr">
              <a:buNone/>
            </a:pPr>
            <a:r>
              <a:rPr lang="en-US" sz="1800" b="1" dirty="0">
                <a:solidFill>
                  <a:schemeClr val="tx2"/>
                </a:solidFill>
                <a:latin typeface="Calibri" pitchFamily="34" charset="0"/>
                <a:ea typeface="Calibri" pitchFamily="34" charset="-122"/>
                <a:cs typeface="Calibri" pitchFamily="34" charset="-120"/>
              </a:rPr>
              <a:t>4</a:t>
            </a:r>
            <a:endParaRPr lang="en-US" sz="1800" dirty="0"/>
          </a:p>
        </p:txBody>
      </p:sp>
      <p:pic>
        <p:nvPicPr>
          <p:cNvPr id="27" name="Move 4 icon" descr="Read"/>
          <p:cNvPicPr>
            <a:picLocks noChangeAspect="1"/>
          </p:cNvPicPr>
          <p:nvPr/>
        </p:nvPicPr>
        <p:blipFill>
          <a:blip r:embed="rId6"/>
          <a:stretch>
            <a:fillRect/>
          </a:stretch>
        </p:blipFill>
        <p:spPr>
          <a:xfrm>
            <a:off x="8129016" y="1389888"/>
            <a:ext cx="347472" cy="347472"/>
          </a:xfrm>
          <a:prstGeom prst="rect">
            <a:avLst/>
          </a:prstGeom>
        </p:spPr>
      </p:pic>
      <p:sp>
        <p:nvSpPr>
          <p:cNvPr id="28" name="Move 4 heading"/>
          <p:cNvSpPr txBox="1"/>
          <p:nvPr/>
        </p:nvSpPr>
        <p:spPr>
          <a:xfrm>
            <a:off x="6976872" y="1920240"/>
            <a:ext cx="1563624" cy="384048"/>
          </a:xfrm>
          <a:prstGeom prst="rect">
            <a:avLst/>
          </a:prstGeom>
          <a:noFill/>
          <a:ln/>
        </p:spPr>
        <p:txBody>
          <a:bodyPr wrap="square" lIns="0" tIns="0" rIns="0" bIns="0" rtlCol="0" anchor="t"/>
          <a:lstStyle/>
          <a:p>
            <a:pPr marL="0" indent="0">
              <a:buNone/>
            </a:pPr>
            <a:r>
              <a:rPr lang="en-US" sz="2000" b="1" dirty="0">
                <a:solidFill>
                  <a:schemeClr val="tx2"/>
                </a:solidFill>
                <a:latin typeface="Calibri" pitchFamily="34" charset="0"/>
                <a:ea typeface="Calibri" pitchFamily="34" charset="-122"/>
                <a:cs typeface="Calibri" pitchFamily="34" charset="-120"/>
              </a:rPr>
              <a:t>Read</a:t>
            </a:r>
            <a:endParaRPr lang="en-US" sz="2000" dirty="0"/>
          </a:p>
        </p:txBody>
      </p:sp>
      <p:sp>
        <p:nvSpPr>
          <p:cNvPr id="29" name="Move 4 what"/>
          <p:cNvSpPr txBox="1"/>
          <p:nvPr/>
        </p:nvSpPr>
        <p:spPr>
          <a:xfrm>
            <a:off x="6976872" y="2331720"/>
            <a:ext cx="1563624" cy="594360"/>
          </a:xfrm>
          <a:prstGeom prst="rect">
            <a:avLst/>
          </a:prstGeom>
          <a:noFill/>
          <a:ln/>
        </p:spPr>
        <p:txBody>
          <a:bodyPr wrap="square" lIns="0" tIns="0" rIns="0" bIns="0" rtlCol="0" anchor="t"/>
          <a:lstStyle/>
          <a:p>
            <a:pPr marL="0" indent="0">
              <a:buNone/>
            </a:pPr>
            <a:r>
              <a:rPr lang="en-US" sz="1400" b="1" dirty="0">
                <a:solidFill>
                  <a:schemeClr val="tx1"/>
                </a:solidFill>
                <a:latin typeface="Calibri" pitchFamily="34" charset="0"/>
                <a:ea typeface="Calibri" pitchFamily="34" charset="-122"/>
                <a:cs typeface="Calibri" pitchFamily="34" charset="-120"/>
              </a:rPr>
              <a:t>Each task on two axes</a:t>
            </a:r>
            <a:endParaRPr lang="en-US" sz="1400" dirty="0"/>
          </a:p>
        </p:txBody>
      </p:sp>
      <p:sp>
        <p:nvSpPr>
          <p:cNvPr id="30" name="Move 4 detail"/>
          <p:cNvSpPr txBox="1"/>
          <p:nvPr/>
        </p:nvSpPr>
        <p:spPr>
          <a:xfrm>
            <a:off x="6976872" y="2926080"/>
            <a:ext cx="1563624" cy="640080"/>
          </a:xfrm>
          <a:prstGeom prst="rect">
            <a:avLst/>
          </a:prstGeom>
          <a:noFill/>
          <a:ln/>
        </p:spPr>
        <p:txBody>
          <a:bodyPr wrap="square" lIns="0" tIns="0" rIns="0" bIns="0" rtlCol="0" anchor="t"/>
          <a:lstStyle/>
          <a:p>
            <a:pPr marL="0" indent="0">
              <a:buNone/>
            </a:pPr>
            <a:r>
              <a:rPr lang="en-US" sz="1300" dirty="0">
                <a:solidFill>
                  <a:schemeClr val="accent3"/>
                </a:solidFill>
                <a:latin typeface="Calibri" pitchFamily="34" charset="0"/>
                <a:ea typeface="Calibri" pitchFamily="34" charset="-122"/>
                <a:cs typeface="Calibri" pitchFamily="34" charset="-120"/>
              </a:rPr>
              <a:t>AI on its own. Students on their own.</a:t>
            </a:r>
            <a:endParaRPr lang="en-US" sz="1300" dirty="0"/>
          </a:p>
        </p:txBody>
      </p:sp>
      <p:sp>
        <p:nvSpPr>
          <p:cNvPr id="31" name="Principle banner"/>
          <p:cNvSpPr/>
          <p:nvPr/>
        </p:nvSpPr>
        <p:spPr>
          <a:xfrm>
            <a:off x="457200" y="3886200"/>
            <a:ext cx="8229600" cy="548640"/>
          </a:xfrm>
          <a:prstGeom prst="roundRect">
            <a:avLst>
              <a:gd name="adj" fmla="val 13333"/>
            </a:avLst>
          </a:prstGeom>
          <a:solidFill>
            <a:schemeClr val="accent1"/>
          </a:solidFill>
          <a:ln w="12700">
            <a:solidFill>
              <a:schemeClr val="accent1"/>
            </a:solidFill>
            <a:prstDash val="solid"/>
          </a:ln>
        </p:spPr>
        <p:txBody>
          <a:bodyPr/>
          <a:lstStyle/>
          <a:p>
            <a:endParaRPr lang="en-US"/>
          </a:p>
        </p:txBody>
      </p:sp>
      <p:sp>
        <p:nvSpPr>
          <p:cNvPr id="32" name="Principle"/>
          <p:cNvSpPr txBox="1"/>
          <p:nvPr/>
        </p:nvSpPr>
        <p:spPr>
          <a:xfrm>
            <a:off x="457200" y="3886200"/>
            <a:ext cx="8229600" cy="548640"/>
          </a:xfrm>
          <a:prstGeom prst="rect">
            <a:avLst/>
          </a:prstGeom>
          <a:noFill/>
          <a:ln/>
        </p:spPr>
        <p:txBody>
          <a:bodyPr wrap="square" lIns="0" tIns="0" rIns="0" bIns="0" rtlCol="0" anchor="ctr"/>
          <a:lstStyle/>
          <a:p>
            <a:pPr marL="0" indent="0" algn="ctr">
              <a:buNone/>
            </a:pPr>
            <a:r>
              <a:rPr lang="en-US" sz="1800" b="1" dirty="0">
                <a:solidFill>
                  <a:schemeClr val="bg1"/>
                </a:solidFill>
                <a:latin typeface="Calibri" pitchFamily="34" charset="0"/>
                <a:ea typeface="Calibri" pitchFamily="34" charset="-122"/>
                <a:cs typeface="Calibri" pitchFamily="34" charset="-120"/>
              </a:rPr>
              <a:t>Stress-test the thinking, not the deliverable.</a:t>
            </a:r>
            <a:endParaRPr lang="en-US" sz="1800" dirty="0"/>
          </a:p>
        </p:txBody>
      </p:sp>
      <p:sp>
        <p:nvSpPr>
          <p:cNvPr id="33" name="Slide Number Placeholder 0"/>
          <p:cNvSpPr>
            <a:spLocks noGrp="1"/>
          </p:cNvSpPr>
          <p:nvPr>
            <p:ph type="sldNum" sz="quarter" idx="4294967295"/>
          </p:nvPr>
        </p:nvSpPr>
        <p:spPr>
          <a:xfrm>
            <a:off x="841248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3"/>
                </a:solidFill>
              </a:defRPr>
            </a:lvl1pPr>
          </a:lstStyle>
          <a:p>
            <a:pPr algn="r"/>
            <a:fld id="{F7021451-1387-4CA6-816F-3879F97B5CBC}" type="slidenum">
              <a:rPr lang="en-US" b="0"/>
              <a:t>18</a:t>
            </a:fld>
            <a:endParaRPr lang="en-US"/>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85800"/>
          </a:xfrm>
          <a:prstGeom prst="rect">
            <a:avLst/>
          </a:prstGeom>
          <a:noFill/>
          <a:ln/>
        </p:spPr>
        <p:txBody>
          <a:bodyPr wrap="square" lIns="0" tIns="0" rIns="0" bIns="0" rtlCol="0" anchor="ctr"/>
          <a:lstStyle/>
          <a:p>
            <a:pPr marL="0" indent="0" algn="ctr">
              <a:buNone/>
            </a:pPr>
            <a:r>
              <a:rPr lang="en-US" sz="3400" b="1" dirty="0">
                <a:solidFill>
                  <a:schemeClr val="tx2"/>
                </a:solidFill>
              </a:rPr>
              <a:t>Worked example: EDMS 523 Bundle 1</a:t>
            </a:r>
            <a:endParaRPr lang="en-US" sz="3400" dirty="0"/>
          </a:p>
        </p:txBody>
      </p:sp>
      <p:sp>
        <p:nvSpPr>
          <p:cNvPr id="3" name="Assignment context"/>
          <p:cNvSpPr txBox="1"/>
          <p:nvPr/>
        </p:nvSpPr>
        <p:spPr>
          <a:xfrm>
            <a:off x="457200" y="914400"/>
            <a:ext cx="8229600" cy="274320"/>
          </a:xfrm>
          <a:prstGeom prst="rect">
            <a:avLst/>
          </a:prstGeom>
          <a:noFill/>
          <a:ln/>
        </p:spPr>
        <p:txBody>
          <a:bodyPr wrap="square" lIns="0" tIns="0" rIns="0" bIns="0" rtlCol="0" anchor="t"/>
          <a:lstStyle/>
          <a:p>
            <a:pPr marL="0" indent="0" algn="ctr">
              <a:buNone/>
            </a:pPr>
            <a:r>
              <a:rPr lang="en-US" sz="1300" i="1" dirty="0">
                <a:solidFill>
                  <a:schemeClr val="accent3"/>
                </a:solidFill>
                <a:latin typeface="Calibri" pitchFamily="34" charset="0"/>
                <a:ea typeface="Calibri" pitchFamily="34" charset="-122"/>
                <a:cs typeface="Calibri" pitchFamily="34" charset="-120"/>
              </a:rPr>
              <a:t>Lesson plan bundle on academic language, vocabulary, and English learners</a:t>
            </a:r>
            <a:endParaRPr lang="en-US" sz="1300" dirty="0"/>
          </a:p>
        </p:txBody>
      </p:sp>
      <p:graphicFrame>
        <p:nvGraphicFramePr>
          <p:cNvPr id="17" name="Bundle 1 gap table"/>
          <p:cNvGraphicFramePr>
            <a:graphicFrameLocks noGrp="1"/>
          </p:cNvGraphicFramePr>
          <p:nvPr>
            <p:extLst>
              <p:ext uri="{D42A27DB-BD31-4B8C-83A1-F6EECF244321}">
                <p14:modId xmlns:p14="http://schemas.microsoft.com/office/powerpoint/2010/main" val="3085713403"/>
              </p:ext>
            </p:extLst>
          </p:nvPr>
        </p:nvGraphicFramePr>
        <p:xfrm>
          <a:off x="457200" y="1298448"/>
          <a:ext cx="8229600" cy="3291840"/>
        </p:xfrm>
        <a:graphic>
          <a:graphicData uri="http://schemas.openxmlformats.org/drawingml/2006/table">
            <a:tbl>
              <a:tblPr/>
              <a:tblGrid>
                <a:gridCol w="205740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tblGrid>
              <a:tr h="512064">
                <a:tc>
                  <a:txBody>
                    <a:bodyPr/>
                    <a:lstStyle/>
                    <a:p>
                      <a:pPr marL="0" indent="0">
                        <a:buNone/>
                      </a:pPr>
                      <a:r>
                        <a:rPr lang="en-US" sz="1200" b="1" dirty="0">
                          <a:solidFill>
                            <a:schemeClr val="bg1"/>
                          </a:solidFill>
                          <a:latin typeface="Calibri" pitchFamily="34" charset="0"/>
                          <a:ea typeface="Calibri" pitchFamily="34" charset="-122"/>
                          <a:cs typeface="Calibri" pitchFamily="34" charset="-120"/>
                        </a:rPr>
                        <a:t>What the candidate does</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accent1"/>
                    </a:solidFill>
                  </a:tcPr>
                </a:tc>
                <a:tc>
                  <a:txBody>
                    <a:bodyPr/>
                    <a:lstStyle/>
                    <a:p>
                      <a:pPr marL="0" indent="0">
                        <a:buNone/>
                      </a:pPr>
                      <a:r>
                        <a:rPr lang="en-US" sz="1200" b="1" dirty="0">
                          <a:solidFill>
                            <a:schemeClr val="bg1"/>
                          </a:solidFill>
                          <a:latin typeface="Calibri" pitchFamily="34" charset="0"/>
                          <a:ea typeface="Calibri" pitchFamily="34" charset="-122"/>
                          <a:cs typeface="Calibri" pitchFamily="34" charset="-120"/>
                        </a:rPr>
                        <a:t>What AI produced on its own</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accent1"/>
                    </a:solidFill>
                  </a:tcPr>
                </a:tc>
                <a:tc>
                  <a:txBody>
                    <a:bodyPr/>
                    <a:lstStyle/>
                    <a:p>
                      <a:pPr marL="0" indent="0">
                        <a:buNone/>
                      </a:pPr>
                      <a:r>
                        <a:rPr lang="en-US" sz="1200" b="1" dirty="0">
                          <a:solidFill>
                            <a:schemeClr val="bg1"/>
                          </a:solidFill>
                          <a:latin typeface="Calibri" pitchFamily="34" charset="0"/>
                          <a:ea typeface="Calibri" pitchFamily="34" charset="-122"/>
                          <a:cs typeface="Calibri" pitchFamily="34" charset="-120"/>
                        </a:rPr>
                        <a:t>AI</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accent1"/>
                    </a:solidFill>
                  </a:tcPr>
                </a:tc>
                <a:tc>
                  <a:txBody>
                    <a:bodyPr/>
                    <a:lstStyle/>
                    <a:p>
                      <a:pPr marL="0" indent="0">
                        <a:buNone/>
                      </a:pPr>
                      <a:r>
                        <a:rPr lang="en-US" sz="1200" b="1" dirty="0">
                          <a:solidFill>
                            <a:schemeClr val="bg1"/>
                          </a:solidFill>
                          <a:latin typeface="Calibri" pitchFamily="34" charset="0"/>
                          <a:ea typeface="Calibri" pitchFamily="34" charset="-122"/>
                          <a:cs typeface="Calibri" pitchFamily="34" charset="-120"/>
                        </a:rPr>
                        <a:t>Candidates</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accent1"/>
                    </a:solidFill>
                  </a:tcPr>
                </a:tc>
                <a:tc>
                  <a:txBody>
                    <a:bodyPr/>
                    <a:lstStyle/>
                    <a:p>
                      <a:pPr marL="0" indent="0">
                        <a:buNone/>
                      </a:pPr>
                      <a:r>
                        <a:rPr lang="en-US" sz="1200" b="1" dirty="0">
                          <a:solidFill>
                            <a:schemeClr val="bg1"/>
                          </a:solidFill>
                          <a:latin typeface="Calibri" pitchFamily="34" charset="0"/>
                          <a:ea typeface="Calibri" pitchFamily="34" charset="-122"/>
                          <a:cs typeface="Calibri" pitchFamily="34" charset="-120"/>
                        </a:rPr>
                        <a:t>Read</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512064">
                <a:tc>
                  <a:txBody>
                    <a:bodyPr/>
                    <a:lstStyle/>
                    <a:p>
                      <a:pPr marL="0" indent="0">
                        <a:buNone/>
                      </a:pPr>
                      <a:r>
                        <a:rPr lang="en-US" sz="1200" b="1" dirty="0">
                          <a:solidFill>
                            <a:schemeClr val="tx1"/>
                          </a:solidFill>
                          <a:latin typeface="Calibri" pitchFamily="34" charset="0"/>
                          <a:ea typeface="Calibri" pitchFamily="34" charset="-122"/>
                          <a:cs typeface="Calibri" pitchFamily="34" charset="-120"/>
                        </a:rPr>
                        <a:t>Describe the class context</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Invented a plausible class. Fluent, and entirely fabricated.</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Weak</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Strong</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tx2"/>
                          </a:solidFill>
                          <a:latin typeface="Calibri" pitchFamily="34" charset="0"/>
                          <a:ea typeface="Calibri" pitchFamily="34" charset="-122"/>
                          <a:cs typeface="Calibri" pitchFamily="34" charset="-120"/>
                        </a:rPr>
                        <a:t>PRESERVE</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accent4"/>
                    </a:solidFill>
                  </a:tcPr>
                </a:tc>
                <a:extLst>
                  <a:ext uri="{0D108BD9-81ED-4DB2-BD59-A6C34878D82A}">
                    <a16:rowId xmlns:a16="http://schemas.microsoft.com/office/drawing/2014/main" val="10001"/>
                  </a:ext>
                </a:extLst>
              </a:tr>
              <a:tr h="512064">
                <a:tc>
                  <a:txBody>
                    <a:bodyPr/>
                    <a:lstStyle/>
                    <a:p>
                      <a:pPr marL="0" indent="0">
                        <a:buNone/>
                      </a:pPr>
                      <a:r>
                        <a:rPr lang="en-US" sz="1200" b="1" dirty="0">
                          <a:solidFill>
                            <a:schemeClr val="tx1"/>
                          </a:solidFill>
                          <a:latin typeface="Calibri" pitchFamily="34" charset="0"/>
                          <a:ea typeface="Calibri" pitchFamily="34" charset="-122"/>
                          <a:cs typeface="Calibri" pitchFamily="34" charset="-120"/>
                        </a:rPr>
                        <a:t>Sequence the instruction</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A full sequence, more detailed and connected than any pre-service candidate submission</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Strong</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Struggling</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tx1"/>
                          </a:solidFill>
                          <a:latin typeface="Calibri" pitchFamily="34" charset="0"/>
                          <a:ea typeface="Calibri" pitchFamily="34" charset="-122"/>
                          <a:cs typeface="Calibri" pitchFamily="34" charset="-120"/>
                        </a:rPr>
                        <a:t>VULNERABLE</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accent2"/>
                    </a:solidFill>
                  </a:tcPr>
                </a:tc>
                <a:extLst>
                  <a:ext uri="{0D108BD9-81ED-4DB2-BD59-A6C34878D82A}">
                    <a16:rowId xmlns:a16="http://schemas.microsoft.com/office/drawing/2014/main" val="10002"/>
                  </a:ext>
                </a:extLst>
              </a:tr>
              <a:tr h="512064">
                <a:tc>
                  <a:txBody>
                    <a:bodyPr/>
                    <a:lstStyle/>
                    <a:p>
                      <a:pPr marL="0" indent="0">
                        <a:buNone/>
                      </a:pPr>
                      <a:r>
                        <a:rPr lang="en-US" sz="1200" b="1" dirty="0">
                          <a:solidFill>
                            <a:schemeClr val="tx1"/>
                          </a:solidFill>
                          <a:latin typeface="Calibri" pitchFamily="34" charset="0"/>
                          <a:ea typeface="Calibri" pitchFamily="34" charset="-122"/>
                          <a:cs typeface="Calibri" pitchFamily="34" charset="-120"/>
                        </a:rPr>
                        <a:t>Write the lesson rationale</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Well reasoned rationale that accurately justified decisions made throughout the instructional sequence. </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Strong</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Struggling</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tx1"/>
                          </a:solidFill>
                          <a:latin typeface="Calibri" pitchFamily="34" charset="0"/>
                          <a:ea typeface="Calibri" pitchFamily="34" charset="-122"/>
                          <a:cs typeface="Calibri" pitchFamily="34" charset="-120"/>
                        </a:rPr>
                        <a:t>VULNERABLE</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accent2"/>
                    </a:solidFill>
                  </a:tcPr>
                </a:tc>
                <a:extLst>
                  <a:ext uri="{0D108BD9-81ED-4DB2-BD59-A6C34878D82A}">
                    <a16:rowId xmlns:a16="http://schemas.microsoft.com/office/drawing/2014/main" val="10003"/>
                  </a:ext>
                </a:extLst>
              </a:tr>
              <a:tr h="512064">
                <a:tc>
                  <a:txBody>
                    <a:bodyPr/>
                    <a:lstStyle/>
                    <a:p>
                      <a:pPr marL="0" indent="0">
                        <a:buNone/>
                      </a:pPr>
                      <a:r>
                        <a:rPr lang="en-US" sz="1200" b="1" dirty="0">
                          <a:solidFill>
                            <a:schemeClr val="tx1"/>
                          </a:solidFill>
                          <a:latin typeface="Calibri" pitchFamily="34" charset="0"/>
                          <a:ea typeface="Calibri" pitchFamily="34" charset="-122"/>
                          <a:cs typeface="Calibri" pitchFamily="34" charset="-120"/>
                        </a:rPr>
                        <a:t>Connect decisions to theory</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buNone/>
                      </a:pPr>
                      <a:r>
                        <a:rPr lang="en-US" sz="1200" dirty="0">
                          <a:latin typeface="Calibri" charset="0"/>
                          <a:ea typeface="Calibri" charset="0"/>
                          <a:cs typeface="Calibri" charset="0"/>
                        </a:rPr>
                        <a:t>Strategies for ELL and students with accommodations tied to evidence-based pedagogy. </a:t>
                      </a: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Strong</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Struggling</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tx1"/>
                          </a:solidFill>
                          <a:latin typeface="Calibri" pitchFamily="34" charset="0"/>
                          <a:ea typeface="Calibri" pitchFamily="34" charset="-122"/>
                          <a:cs typeface="Calibri" pitchFamily="34" charset="-120"/>
                        </a:rPr>
                        <a:t>VULNERABLE</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accent2"/>
                    </a:solidFill>
                  </a:tcPr>
                </a:tc>
                <a:extLst>
                  <a:ext uri="{0D108BD9-81ED-4DB2-BD59-A6C34878D82A}">
                    <a16:rowId xmlns:a16="http://schemas.microsoft.com/office/drawing/2014/main" val="10004"/>
                  </a:ext>
                </a:extLst>
              </a:tr>
              <a:tr h="512064">
                <a:tc>
                  <a:txBody>
                    <a:bodyPr/>
                    <a:lstStyle/>
                    <a:p>
                      <a:pPr marL="0" indent="0">
                        <a:buNone/>
                      </a:pPr>
                      <a:r>
                        <a:rPr lang="en-US" sz="1200" b="1" dirty="0">
                          <a:solidFill>
                            <a:schemeClr val="tx1"/>
                          </a:solidFill>
                          <a:latin typeface="Calibri" pitchFamily="34" charset="0"/>
                          <a:ea typeface="Calibri" pitchFamily="34" charset="-122"/>
                          <a:cs typeface="Calibri" pitchFamily="34" charset="-120"/>
                        </a:rPr>
                        <a:t>Strategy Book entry</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Indistinguishable from a strong submission. Generated in seconds without any human direction required.</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Strong</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Strong</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tx1"/>
                          </a:solidFill>
                          <a:latin typeface="Calibri" pitchFamily="34" charset="0"/>
                          <a:ea typeface="Calibri" pitchFamily="34" charset="-122"/>
                          <a:cs typeface="Calibri" pitchFamily="34" charset="-120"/>
                        </a:rPr>
                        <a:t>CUT</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841248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3"/>
                </a:solidFill>
              </a:defRPr>
            </a:lvl1pPr>
          </a:lstStyle>
          <a:p>
            <a:pPr algn="r"/>
            <a:fld id="{F7021451-1387-4CA6-816F-3879F97B5CBC}" type="slidenum">
              <a:rPr lang="en-US" b="0"/>
              <a:t>19</a:t>
            </a:fld>
            <a:endParaRPr lang="en-US"/>
          </a:p>
        </p:txBody>
      </p:sp>
      <p:sp>
        <p:nvSpPr>
          <p:cNvPr id="4" name="Rectangle 3">
            <a:extLst>
              <a:ext uri="{FF2B5EF4-FFF2-40B4-BE49-F238E27FC236}">
                <a16:creationId xmlns:a16="http://schemas.microsoft.com/office/drawing/2014/main" id="{22B3488B-EFFC-2F06-A446-039B987644BE}"/>
              </a:ext>
            </a:extLst>
          </p:cNvPr>
          <p:cNvSpPr/>
          <p:nvPr/>
        </p:nvSpPr>
        <p:spPr>
          <a:xfrm>
            <a:off x="6619164" y="1188720"/>
            <a:ext cx="2250516" cy="358444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85800"/>
          </a:xfrm>
          <a:prstGeom prst="rect">
            <a:avLst/>
          </a:prstGeom>
          <a:noFill/>
          <a:ln/>
        </p:spPr>
        <p:txBody>
          <a:bodyPr wrap="square" lIns="0" tIns="0" rIns="0" bIns="0" rtlCol="0" anchor="ctr"/>
          <a:lstStyle/>
          <a:p>
            <a:pPr marL="0" indent="0" algn="ctr">
              <a:buNone/>
            </a:pPr>
            <a:r>
              <a:rPr lang="en-US" sz="3400" b="1" dirty="0">
                <a:solidFill>
                  <a:schemeClr val="tx2"/>
                </a:solidFill>
              </a:rPr>
              <a:t>Start where students get stuck</a:t>
            </a:r>
            <a:endParaRPr lang="en-US" sz="3400" dirty="0"/>
          </a:p>
        </p:txBody>
      </p:sp>
      <p:sp>
        <p:nvSpPr>
          <p:cNvPr id="3" name="Lead"/>
          <p:cNvSpPr txBox="1"/>
          <p:nvPr/>
        </p:nvSpPr>
        <p:spPr>
          <a:xfrm>
            <a:off x="457200" y="1188720"/>
            <a:ext cx="4206240" cy="777240"/>
          </a:xfrm>
          <a:prstGeom prst="rect">
            <a:avLst/>
          </a:prstGeom>
          <a:noFill/>
          <a:ln/>
        </p:spPr>
        <p:txBody>
          <a:bodyPr wrap="square" lIns="0" tIns="0" rIns="0" bIns="0" rtlCol="0" anchor="t"/>
          <a:lstStyle/>
          <a:p>
            <a:pPr marL="0" indent="0">
              <a:buNone/>
            </a:pPr>
            <a:r>
              <a:rPr lang="en-US" sz="2100" b="1" dirty="0">
                <a:solidFill>
                  <a:schemeClr val="tx2"/>
                </a:solidFill>
                <a:latin typeface="Calibri" pitchFamily="34" charset="0"/>
                <a:ea typeface="Calibri" pitchFamily="34" charset="-122"/>
                <a:cs typeface="Calibri" pitchFamily="34" charset="-120"/>
              </a:rPr>
              <a:t>You already know where students struggle on their own.</a:t>
            </a:r>
            <a:endParaRPr lang="en-US" sz="2100" dirty="0"/>
          </a:p>
        </p:txBody>
      </p:sp>
      <p:sp>
        <p:nvSpPr>
          <p:cNvPr id="4" name="They don't do well circle"/>
          <p:cNvSpPr/>
          <p:nvPr/>
        </p:nvSpPr>
        <p:spPr>
          <a:xfrm>
            <a:off x="457200" y="2194560"/>
            <a:ext cx="502920" cy="502920"/>
          </a:xfrm>
          <a:prstGeom prst="ellipse">
            <a:avLst/>
          </a:prstGeom>
          <a:solidFill>
            <a:schemeClr val="accent4"/>
          </a:solidFill>
          <a:ln w="12700">
            <a:solidFill>
              <a:schemeClr val="accent4"/>
            </a:solidFill>
            <a:prstDash val="solid"/>
          </a:ln>
        </p:spPr>
        <p:txBody>
          <a:bodyPr/>
          <a:lstStyle/>
          <a:p>
            <a:endParaRPr lang="en-US"/>
          </a:p>
        </p:txBody>
      </p:sp>
      <p:pic>
        <p:nvPicPr>
          <p:cNvPr id="5" name="They don't do well icon" descr="They don't do well"/>
          <p:cNvPicPr>
            <a:picLocks noChangeAspect="1"/>
          </p:cNvPicPr>
          <p:nvPr/>
        </p:nvPicPr>
        <p:blipFill>
          <a:blip r:embed="rId3"/>
          <a:stretch>
            <a:fillRect/>
          </a:stretch>
        </p:blipFill>
        <p:spPr>
          <a:xfrm>
            <a:off x="587959" y="2325319"/>
            <a:ext cx="241402" cy="241402"/>
          </a:xfrm>
          <a:prstGeom prst="rect">
            <a:avLst/>
          </a:prstGeom>
        </p:spPr>
      </p:pic>
      <p:sp>
        <p:nvSpPr>
          <p:cNvPr id="6" name="Signal 1"/>
          <p:cNvSpPr txBox="1"/>
          <p:nvPr/>
        </p:nvSpPr>
        <p:spPr>
          <a:xfrm>
            <a:off x="1143000" y="2194560"/>
            <a:ext cx="3474720" cy="502920"/>
          </a:xfrm>
          <a:prstGeom prst="rect">
            <a:avLst/>
          </a:prstGeom>
          <a:noFill/>
          <a:ln/>
        </p:spPr>
        <p:txBody>
          <a:bodyPr wrap="square" lIns="0" tIns="0" rIns="0" bIns="0" rtlCol="0" anchor="ctr"/>
          <a:lstStyle/>
          <a:p>
            <a:pPr marL="0" indent="0">
              <a:buNone/>
            </a:pPr>
            <a:r>
              <a:rPr lang="en-US" sz="1700" dirty="0">
                <a:solidFill>
                  <a:schemeClr val="tx1"/>
                </a:solidFill>
                <a:latin typeface="Calibri" pitchFamily="34" charset="0"/>
                <a:ea typeface="Calibri" pitchFamily="34" charset="-122"/>
                <a:cs typeface="Calibri" pitchFamily="34" charset="-120"/>
              </a:rPr>
              <a:t>They don't do well</a:t>
            </a:r>
            <a:endParaRPr lang="en-US" sz="1700" dirty="0"/>
          </a:p>
        </p:txBody>
      </p:sp>
      <p:sp>
        <p:nvSpPr>
          <p:cNvPr id="7" name="They get confused circle"/>
          <p:cNvSpPr/>
          <p:nvPr/>
        </p:nvSpPr>
        <p:spPr>
          <a:xfrm>
            <a:off x="457200" y="2880360"/>
            <a:ext cx="502920" cy="502920"/>
          </a:xfrm>
          <a:prstGeom prst="ellipse">
            <a:avLst/>
          </a:prstGeom>
          <a:solidFill>
            <a:schemeClr val="accent4"/>
          </a:solidFill>
          <a:ln w="12700">
            <a:solidFill>
              <a:schemeClr val="accent4"/>
            </a:solidFill>
            <a:prstDash val="solid"/>
          </a:ln>
        </p:spPr>
        <p:txBody>
          <a:bodyPr/>
          <a:lstStyle/>
          <a:p>
            <a:endParaRPr lang="en-US"/>
          </a:p>
        </p:txBody>
      </p:sp>
      <p:pic>
        <p:nvPicPr>
          <p:cNvPr id="8" name="They get confused icon" descr="They get confused"/>
          <p:cNvPicPr>
            <a:picLocks noChangeAspect="1"/>
          </p:cNvPicPr>
          <p:nvPr/>
        </p:nvPicPr>
        <p:blipFill>
          <a:blip r:embed="rId4"/>
          <a:stretch>
            <a:fillRect/>
          </a:stretch>
        </p:blipFill>
        <p:spPr>
          <a:xfrm>
            <a:off x="587959" y="3011119"/>
            <a:ext cx="241402" cy="241402"/>
          </a:xfrm>
          <a:prstGeom prst="rect">
            <a:avLst/>
          </a:prstGeom>
        </p:spPr>
      </p:pic>
      <p:sp>
        <p:nvSpPr>
          <p:cNvPr id="9" name="Signal 2"/>
          <p:cNvSpPr txBox="1"/>
          <p:nvPr/>
        </p:nvSpPr>
        <p:spPr>
          <a:xfrm>
            <a:off x="1143000" y="2880360"/>
            <a:ext cx="3474720" cy="502920"/>
          </a:xfrm>
          <a:prstGeom prst="rect">
            <a:avLst/>
          </a:prstGeom>
          <a:noFill/>
          <a:ln/>
        </p:spPr>
        <p:txBody>
          <a:bodyPr wrap="square" lIns="0" tIns="0" rIns="0" bIns="0" rtlCol="0" anchor="ctr"/>
          <a:lstStyle/>
          <a:p>
            <a:pPr marL="0" indent="0">
              <a:buNone/>
            </a:pPr>
            <a:r>
              <a:rPr lang="en-US" sz="1700" dirty="0">
                <a:solidFill>
                  <a:schemeClr val="tx1"/>
                </a:solidFill>
                <a:latin typeface="Calibri" pitchFamily="34" charset="0"/>
                <a:ea typeface="Calibri" pitchFamily="34" charset="-122"/>
                <a:cs typeface="Calibri" pitchFamily="34" charset="-120"/>
              </a:rPr>
              <a:t>They get confused</a:t>
            </a:r>
            <a:endParaRPr lang="en-US" sz="1700" dirty="0"/>
          </a:p>
        </p:txBody>
      </p:sp>
      <p:sp>
        <p:nvSpPr>
          <p:cNvPr id="10" name="They get stuck circle"/>
          <p:cNvSpPr/>
          <p:nvPr/>
        </p:nvSpPr>
        <p:spPr>
          <a:xfrm>
            <a:off x="457200" y="3566160"/>
            <a:ext cx="502920" cy="502920"/>
          </a:xfrm>
          <a:prstGeom prst="ellipse">
            <a:avLst/>
          </a:prstGeom>
          <a:solidFill>
            <a:schemeClr val="accent4"/>
          </a:solidFill>
          <a:ln w="12700">
            <a:solidFill>
              <a:schemeClr val="accent4"/>
            </a:solidFill>
            <a:prstDash val="solid"/>
          </a:ln>
        </p:spPr>
        <p:txBody>
          <a:bodyPr/>
          <a:lstStyle/>
          <a:p>
            <a:endParaRPr lang="en-US"/>
          </a:p>
        </p:txBody>
      </p:sp>
      <p:pic>
        <p:nvPicPr>
          <p:cNvPr id="11" name="They get stuck icon" descr="They get stuck"/>
          <p:cNvPicPr>
            <a:picLocks noChangeAspect="1"/>
          </p:cNvPicPr>
          <p:nvPr/>
        </p:nvPicPr>
        <p:blipFill>
          <a:blip r:embed="rId5"/>
          <a:stretch>
            <a:fillRect/>
          </a:stretch>
        </p:blipFill>
        <p:spPr>
          <a:xfrm>
            <a:off x="587959" y="3696919"/>
            <a:ext cx="241402" cy="241402"/>
          </a:xfrm>
          <a:prstGeom prst="rect">
            <a:avLst/>
          </a:prstGeom>
        </p:spPr>
      </p:pic>
      <p:sp>
        <p:nvSpPr>
          <p:cNvPr id="12" name="Signal 3"/>
          <p:cNvSpPr txBox="1"/>
          <p:nvPr/>
        </p:nvSpPr>
        <p:spPr>
          <a:xfrm>
            <a:off x="1143000" y="3566160"/>
            <a:ext cx="3474720" cy="502920"/>
          </a:xfrm>
          <a:prstGeom prst="rect">
            <a:avLst/>
          </a:prstGeom>
          <a:noFill/>
          <a:ln/>
        </p:spPr>
        <p:txBody>
          <a:bodyPr wrap="square" lIns="0" tIns="0" rIns="0" bIns="0" rtlCol="0" anchor="ctr"/>
          <a:lstStyle/>
          <a:p>
            <a:pPr marL="0" indent="0">
              <a:buNone/>
            </a:pPr>
            <a:r>
              <a:rPr lang="en-US" sz="1700" dirty="0">
                <a:solidFill>
                  <a:schemeClr val="tx1"/>
                </a:solidFill>
                <a:latin typeface="Calibri" pitchFamily="34" charset="0"/>
                <a:ea typeface="Calibri" pitchFamily="34" charset="-122"/>
                <a:cs typeface="Calibri" pitchFamily="34" charset="-120"/>
              </a:rPr>
              <a:t>They get stuck</a:t>
            </a:r>
            <a:endParaRPr lang="en-US" sz="1700" dirty="0"/>
          </a:p>
        </p:txBody>
      </p:sp>
      <p:sp>
        <p:nvSpPr>
          <p:cNvPr id="13" name="Decoding card"/>
          <p:cNvSpPr/>
          <p:nvPr/>
        </p:nvSpPr>
        <p:spPr>
          <a:xfrm>
            <a:off x="4937760" y="1188720"/>
            <a:ext cx="3749040" cy="3291840"/>
          </a:xfrm>
          <a:prstGeom prst="roundRect">
            <a:avLst>
              <a:gd name="adj" fmla="val 2222"/>
            </a:avLst>
          </a:prstGeom>
          <a:solidFill>
            <a:schemeClr val="accent1"/>
          </a:solidFill>
          <a:ln w="12700">
            <a:solidFill>
              <a:schemeClr val="accent1"/>
            </a:solidFill>
            <a:prstDash val="solid"/>
          </a:ln>
          <a:effectLst>
            <a:outerShdw blurRad="76200" dist="19050" dir="5400000" algn="bl" rotWithShape="0">
              <a:srgbClr val="000000">
                <a:alpha val="12000"/>
              </a:srgbClr>
            </a:outerShdw>
          </a:effectLst>
        </p:spPr>
        <p:txBody>
          <a:bodyPr/>
          <a:lstStyle/>
          <a:p>
            <a:endParaRPr lang="en-US"/>
          </a:p>
        </p:txBody>
      </p:sp>
      <p:sp>
        <p:nvSpPr>
          <p:cNvPr id="14" name="Decoding kicker"/>
          <p:cNvSpPr txBox="1"/>
          <p:nvPr/>
        </p:nvSpPr>
        <p:spPr>
          <a:xfrm>
            <a:off x="5212080" y="1417320"/>
            <a:ext cx="3291840" cy="274320"/>
          </a:xfrm>
          <a:prstGeom prst="rect">
            <a:avLst/>
          </a:prstGeom>
          <a:noFill/>
          <a:ln/>
        </p:spPr>
        <p:txBody>
          <a:bodyPr wrap="square" lIns="0" tIns="0" rIns="0" bIns="0" rtlCol="0" anchor="t"/>
          <a:lstStyle/>
          <a:p>
            <a:pPr marL="0" indent="0">
              <a:buNone/>
            </a:pPr>
            <a:r>
              <a:rPr lang="en-US" sz="1200" b="1" kern="0" spc="200" dirty="0">
                <a:solidFill>
                  <a:schemeClr val="accent2"/>
                </a:solidFill>
                <a:latin typeface="Calibri" pitchFamily="34" charset="0"/>
                <a:ea typeface="Calibri" pitchFamily="34" charset="-122"/>
                <a:cs typeface="Calibri" pitchFamily="34" charset="-120"/>
              </a:rPr>
              <a:t>DECODING THE DISCIPLINES</a:t>
            </a:r>
            <a:endParaRPr lang="en-US" sz="1200" dirty="0"/>
          </a:p>
        </p:txBody>
      </p:sp>
      <p:sp>
        <p:nvSpPr>
          <p:cNvPr id="15" name="Bottleneck"/>
          <p:cNvSpPr txBox="1"/>
          <p:nvPr/>
        </p:nvSpPr>
        <p:spPr>
          <a:xfrm>
            <a:off x="5212080" y="1783080"/>
            <a:ext cx="3246120" cy="1143000"/>
          </a:xfrm>
          <a:prstGeom prst="rect">
            <a:avLst/>
          </a:prstGeom>
          <a:noFill/>
          <a:ln/>
        </p:spPr>
        <p:txBody>
          <a:bodyPr wrap="square" lIns="0" tIns="0" rIns="0" bIns="0" rtlCol="0" anchor="t"/>
          <a:lstStyle/>
          <a:p>
            <a:pPr marL="0" indent="0">
              <a:buNone/>
            </a:pPr>
            <a:r>
              <a:rPr lang="en-US" sz="1700" dirty="0">
                <a:solidFill>
                  <a:schemeClr val="bg1"/>
                </a:solidFill>
                <a:latin typeface="Calibri" pitchFamily="34" charset="0"/>
                <a:ea typeface="Calibri" pitchFamily="34" charset="-122"/>
                <a:cs typeface="Calibri" pitchFamily="34" charset="-120"/>
              </a:rPr>
              <a:t>Begin with a bottleneck: a point where many students' learning is interrupted on a concept or task.</a:t>
            </a:r>
            <a:endParaRPr lang="en-US" sz="1700" dirty="0"/>
          </a:p>
        </p:txBody>
      </p:sp>
      <p:sp>
        <p:nvSpPr>
          <p:cNvPr id="16" name="Expertise"/>
          <p:cNvSpPr txBox="1"/>
          <p:nvPr/>
        </p:nvSpPr>
        <p:spPr>
          <a:xfrm>
            <a:off x="5212080" y="3063240"/>
            <a:ext cx="3246120" cy="1097280"/>
          </a:xfrm>
          <a:prstGeom prst="rect">
            <a:avLst/>
          </a:prstGeom>
          <a:noFill/>
          <a:ln/>
        </p:spPr>
        <p:txBody>
          <a:bodyPr wrap="square" lIns="0" tIns="0" rIns="0" bIns="0" rtlCol="0" anchor="t"/>
          <a:lstStyle/>
          <a:p>
            <a:pPr marL="0" indent="0">
              <a:buNone/>
            </a:pPr>
            <a:r>
              <a:rPr lang="en-US" sz="1500" i="1" dirty="0">
                <a:solidFill>
                  <a:srgbClr val="E3ECE6"/>
                </a:solidFill>
                <a:latin typeface="Calibri" pitchFamily="34" charset="0"/>
                <a:ea typeface="Calibri" pitchFamily="34" charset="-122"/>
                <a:cs typeface="Calibri" pitchFamily="34" charset="-120"/>
              </a:rPr>
              <a:t>Your experience as a disciplinary expert and teacher defines the student side of the stress test.</a:t>
            </a:r>
            <a:endParaRPr lang="en-US" sz="1500" dirty="0"/>
          </a:p>
        </p:txBody>
      </p:sp>
      <p:sp>
        <p:nvSpPr>
          <p:cNvPr id="17" name="Citation"/>
          <p:cNvSpPr txBox="1"/>
          <p:nvPr/>
        </p:nvSpPr>
        <p:spPr>
          <a:xfrm>
            <a:off x="457200" y="4754880"/>
            <a:ext cx="7772400" cy="256032"/>
          </a:xfrm>
          <a:prstGeom prst="rect">
            <a:avLst/>
          </a:prstGeom>
          <a:noFill/>
          <a:ln/>
        </p:spPr>
        <p:txBody>
          <a:bodyPr wrap="square" lIns="0" tIns="0" rIns="0" bIns="0" rtlCol="0" anchor="ctr"/>
          <a:lstStyle/>
          <a:p>
            <a:pPr marL="0" indent="0">
              <a:buNone/>
            </a:pPr>
            <a:r>
              <a:rPr lang="en-US" sz="1000" dirty="0">
                <a:solidFill>
                  <a:schemeClr val="accent3"/>
                </a:solidFill>
                <a:latin typeface="Calibri" pitchFamily="34" charset="0"/>
                <a:ea typeface="Calibri" pitchFamily="34" charset="-122"/>
                <a:cs typeface="Calibri" pitchFamily="34" charset="-120"/>
              </a:rPr>
              <a:t>Middendorf &amp; Pace (2004)</a:t>
            </a:r>
            <a:endParaRPr lang="en-US" sz="1000" dirty="0"/>
          </a:p>
        </p:txBody>
      </p:sp>
      <p:sp>
        <p:nvSpPr>
          <p:cNvPr id="25" name="Slide Number Placeholder 0"/>
          <p:cNvSpPr>
            <a:spLocks noGrp="1"/>
          </p:cNvSpPr>
          <p:nvPr>
            <p:ph type="sldNum" sz="quarter" idx="4294967295"/>
          </p:nvPr>
        </p:nvSpPr>
        <p:spPr>
          <a:xfrm>
            <a:off x="841248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3"/>
                </a:solidFill>
              </a:defRPr>
            </a:lvl1pPr>
          </a:lstStyle>
          <a:p>
            <a:pPr algn="r"/>
            <a:fld id="{F7021451-1387-4CA6-816F-3879F97B5CBC}" type="slidenum">
              <a:rPr lang="en-US" b="0"/>
              <a:t>20</a:t>
            </a:fld>
            <a:endParaRPr lang="en-US"/>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65E43-8D0B-8343-5962-23F720D0678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E7E12AE-3EA9-B3E4-9B5E-27EC5B0B8C26}"/>
              </a:ext>
            </a:extLst>
          </p:cNvPr>
          <p:cNvSpPr>
            <a:spLocks noGrp="1"/>
          </p:cNvSpPr>
          <p:nvPr>
            <p:ph type="title" idx="100" hasCustomPrompt="1"/>
          </p:nvPr>
        </p:nvSpPr>
        <p:spPr>
          <a:xfrm>
            <a:off x="457200" y="256032"/>
            <a:ext cx="8229600" cy="685800"/>
          </a:xfrm>
          <a:prstGeom prst="rect">
            <a:avLst/>
          </a:prstGeom>
          <a:noFill/>
          <a:ln/>
        </p:spPr>
        <p:txBody>
          <a:bodyPr wrap="square" lIns="0" tIns="0" rIns="0" bIns="0" rtlCol="0" anchor="ctr"/>
          <a:lstStyle/>
          <a:p>
            <a:pPr marL="0" indent="0" algn="ctr">
              <a:buNone/>
            </a:pPr>
            <a:r>
              <a:rPr lang="en-US" sz="3400" b="1" dirty="0">
                <a:solidFill>
                  <a:schemeClr val="tx2"/>
                </a:solidFill>
              </a:rPr>
              <a:t>Worked example: EDMS 523 Bundle 1</a:t>
            </a:r>
            <a:endParaRPr lang="en-US" sz="3400" dirty="0"/>
          </a:p>
        </p:txBody>
      </p:sp>
      <p:sp>
        <p:nvSpPr>
          <p:cNvPr id="3" name="Assignment context">
            <a:extLst>
              <a:ext uri="{FF2B5EF4-FFF2-40B4-BE49-F238E27FC236}">
                <a16:creationId xmlns:a16="http://schemas.microsoft.com/office/drawing/2014/main" id="{1EA830CF-7FE2-C2CE-67A4-F00A22F024CF}"/>
              </a:ext>
            </a:extLst>
          </p:cNvPr>
          <p:cNvSpPr txBox="1"/>
          <p:nvPr/>
        </p:nvSpPr>
        <p:spPr>
          <a:xfrm>
            <a:off x="457200" y="914400"/>
            <a:ext cx="8229600" cy="274320"/>
          </a:xfrm>
          <a:prstGeom prst="rect">
            <a:avLst/>
          </a:prstGeom>
          <a:noFill/>
          <a:ln/>
        </p:spPr>
        <p:txBody>
          <a:bodyPr wrap="square" lIns="0" tIns="0" rIns="0" bIns="0" rtlCol="0" anchor="t"/>
          <a:lstStyle/>
          <a:p>
            <a:pPr marL="0" indent="0" algn="ctr">
              <a:buNone/>
            </a:pPr>
            <a:r>
              <a:rPr lang="en-US" sz="1300" i="1" dirty="0">
                <a:solidFill>
                  <a:schemeClr val="accent3"/>
                </a:solidFill>
                <a:latin typeface="Calibri" pitchFamily="34" charset="0"/>
                <a:ea typeface="Calibri" pitchFamily="34" charset="-122"/>
                <a:cs typeface="Calibri" pitchFamily="34" charset="-120"/>
              </a:rPr>
              <a:t>Lesson plan bundle on academic language, vocabulary, and English learners</a:t>
            </a:r>
            <a:endParaRPr lang="en-US" sz="1300" dirty="0"/>
          </a:p>
        </p:txBody>
      </p:sp>
      <p:graphicFrame>
        <p:nvGraphicFramePr>
          <p:cNvPr id="17" name="Bundle 1 gap table">
            <a:extLst>
              <a:ext uri="{FF2B5EF4-FFF2-40B4-BE49-F238E27FC236}">
                <a16:creationId xmlns:a16="http://schemas.microsoft.com/office/drawing/2014/main" id="{15C95215-4680-2B60-B938-8EAF42EBEC9E}"/>
              </a:ext>
            </a:extLst>
          </p:cNvPr>
          <p:cNvGraphicFramePr>
            <a:graphicFrameLocks noGrp="1"/>
          </p:cNvGraphicFramePr>
          <p:nvPr/>
        </p:nvGraphicFramePr>
        <p:xfrm>
          <a:off x="457200" y="1298448"/>
          <a:ext cx="8229600" cy="3291840"/>
        </p:xfrm>
        <a:graphic>
          <a:graphicData uri="http://schemas.openxmlformats.org/drawingml/2006/table">
            <a:tbl>
              <a:tblPr/>
              <a:tblGrid>
                <a:gridCol w="205740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tblGrid>
              <a:tr h="512064">
                <a:tc>
                  <a:txBody>
                    <a:bodyPr/>
                    <a:lstStyle/>
                    <a:p>
                      <a:pPr marL="0" indent="0">
                        <a:buNone/>
                      </a:pPr>
                      <a:r>
                        <a:rPr lang="en-US" sz="1200" b="1" dirty="0">
                          <a:solidFill>
                            <a:schemeClr val="bg1"/>
                          </a:solidFill>
                          <a:latin typeface="Calibri" pitchFamily="34" charset="0"/>
                          <a:ea typeface="Calibri" pitchFamily="34" charset="-122"/>
                          <a:cs typeface="Calibri" pitchFamily="34" charset="-120"/>
                        </a:rPr>
                        <a:t>What the candidate does</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accent1"/>
                    </a:solidFill>
                  </a:tcPr>
                </a:tc>
                <a:tc>
                  <a:txBody>
                    <a:bodyPr/>
                    <a:lstStyle/>
                    <a:p>
                      <a:pPr marL="0" indent="0">
                        <a:buNone/>
                      </a:pPr>
                      <a:r>
                        <a:rPr lang="en-US" sz="1200" b="1" dirty="0">
                          <a:solidFill>
                            <a:schemeClr val="bg1"/>
                          </a:solidFill>
                          <a:latin typeface="Calibri" pitchFamily="34" charset="0"/>
                          <a:ea typeface="Calibri" pitchFamily="34" charset="-122"/>
                          <a:cs typeface="Calibri" pitchFamily="34" charset="-120"/>
                        </a:rPr>
                        <a:t>What AI produced on its own</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accent1"/>
                    </a:solidFill>
                  </a:tcPr>
                </a:tc>
                <a:tc>
                  <a:txBody>
                    <a:bodyPr/>
                    <a:lstStyle/>
                    <a:p>
                      <a:pPr marL="0" indent="0">
                        <a:buNone/>
                      </a:pPr>
                      <a:r>
                        <a:rPr lang="en-US" sz="1200" b="1" dirty="0">
                          <a:solidFill>
                            <a:schemeClr val="bg1"/>
                          </a:solidFill>
                          <a:latin typeface="Calibri" pitchFamily="34" charset="0"/>
                          <a:ea typeface="Calibri" pitchFamily="34" charset="-122"/>
                          <a:cs typeface="Calibri" pitchFamily="34" charset="-120"/>
                        </a:rPr>
                        <a:t>AI</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accent1"/>
                    </a:solidFill>
                  </a:tcPr>
                </a:tc>
                <a:tc>
                  <a:txBody>
                    <a:bodyPr/>
                    <a:lstStyle/>
                    <a:p>
                      <a:pPr marL="0" indent="0">
                        <a:buNone/>
                      </a:pPr>
                      <a:r>
                        <a:rPr lang="en-US" sz="1200" b="1" dirty="0">
                          <a:solidFill>
                            <a:schemeClr val="bg1"/>
                          </a:solidFill>
                          <a:latin typeface="Calibri" pitchFamily="34" charset="0"/>
                          <a:ea typeface="Calibri" pitchFamily="34" charset="-122"/>
                          <a:cs typeface="Calibri" pitchFamily="34" charset="-120"/>
                        </a:rPr>
                        <a:t>Candidates</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accent1"/>
                    </a:solidFill>
                  </a:tcPr>
                </a:tc>
                <a:tc>
                  <a:txBody>
                    <a:bodyPr/>
                    <a:lstStyle/>
                    <a:p>
                      <a:pPr marL="0" indent="0">
                        <a:buNone/>
                      </a:pPr>
                      <a:r>
                        <a:rPr lang="en-US" sz="1200" b="1" dirty="0">
                          <a:solidFill>
                            <a:schemeClr val="bg1"/>
                          </a:solidFill>
                          <a:latin typeface="Calibri" pitchFamily="34" charset="0"/>
                          <a:ea typeface="Calibri" pitchFamily="34" charset="-122"/>
                          <a:cs typeface="Calibri" pitchFamily="34" charset="-120"/>
                        </a:rPr>
                        <a:t>Read</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512064">
                <a:tc>
                  <a:txBody>
                    <a:bodyPr/>
                    <a:lstStyle/>
                    <a:p>
                      <a:pPr marL="0" indent="0">
                        <a:buNone/>
                      </a:pPr>
                      <a:r>
                        <a:rPr lang="en-US" sz="1200" b="1" dirty="0">
                          <a:solidFill>
                            <a:schemeClr val="tx1"/>
                          </a:solidFill>
                          <a:latin typeface="Calibri" pitchFamily="34" charset="0"/>
                          <a:ea typeface="Calibri" pitchFamily="34" charset="-122"/>
                          <a:cs typeface="Calibri" pitchFamily="34" charset="-120"/>
                        </a:rPr>
                        <a:t>Describe the class context</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Invented a plausible class. Fluent, and entirely fabricated.</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Weak</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Strong</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tx2"/>
                          </a:solidFill>
                          <a:latin typeface="Calibri" pitchFamily="34" charset="0"/>
                          <a:ea typeface="Calibri" pitchFamily="34" charset="-122"/>
                          <a:cs typeface="Calibri" pitchFamily="34" charset="-120"/>
                        </a:rPr>
                        <a:t>PRESERVE</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accent4"/>
                    </a:solidFill>
                  </a:tcPr>
                </a:tc>
                <a:extLst>
                  <a:ext uri="{0D108BD9-81ED-4DB2-BD59-A6C34878D82A}">
                    <a16:rowId xmlns:a16="http://schemas.microsoft.com/office/drawing/2014/main" val="10001"/>
                  </a:ext>
                </a:extLst>
              </a:tr>
              <a:tr h="512064">
                <a:tc>
                  <a:txBody>
                    <a:bodyPr/>
                    <a:lstStyle/>
                    <a:p>
                      <a:pPr marL="0" indent="0">
                        <a:buNone/>
                      </a:pPr>
                      <a:r>
                        <a:rPr lang="en-US" sz="1200" b="1" dirty="0">
                          <a:solidFill>
                            <a:schemeClr val="tx1"/>
                          </a:solidFill>
                          <a:latin typeface="Calibri" pitchFamily="34" charset="0"/>
                          <a:ea typeface="Calibri" pitchFamily="34" charset="-122"/>
                          <a:cs typeface="Calibri" pitchFamily="34" charset="-120"/>
                        </a:rPr>
                        <a:t>Sequence the instruction</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A full sequence, more detailed and connected than any pre-service candidate submission</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Strong</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Struggling</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tx1"/>
                          </a:solidFill>
                          <a:latin typeface="Calibri" pitchFamily="34" charset="0"/>
                          <a:ea typeface="Calibri" pitchFamily="34" charset="-122"/>
                          <a:cs typeface="Calibri" pitchFamily="34" charset="-120"/>
                        </a:rPr>
                        <a:t>VULNERABLE</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accent2"/>
                    </a:solidFill>
                  </a:tcPr>
                </a:tc>
                <a:extLst>
                  <a:ext uri="{0D108BD9-81ED-4DB2-BD59-A6C34878D82A}">
                    <a16:rowId xmlns:a16="http://schemas.microsoft.com/office/drawing/2014/main" val="10002"/>
                  </a:ext>
                </a:extLst>
              </a:tr>
              <a:tr h="512064">
                <a:tc>
                  <a:txBody>
                    <a:bodyPr/>
                    <a:lstStyle/>
                    <a:p>
                      <a:pPr marL="0" indent="0">
                        <a:buNone/>
                      </a:pPr>
                      <a:r>
                        <a:rPr lang="en-US" sz="1200" b="1" dirty="0">
                          <a:solidFill>
                            <a:schemeClr val="tx1"/>
                          </a:solidFill>
                          <a:latin typeface="Calibri" pitchFamily="34" charset="0"/>
                          <a:ea typeface="Calibri" pitchFamily="34" charset="-122"/>
                          <a:cs typeface="Calibri" pitchFamily="34" charset="-120"/>
                        </a:rPr>
                        <a:t>Write the lesson rationale</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Well reasoned rationale that accurately justified decisions made throughout the instructional sequence. </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Strong</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Struggling</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tx1"/>
                          </a:solidFill>
                          <a:latin typeface="Calibri" pitchFamily="34" charset="0"/>
                          <a:ea typeface="Calibri" pitchFamily="34" charset="-122"/>
                          <a:cs typeface="Calibri" pitchFamily="34" charset="-120"/>
                        </a:rPr>
                        <a:t>VULNERABLE</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accent2"/>
                    </a:solidFill>
                  </a:tcPr>
                </a:tc>
                <a:extLst>
                  <a:ext uri="{0D108BD9-81ED-4DB2-BD59-A6C34878D82A}">
                    <a16:rowId xmlns:a16="http://schemas.microsoft.com/office/drawing/2014/main" val="10003"/>
                  </a:ext>
                </a:extLst>
              </a:tr>
              <a:tr h="512064">
                <a:tc>
                  <a:txBody>
                    <a:bodyPr/>
                    <a:lstStyle/>
                    <a:p>
                      <a:pPr marL="0" indent="0">
                        <a:buNone/>
                      </a:pPr>
                      <a:r>
                        <a:rPr lang="en-US" sz="1200" b="1" dirty="0">
                          <a:solidFill>
                            <a:schemeClr val="tx1"/>
                          </a:solidFill>
                          <a:latin typeface="Calibri" pitchFamily="34" charset="0"/>
                          <a:ea typeface="Calibri" pitchFamily="34" charset="-122"/>
                          <a:cs typeface="Calibri" pitchFamily="34" charset="-120"/>
                        </a:rPr>
                        <a:t>Connect decisions to theory</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buNone/>
                      </a:pPr>
                      <a:r>
                        <a:rPr lang="en-US" sz="1200" dirty="0">
                          <a:latin typeface="Calibri" charset="0"/>
                          <a:ea typeface="Calibri" charset="0"/>
                          <a:cs typeface="Calibri" charset="0"/>
                        </a:rPr>
                        <a:t>Strategies for ELL and students with accommodations tied to evidence-based pedagogy. </a:t>
                      </a: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Strong</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Struggling</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tx1"/>
                          </a:solidFill>
                          <a:latin typeface="Calibri" pitchFamily="34" charset="0"/>
                          <a:ea typeface="Calibri" pitchFamily="34" charset="-122"/>
                          <a:cs typeface="Calibri" pitchFamily="34" charset="-120"/>
                        </a:rPr>
                        <a:t>VULNERABLE</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accent2"/>
                    </a:solidFill>
                  </a:tcPr>
                </a:tc>
                <a:extLst>
                  <a:ext uri="{0D108BD9-81ED-4DB2-BD59-A6C34878D82A}">
                    <a16:rowId xmlns:a16="http://schemas.microsoft.com/office/drawing/2014/main" val="10004"/>
                  </a:ext>
                </a:extLst>
              </a:tr>
              <a:tr h="512064">
                <a:tc>
                  <a:txBody>
                    <a:bodyPr/>
                    <a:lstStyle/>
                    <a:p>
                      <a:pPr marL="0" indent="0">
                        <a:buNone/>
                      </a:pPr>
                      <a:r>
                        <a:rPr lang="en-US" sz="1200" b="1" dirty="0">
                          <a:solidFill>
                            <a:schemeClr val="tx1"/>
                          </a:solidFill>
                          <a:latin typeface="Calibri" pitchFamily="34" charset="0"/>
                          <a:ea typeface="Calibri" pitchFamily="34" charset="-122"/>
                          <a:cs typeface="Calibri" pitchFamily="34" charset="-120"/>
                        </a:rPr>
                        <a:t>Strategy Book entry</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Indistinguishable from a strong submission. Generated in seconds without any human direction required.</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Strong</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Strong</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tx1"/>
                          </a:solidFill>
                          <a:latin typeface="Calibri" pitchFamily="34" charset="0"/>
                          <a:ea typeface="Calibri" pitchFamily="34" charset="-122"/>
                          <a:cs typeface="Calibri" pitchFamily="34" charset="-120"/>
                        </a:rPr>
                        <a:t>CUT</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25" name="Slide Number Placeholder 0">
            <a:extLst>
              <a:ext uri="{FF2B5EF4-FFF2-40B4-BE49-F238E27FC236}">
                <a16:creationId xmlns:a16="http://schemas.microsoft.com/office/drawing/2014/main" id="{3A26418A-0D85-4E21-EE6D-F689041F1054}"/>
              </a:ext>
            </a:extLst>
          </p:cNvPr>
          <p:cNvSpPr>
            <a:spLocks noGrp="1"/>
          </p:cNvSpPr>
          <p:nvPr>
            <p:ph type="sldNum" sz="quarter" idx="4294967295"/>
          </p:nvPr>
        </p:nvSpPr>
        <p:spPr>
          <a:xfrm>
            <a:off x="841248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3"/>
                </a:solidFill>
              </a:defRPr>
            </a:lvl1pPr>
          </a:lstStyle>
          <a:p>
            <a:pPr algn="r"/>
            <a:fld id="{F7021451-1387-4CA6-816F-3879F97B5CBC}" type="slidenum">
              <a:rPr lang="en-US" b="0"/>
              <a:t>21</a:t>
            </a:fld>
            <a:endParaRPr lang="en-US"/>
          </a:p>
        </p:txBody>
      </p:sp>
      <p:sp>
        <p:nvSpPr>
          <p:cNvPr id="4" name="Rectangle 3">
            <a:extLst>
              <a:ext uri="{FF2B5EF4-FFF2-40B4-BE49-F238E27FC236}">
                <a16:creationId xmlns:a16="http://schemas.microsoft.com/office/drawing/2014/main" id="{BD6C4F60-788F-0375-C2AE-24F21060BE49}"/>
              </a:ext>
            </a:extLst>
          </p:cNvPr>
          <p:cNvSpPr/>
          <p:nvPr/>
        </p:nvSpPr>
        <p:spPr>
          <a:xfrm>
            <a:off x="7561542" y="1188720"/>
            <a:ext cx="1125258" cy="358444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06741131"/>
      </p:ext>
    </p:extLst>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85800"/>
          </a:xfrm>
          <a:prstGeom prst="rect">
            <a:avLst/>
          </a:prstGeom>
          <a:noFill/>
          <a:ln/>
        </p:spPr>
        <p:txBody>
          <a:bodyPr wrap="square" lIns="0" tIns="0" rIns="0" bIns="0" rtlCol="0" anchor="ctr"/>
          <a:lstStyle/>
          <a:p>
            <a:pPr marL="0" indent="0" algn="ctr">
              <a:buNone/>
            </a:pPr>
            <a:r>
              <a:rPr lang="en-US" sz="3400" b="1" dirty="0">
                <a:solidFill>
                  <a:schemeClr val="tx2"/>
                </a:solidFill>
              </a:rPr>
              <a:t>Read each task on two axes</a:t>
            </a:r>
            <a:endParaRPr lang="en-US" sz="3400" dirty="0"/>
          </a:p>
        </p:txBody>
      </p:sp>
      <p:sp>
        <p:nvSpPr>
          <p:cNvPr id="3" name="VULNERABLE cell"/>
          <p:cNvSpPr/>
          <p:nvPr/>
        </p:nvSpPr>
        <p:spPr>
          <a:xfrm>
            <a:off x="1508760" y="1097280"/>
            <a:ext cx="3547872" cy="1389888"/>
          </a:xfrm>
          <a:prstGeom prst="roundRect">
            <a:avLst>
              <a:gd name="adj" fmla="val 5263"/>
            </a:avLst>
          </a:prstGeom>
          <a:solidFill>
            <a:schemeClr val="accent2"/>
          </a:solidFill>
          <a:ln w="12700">
            <a:solidFill>
              <a:schemeClr val="accent2"/>
            </a:solidFill>
            <a:prstDash val="solid"/>
          </a:ln>
          <a:effectLst>
            <a:outerShdw blurRad="76200" dist="19050" dir="5400000" algn="bl" rotWithShape="0">
              <a:srgbClr val="000000">
                <a:alpha val="12000"/>
              </a:srgbClr>
            </a:outerShdw>
          </a:effectLst>
        </p:spPr>
        <p:txBody>
          <a:bodyPr/>
          <a:lstStyle/>
          <a:p>
            <a:endParaRPr lang="en-US"/>
          </a:p>
        </p:txBody>
      </p:sp>
      <p:sp>
        <p:nvSpPr>
          <p:cNvPr id="4" name="VULNERABLE label"/>
          <p:cNvSpPr txBox="1"/>
          <p:nvPr/>
        </p:nvSpPr>
        <p:spPr>
          <a:xfrm>
            <a:off x="1737360" y="1280160"/>
            <a:ext cx="3090672" cy="365760"/>
          </a:xfrm>
          <a:prstGeom prst="rect">
            <a:avLst/>
          </a:prstGeom>
          <a:noFill/>
          <a:ln/>
        </p:spPr>
        <p:txBody>
          <a:bodyPr wrap="square" lIns="0" tIns="0" rIns="0" bIns="0" rtlCol="0" anchor="t"/>
          <a:lstStyle/>
          <a:p>
            <a:pPr marL="0" indent="0">
              <a:buNone/>
            </a:pPr>
            <a:r>
              <a:rPr lang="en-US" sz="1800" b="1" kern="0" spc="100" dirty="0">
                <a:solidFill>
                  <a:schemeClr val="tx1"/>
                </a:solidFill>
                <a:latin typeface="Calibri" pitchFamily="34" charset="0"/>
                <a:ea typeface="Calibri" pitchFamily="34" charset="-122"/>
                <a:cs typeface="Calibri" pitchFamily="34" charset="-120"/>
              </a:rPr>
              <a:t>VULNERABLE</a:t>
            </a:r>
            <a:endParaRPr lang="en-US" sz="1800" dirty="0"/>
          </a:p>
        </p:txBody>
      </p:sp>
      <p:sp>
        <p:nvSpPr>
          <p:cNvPr id="5" name="VULNERABLE description"/>
          <p:cNvSpPr txBox="1"/>
          <p:nvPr/>
        </p:nvSpPr>
        <p:spPr>
          <a:xfrm>
            <a:off x="1737360" y="1691640"/>
            <a:ext cx="3090672" cy="73152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Where offloading can make learning fragile. Decide: integrate AI here? If so, in what role?</a:t>
            </a:r>
            <a:endParaRPr lang="en-US" sz="1400" dirty="0"/>
          </a:p>
        </p:txBody>
      </p:sp>
      <p:sp>
        <p:nvSpPr>
          <p:cNvPr id="6" name="CUT OR COMPRESS cell"/>
          <p:cNvSpPr/>
          <p:nvPr/>
        </p:nvSpPr>
        <p:spPr>
          <a:xfrm>
            <a:off x="5148072" y="1097280"/>
            <a:ext cx="3547872" cy="1389888"/>
          </a:xfrm>
          <a:prstGeom prst="roundRect">
            <a:avLst>
              <a:gd name="adj" fmla="val 5263"/>
            </a:avLst>
          </a:prstGeom>
          <a:solidFill>
            <a:schemeClr val="bg2"/>
          </a:solidFill>
          <a:ln w="12700">
            <a:solidFill>
              <a:schemeClr val="bg2"/>
            </a:solidFill>
            <a:prstDash val="solid"/>
          </a:ln>
        </p:spPr>
        <p:txBody>
          <a:bodyPr/>
          <a:lstStyle/>
          <a:p>
            <a:endParaRPr lang="en-US"/>
          </a:p>
        </p:txBody>
      </p:sp>
      <p:sp>
        <p:nvSpPr>
          <p:cNvPr id="7" name="CUT OR COMPRESS label"/>
          <p:cNvSpPr txBox="1"/>
          <p:nvPr/>
        </p:nvSpPr>
        <p:spPr>
          <a:xfrm>
            <a:off x="5376672" y="1280160"/>
            <a:ext cx="3090672" cy="365760"/>
          </a:xfrm>
          <a:prstGeom prst="rect">
            <a:avLst/>
          </a:prstGeom>
          <a:noFill/>
          <a:ln/>
        </p:spPr>
        <p:txBody>
          <a:bodyPr wrap="square" lIns="0" tIns="0" rIns="0" bIns="0" rtlCol="0" anchor="t"/>
          <a:lstStyle/>
          <a:p>
            <a:pPr marL="0" indent="0">
              <a:buNone/>
            </a:pPr>
            <a:r>
              <a:rPr lang="en-US" sz="1800" b="1" kern="0" spc="100" dirty="0">
                <a:solidFill>
                  <a:schemeClr val="tx1"/>
                </a:solidFill>
                <a:latin typeface="Calibri" pitchFamily="34" charset="0"/>
                <a:ea typeface="Calibri" pitchFamily="34" charset="-122"/>
                <a:cs typeface="Calibri" pitchFamily="34" charset="-120"/>
              </a:rPr>
              <a:t>CUT OR COMPRESS</a:t>
            </a:r>
            <a:endParaRPr lang="en-US" sz="1800" dirty="0"/>
          </a:p>
        </p:txBody>
      </p:sp>
      <p:sp>
        <p:nvSpPr>
          <p:cNvPr id="8" name="CUT OR COMPRESS description"/>
          <p:cNvSpPr txBox="1"/>
          <p:nvPr/>
        </p:nvSpPr>
        <p:spPr>
          <a:xfrm>
            <a:off x="5376672" y="1691640"/>
            <a:ext cx="3090672" cy="73152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The task no longer builds or reveals the thinking.</a:t>
            </a:r>
            <a:endParaRPr lang="en-US" sz="1400" dirty="0"/>
          </a:p>
        </p:txBody>
      </p:sp>
      <p:sp>
        <p:nvSpPr>
          <p:cNvPr id="9" name="TEACH cell"/>
          <p:cNvSpPr/>
          <p:nvPr/>
        </p:nvSpPr>
        <p:spPr>
          <a:xfrm>
            <a:off x="1508760" y="2578608"/>
            <a:ext cx="3547872" cy="1389888"/>
          </a:xfrm>
          <a:prstGeom prst="roundRect">
            <a:avLst>
              <a:gd name="adj" fmla="val 5263"/>
            </a:avLst>
          </a:prstGeom>
          <a:solidFill>
            <a:schemeClr val="accent1"/>
          </a:solidFill>
          <a:ln w="12700">
            <a:solidFill>
              <a:schemeClr val="accent1"/>
            </a:solidFill>
            <a:prstDash val="solid"/>
          </a:ln>
        </p:spPr>
        <p:txBody>
          <a:bodyPr/>
          <a:lstStyle/>
          <a:p>
            <a:endParaRPr lang="en-US"/>
          </a:p>
        </p:txBody>
      </p:sp>
      <p:sp>
        <p:nvSpPr>
          <p:cNvPr id="10" name="TEACH label"/>
          <p:cNvSpPr txBox="1"/>
          <p:nvPr/>
        </p:nvSpPr>
        <p:spPr>
          <a:xfrm>
            <a:off x="1737360" y="2761488"/>
            <a:ext cx="3090672" cy="365760"/>
          </a:xfrm>
          <a:prstGeom prst="rect">
            <a:avLst/>
          </a:prstGeom>
          <a:noFill/>
          <a:ln/>
        </p:spPr>
        <p:txBody>
          <a:bodyPr wrap="square" lIns="0" tIns="0" rIns="0" bIns="0" rtlCol="0" anchor="t"/>
          <a:lstStyle/>
          <a:p>
            <a:pPr marL="0" indent="0">
              <a:buNone/>
            </a:pPr>
            <a:r>
              <a:rPr lang="en-US" sz="1800" b="1" kern="0" spc="100" dirty="0">
                <a:solidFill>
                  <a:schemeClr val="bg1"/>
                </a:solidFill>
                <a:latin typeface="Calibri" pitchFamily="34" charset="0"/>
                <a:ea typeface="Calibri" pitchFamily="34" charset="-122"/>
                <a:cs typeface="Calibri" pitchFamily="34" charset="-120"/>
              </a:rPr>
              <a:t>TEACH</a:t>
            </a:r>
            <a:endParaRPr lang="en-US" sz="1800" dirty="0"/>
          </a:p>
        </p:txBody>
      </p:sp>
      <p:sp>
        <p:nvSpPr>
          <p:cNvPr id="11" name="TEACH description"/>
          <p:cNvSpPr txBox="1"/>
          <p:nvPr/>
        </p:nvSpPr>
        <p:spPr>
          <a:xfrm>
            <a:off x="1737360" y="3172968"/>
            <a:ext cx="3090672" cy="731520"/>
          </a:xfrm>
          <a:prstGeom prst="rect">
            <a:avLst/>
          </a:prstGeom>
          <a:noFill/>
          <a:ln/>
        </p:spPr>
        <p:txBody>
          <a:bodyPr wrap="square" lIns="0" tIns="0" rIns="0" bIns="0" rtlCol="0" anchor="t"/>
          <a:lstStyle/>
          <a:p>
            <a:pPr marL="0" indent="0">
              <a:buNone/>
            </a:pPr>
            <a:r>
              <a:rPr lang="en-US" sz="1400" dirty="0">
                <a:solidFill>
                  <a:schemeClr val="bg1"/>
                </a:solidFill>
                <a:latin typeface="Calibri" pitchFamily="34" charset="0"/>
                <a:ea typeface="Calibri" pitchFamily="34" charset="-122"/>
                <a:cs typeface="Calibri" pitchFamily="34" charset="-120"/>
              </a:rPr>
              <a:t>Human-essential, and a known struggle. Direct instruction, not an AI task.</a:t>
            </a:r>
            <a:endParaRPr lang="en-US" sz="1400" dirty="0"/>
          </a:p>
        </p:txBody>
      </p:sp>
      <p:sp>
        <p:nvSpPr>
          <p:cNvPr id="12" name="PRESERVE cell"/>
          <p:cNvSpPr/>
          <p:nvPr/>
        </p:nvSpPr>
        <p:spPr>
          <a:xfrm>
            <a:off x="5148072" y="2578608"/>
            <a:ext cx="3547872" cy="1389888"/>
          </a:xfrm>
          <a:prstGeom prst="roundRect">
            <a:avLst>
              <a:gd name="adj" fmla="val 5263"/>
            </a:avLst>
          </a:prstGeom>
          <a:solidFill>
            <a:schemeClr val="accent4"/>
          </a:solidFill>
          <a:ln w="12700">
            <a:solidFill>
              <a:schemeClr val="accent4"/>
            </a:solidFill>
            <a:prstDash val="solid"/>
          </a:ln>
        </p:spPr>
        <p:txBody>
          <a:bodyPr/>
          <a:lstStyle/>
          <a:p>
            <a:endParaRPr lang="en-US"/>
          </a:p>
        </p:txBody>
      </p:sp>
      <p:sp>
        <p:nvSpPr>
          <p:cNvPr id="13" name="PRESERVE label"/>
          <p:cNvSpPr txBox="1"/>
          <p:nvPr/>
        </p:nvSpPr>
        <p:spPr>
          <a:xfrm>
            <a:off x="5376672" y="2761488"/>
            <a:ext cx="3090672" cy="365760"/>
          </a:xfrm>
          <a:prstGeom prst="rect">
            <a:avLst/>
          </a:prstGeom>
          <a:noFill/>
          <a:ln/>
        </p:spPr>
        <p:txBody>
          <a:bodyPr wrap="square" lIns="0" tIns="0" rIns="0" bIns="0" rtlCol="0" anchor="t"/>
          <a:lstStyle/>
          <a:p>
            <a:pPr marL="0" indent="0">
              <a:buNone/>
            </a:pPr>
            <a:r>
              <a:rPr lang="en-US" sz="1800" b="1" kern="0" spc="100" dirty="0">
                <a:solidFill>
                  <a:schemeClr val="tx2"/>
                </a:solidFill>
                <a:latin typeface="Calibri" pitchFamily="34" charset="0"/>
                <a:ea typeface="Calibri" pitchFamily="34" charset="-122"/>
                <a:cs typeface="Calibri" pitchFamily="34" charset="-120"/>
              </a:rPr>
              <a:t>PRESERVE</a:t>
            </a:r>
            <a:endParaRPr lang="en-US" sz="1800" dirty="0"/>
          </a:p>
        </p:txBody>
      </p:sp>
      <p:sp>
        <p:nvSpPr>
          <p:cNvPr id="14" name="PRESERVE description"/>
          <p:cNvSpPr txBox="1"/>
          <p:nvPr/>
        </p:nvSpPr>
        <p:spPr>
          <a:xfrm>
            <a:off x="5376672" y="3172968"/>
            <a:ext cx="3090672" cy="73152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Students already do what AI cannot. Protect it.</a:t>
            </a:r>
            <a:endParaRPr lang="en-US" sz="1400" dirty="0"/>
          </a:p>
        </p:txBody>
      </p:sp>
      <p:sp>
        <p:nvSpPr>
          <p:cNvPr id="15" name="AI axis Strong"/>
          <p:cNvSpPr txBox="1"/>
          <p:nvPr/>
        </p:nvSpPr>
        <p:spPr>
          <a:xfrm>
            <a:off x="365760" y="1097280"/>
            <a:ext cx="1051560" cy="1389888"/>
          </a:xfrm>
          <a:prstGeom prst="rect">
            <a:avLst/>
          </a:prstGeom>
          <a:noFill/>
          <a:ln/>
        </p:spPr>
        <p:txBody>
          <a:bodyPr wrap="square" lIns="0" tIns="0" rIns="0" bIns="0" rtlCol="0" anchor="ctr"/>
          <a:lstStyle/>
          <a:p>
            <a:pPr marL="0" indent="0" algn="r">
              <a:buNone/>
            </a:pPr>
            <a:r>
              <a:rPr lang="en-US" sz="1200" dirty="0">
                <a:solidFill>
                  <a:schemeClr val="accent3"/>
                </a:solidFill>
                <a:latin typeface="Calibri" pitchFamily="34" charset="0"/>
                <a:ea typeface="Calibri" pitchFamily="34" charset="-122"/>
                <a:cs typeface="Calibri" pitchFamily="34" charset="-120"/>
              </a:rPr>
              <a:t>AI on its own</a:t>
            </a:r>
            <a:endParaRPr lang="en-US" sz="1200" dirty="0"/>
          </a:p>
          <a:p>
            <a:pPr marL="0" indent="0" algn="r">
              <a:buNone/>
            </a:pPr>
            <a:r>
              <a:rPr lang="en-US" sz="1200" b="1" dirty="0">
                <a:solidFill>
                  <a:schemeClr val="tx1"/>
                </a:solidFill>
                <a:latin typeface="Calibri" pitchFamily="34" charset="0"/>
                <a:ea typeface="Calibri" pitchFamily="34" charset="-122"/>
                <a:cs typeface="Calibri" pitchFamily="34" charset="-120"/>
              </a:rPr>
              <a:t>STRONG</a:t>
            </a:r>
            <a:endParaRPr lang="en-US" sz="1200" dirty="0"/>
          </a:p>
        </p:txBody>
      </p:sp>
      <p:sp>
        <p:nvSpPr>
          <p:cNvPr id="16" name="AI axis Weak"/>
          <p:cNvSpPr txBox="1"/>
          <p:nvPr/>
        </p:nvSpPr>
        <p:spPr>
          <a:xfrm>
            <a:off x="365760" y="2578608"/>
            <a:ext cx="1051560" cy="1389888"/>
          </a:xfrm>
          <a:prstGeom prst="rect">
            <a:avLst/>
          </a:prstGeom>
          <a:noFill/>
          <a:ln/>
        </p:spPr>
        <p:txBody>
          <a:bodyPr wrap="square" lIns="0" tIns="0" rIns="0" bIns="0" rtlCol="0" anchor="ctr"/>
          <a:lstStyle/>
          <a:p>
            <a:pPr marL="0" indent="0" algn="r">
              <a:buNone/>
            </a:pPr>
            <a:r>
              <a:rPr lang="en-US" sz="1200" dirty="0">
                <a:solidFill>
                  <a:schemeClr val="accent3"/>
                </a:solidFill>
                <a:latin typeface="Calibri" pitchFamily="34" charset="0"/>
                <a:ea typeface="Calibri" pitchFamily="34" charset="-122"/>
                <a:cs typeface="Calibri" pitchFamily="34" charset="-120"/>
              </a:rPr>
              <a:t>AI on its own</a:t>
            </a:r>
            <a:endParaRPr lang="en-US" sz="1200" dirty="0"/>
          </a:p>
          <a:p>
            <a:pPr marL="0" indent="0" algn="r">
              <a:buNone/>
            </a:pPr>
            <a:r>
              <a:rPr lang="en-US" sz="1200" b="1" dirty="0">
                <a:solidFill>
                  <a:schemeClr val="tx1"/>
                </a:solidFill>
                <a:latin typeface="Calibri" pitchFamily="34" charset="0"/>
                <a:ea typeface="Calibri" pitchFamily="34" charset="-122"/>
                <a:cs typeface="Calibri" pitchFamily="34" charset="-120"/>
              </a:rPr>
              <a:t>WEAK</a:t>
            </a:r>
            <a:endParaRPr lang="en-US" sz="1200" dirty="0"/>
          </a:p>
        </p:txBody>
      </p:sp>
      <p:sp>
        <p:nvSpPr>
          <p:cNvPr id="17" name="Student axis Struggling"/>
          <p:cNvSpPr txBox="1"/>
          <p:nvPr/>
        </p:nvSpPr>
        <p:spPr>
          <a:xfrm>
            <a:off x="1508760" y="4041648"/>
            <a:ext cx="3547872" cy="274320"/>
          </a:xfrm>
          <a:prstGeom prst="rect">
            <a:avLst/>
          </a:prstGeom>
          <a:noFill/>
          <a:ln/>
        </p:spPr>
        <p:txBody>
          <a:bodyPr wrap="square" lIns="0" tIns="0" rIns="0" bIns="0" rtlCol="0" anchor="ctr"/>
          <a:lstStyle/>
          <a:p>
            <a:pPr marL="0" indent="0" algn="ctr">
              <a:buNone/>
            </a:pPr>
            <a:r>
              <a:rPr lang="en-US" sz="1200" dirty="0">
                <a:solidFill>
                  <a:schemeClr val="accent3"/>
                </a:solidFill>
                <a:latin typeface="Calibri" pitchFamily="34" charset="0"/>
                <a:ea typeface="Calibri" pitchFamily="34" charset="-122"/>
                <a:cs typeface="Calibri" pitchFamily="34" charset="-120"/>
              </a:rPr>
              <a:t>Students on their own:  </a:t>
            </a:r>
            <a:r>
              <a:rPr lang="en-US" sz="1200" b="1" dirty="0">
                <a:solidFill>
                  <a:schemeClr val="tx1"/>
                </a:solidFill>
                <a:latin typeface="Calibri" pitchFamily="34" charset="0"/>
                <a:ea typeface="Calibri" pitchFamily="34" charset="-122"/>
                <a:cs typeface="Calibri" pitchFamily="34" charset="-120"/>
              </a:rPr>
              <a:t>STRUGGLING</a:t>
            </a:r>
            <a:endParaRPr lang="en-US" sz="1200" dirty="0"/>
          </a:p>
        </p:txBody>
      </p:sp>
      <p:sp>
        <p:nvSpPr>
          <p:cNvPr id="18" name="Student axis Strong"/>
          <p:cNvSpPr txBox="1"/>
          <p:nvPr/>
        </p:nvSpPr>
        <p:spPr>
          <a:xfrm>
            <a:off x="5148072" y="4041648"/>
            <a:ext cx="3547872" cy="274320"/>
          </a:xfrm>
          <a:prstGeom prst="rect">
            <a:avLst/>
          </a:prstGeom>
          <a:noFill/>
          <a:ln/>
        </p:spPr>
        <p:txBody>
          <a:bodyPr wrap="square" lIns="0" tIns="0" rIns="0" bIns="0" rtlCol="0" anchor="ctr"/>
          <a:lstStyle/>
          <a:p>
            <a:pPr marL="0" indent="0" algn="ctr">
              <a:buNone/>
            </a:pPr>
            <a:r>
              <a:rPr lang="en-US" sz="1200" dirty="0">
                <a:solidFill>
                  <a:schemeClr val="accent3"/>
                </a:solidFill>
                <a:latin typeface="Calibri" pitchFamily="34" charset="0"/>
                <a:ea typeface="Calibri" pitchFamily="34" charset="-122"/>
                <a:cs typeface="Calibri" pitchFamily="34" charset="-120"/>
              </a:rPr>
              <a:t>Students on their own:  </a:t>
            </a:r>
            <a:r>
              <a:rPr lang="en-US" sz="1200" b="1" dirty="0">
                <a:solidFill>
                  <a:schemeClr val="tx1"/>
                </a:solidFill>
                <a:latin typeface="Calibri" pitchFamily="34" charset="0"/>
                <a:ea typeface="Calibri" pitchFamily="34" charset="-122"/>
                <a:cs typeface="Calibri" pitchFamily="34" charset="-120"/>
              </a:rPr>
              <a:t>STRONG</a:t>
            </a:r>
            <a:endParaRPr lang="en-US" sz="1200" dirty="0"/>
          </a:p>
        </p:txBody>
      </p:sp>
      <p:sp>
        <p:nvSpPr>
          <p:cNvPr id="25" name="Slide Number Placeholder 0"/>
          <p:cNvSpPr>
            <a:spLocks noGrp="1"/>
          </p:cNvSpPr>
          <p:nvPr>
            <p:ph type="sldNum" sz="quarter" idx="4294967295"/>
          </p:nvPr>
        </p:nvSpPr>
        <p:spPr>
          <a:xfrm>
            <a:off x="841248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3"/>
                </a:solidFill>
              </a:defRPr>
            </a:lvl1pPr>
          </a:lstStyle>
          <a:p>
            <a:pPr algn="r"/>
            <a:fld id="{F7021451-1387-4CA6-816F-3879F97B5CBC}" type="slidenum">
              <a:rPr lang="en-US" b="0"/>
              <a:t>22</a:t>
            </a:fld>
            <a:endParaRPr lang="en-US"/>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6C6FC-244F-809D-7129-8E14ECFA10F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A2608A0-4562-E02B-3319-EDEB6B1D4789}"/>
              </a:ext>
            </a:extLst>
          </p:cNvPr>
          <p:cNvSpPr>
            <a:spLocks noGrp="1"/>
          </p:cNvSpPr>
          <p:nvPr>
            <p:ph type="title" idx="100" hasCustomPrompt="1"/>
          </p:nvPr>
        </p:nvSpPr>
        <p:spPr>
          <a:xfrm>
            <a:off x="457200" y="256032"/>
            <a:ext cx="8229600" cy="685800"/>
          </a:xfrm>
          <a:prstGeom prst="rect">
            <a:avLst/>
          </a:prstGeom>
          <a:noFill/>
          <a:ln/>
        </p:spPr>
        <p:txBody>
          <a:bodyPr wrap="square" lIns="0" tIns="0" rIns="0" bIns="0" rtlCol="0" anchor="ctr"/>
          <a:lstStyle/>
          <a:p>
            <a:pPr marL="0" indent="0" algn="ctr">
              <a:buNone/>
            </a:pPr>
            <a:r>
              <a:rPr lang="en-US" sz="3400" b="1" dirty="0">
                <a:solidFill>
                  <a:schemeClr val="tx2"/>
                </a:solidFill>
              </a:rPr>
              <a:t>Worked example: EDMS 523 Bundle 1</a:t>
            </a:r>
            <a:endParaRPr lang="en-US" sz="3400" dirty="0"/>
          </a:p>
        </p:txBody>
      </p:sp>
      <p:sp>
        <p:nvSpPr>
          <p:cNvPr id="3" name="Assignment context">
            <a:extLst>
              <a:ext uri="{FF2B5EF4-FFF2-40B4-BE49-F238E27FC236}">
                <a16:creationId xmlns:a16="http://schemas.microsoft.com/office/drawing/2014/main" id="{95EB26B7-DE2B-3ACC-A38C-2084D9CA14A5}"/>
              </a:ext>
            </a:extLst>
          </p:cNvPr>
          <p:cNvSpPr txBox="1"/>
          <p:nvPr/>
        </p:nvSpPr>
        <p:spPr>
          <a:xfrm>
            <a:off x="457200" y="914400"/>
            <a:ext cx="8229600" cy="274320"/>
          </a:xfrm>
          <a:prstGeom prst="rect">
            <a:avLst/>
          </a:prstGeom>
          <a:noFill/>
          <a:ln/>
        </p:spPr>
        <p:txBody>
          <a:bodyPr wrap="square" lIns="0" tIns="0" rIns="0" bIns="0" rtlCol="0" anchor="t"/>
          <a:lstStyle/>
          <a:p>
            <a:pPr marL="0" indent="0" algn="ctr">
              <a:buNone/>
            </a:pPr>
            <a:r>
              <a:rPr lang="en-US" sz="1300" i="1" dirty="0">
                <a:solidFill>
                  <a:schemeClr val="accent3"/>
                </a:solidFill>
                <a:latin typeface="Calibri" pitchFamily="34" charset="0"/>
                <a:ea typeface="Calibri" pitchFamily="34" charset="-122"/>
                <a:cs typeface="Calibri" pitchFamily="34" charset="-120"/>
              </a:rPr>
              <a:t>Lesson plan bundle on academic language, vocabulary, and English learners</a:t>
            </a:r>
            <a:endParaRPr lang="en-US" sz="1300" dirty="0"/>
          </a:p>
        </p:txBody>
      </p:sp>
      <p:graphicFrame>
        <p:nvGraphicFramePr>
          <p:cNvPr id="17" name="Bundle 1 gap table">
            <a:extLst>
              <a:ext uri="{FF2B5EF4-FFF2-40B4-BE49-F238E27FC236}">
                <a16:creationId xmlns:a16="http://schemas.microsoft.com/office/drawing/2014/main" id="{C43E0A97-E9A5-7C45-CF86-F772EA760DBC}"/>
              </a:ext>
            </a:extLst>
          </p:cNvPr>
          <p:cNvGraphicFramePr>
            <a:graphicFrameLocks noGrp="1"/>
          </p:cNvGraphicFramePr>
          <p:nvPr/>
        </p:nvGraphicFramePr>
        <p:xfrm>
          <a:off x="457200" y="1298448"/>
          <a:ext cx="8229600" cy="3291840"/>
        </p:xfrm>
        <a:graphic>
          <a:graphicData uri="http://schemas.openxmlformats.org/drawingml/2006/table">
            <a:tbl>
              <a:tblPr/>
              <a:tblGrid>
                <a:gridCol w="205740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tblGrid>
              <a:tr h="512064">
                <a:tc>
                  <a:txBody>
                    <a:bodyPr/>
                    <a:lstStyle/>
                    <a:p>
                      <a:pPr marL="0" indent="0">
                        <a:buNone/>
                      </a:pPr>
                      <a:r>
                        <a:rPr lang="en-US" sz="1200" b="1" dirty="0">
                          <a:solidFill>
                            <a:schemeClr val="bg1"/>
                          </a:solidFill>
                          <a:latin typeface="Calibri" pitchFamily="34" charset="0"/>
                          <a:ea typeface="Calibri" pitchFamily="34" charset="-122"/>
                          <a:cs typeface="Calibri" pitchFamily="34" charset="-120"/>
                        </a:rPr>
                        <a:t>What the candidate does</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accent1"/>
                    </a:solidFill>
                  </a:tcPr>
                </a:tc>
                <a:tc>
                  <a:txBody>
                    <a:bodyPr/>
                    <a:lstStyle/>
                    <a:p>
                      <a:pPr marL="0" indent="0">
                        <a:buNone/>
                      </a:pPr>
                      <a:r>
                        <a:rPr lang="en-US" sz="1200" b="1" dirty="0">
                          <a:solidFill>
                            <a:schemeClr val="bg1"/>
                          </a:solidFill>
                          <a:latin typeface="Calibri" pitchFamily="34" charset="0"/>
                          <a:ea typeface="Calibri" pitchFamily="34" charset="-122"/>
                          <a:cs typeface="Calibri" pitchFamily="34" charset="-120"/>
                        </a:rPr>
                        <a:t>What AI produced on its own</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accent1"/>
                    </a:solidFill>
                  </a:tcPr>
                </a:tc>
                <a:tc>
                  <a:txBody>
                    <a:bodyPr/>
                    <a:lstStyle/>
                    <a:p>
                      <a:pPr marL="0" indent="0">
                        <a:buNone/>
                      </a:pPr>
                      <a:r>
                        <a:rPr lang="en-US" sz="1200" b="1" dirty="0">
                          <a:solidFill>
                            <a:schemeClr val="bg1"/>
                          </a:solidFill>
                          <a:latin typeface="Calibri" pitchFamily="34" charset="0"/>
                          <a:ea typeface="Calibri" pitchFamily="34" charset="-122"/>
                          <a:cs typeface="Calibri" pitchFamily="34" charset="-120"/>
                        </a:rPr>
                        <a:t>AI</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accent1"/>
                    </a:solidFill>
                  </a:tcPr>
                </a:tc>
                <a:tc>
                  <a:txBody>
                    <a:bodyPr/>
                    <a:lstStyle/>
                    <a:p>
                      <a:pPr marL="0" indent="0">
                        <a:buNone/>
                      </a:pPr>
                      <a:r>
                        <a:rPr lang="en-US" sz="1200" b="1" dirty="0">
                          <a:solidFill>
                            <a:schemeClr val="bg1"/>
                          </a:solidFill>
                          <a:latin typeface="Calibri" pitchFamily="34" charset="0"/>
                          <a:ea typeface="Calibri" pitchFamily="34" charset="-122"/>
                          <a:cs typeface="Calibri" pitchFamily="34" charset="-120"/>
                        </a:rPr>
                        <a:t>Candidates</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accent1"/>
                    </a:solidFill>
                  </a:tcPr>
                </a:tc>
                <a:tc>
                  <a:txBody>
                    <a:bodyPr/>
                    <a:lstStyle/>
                    <a:p>
                      <a:pPr marL="0" indent="0">
                        <a:buNone/>
                      </a:pPr>
                      <a:r>
                        <a:rPr lang="en-US" sz="1200" b="1" dirty="0">
                          <a:solidFill>
                            <a:schemeClr val="bg1"/>
                          </a:solidFill>
                          <a:latin typeface="Calibri" pitchFamily="34" charset="0"/>
                          <a:ea typeface="Calibri" pitchFamily="34" charset="-122"/>
                          <a:cs typeface="Calibri" pitchFamily="34" charset="-120"/>
                        </a:rPr>
                        <a:t>Read</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512064">
                <a:tc>
                  <a:txBody>
                    <a:bodyPr/>
                    <a:lstStyle/>
                    <a:p>
                      <a:pPr marL="0" indent="0">
                        <a:buNone/>
                      </a:pPr>
                      <a:r>
                        <a:rPr lang="en-US" sz="1200" b="1" dirty="0">
                          <a:solidFill>
                            <a:schemeClr val="tx1"/>
                          </a:solidFill>
                          <a:latin typeface="Calibri" pitchFamily="34" charset="0"/>
                          <a:ea typeface="Calibri" pitchFamily="34" charset="-122"/>
                          <a:cs typeface="Calibri" pitchFamily="34" charset="-120"/>
                        </a:rPr>
                        <a:t>Describe the class context</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Invented a plausible class. Fluent, and entirely fabricated.</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Weak</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Strong</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tx2"/>
                          </a:solidFill>
                          <a:latin typeface="Calibri" pitchFamily="34" charset="0"/>
                          <a:ea typeface="Calibri" pitchFamily="34" charset="-122"/>
                          <a:cs typeface="Calibri" pitchFamily="34" charset="-120"/>
                        </a:rPr>
                        <a:t>PRESERVE</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accent4"/>
                    </a:solidFill>
                  </a:tcPr>
                </a:tc>
                <a:extLst>
                  <a:ext uri="{0D108BD9-81ED-4DB2-BD59-A6C34878D82A}">
                    <a16:rowId xmlns:a16="http://schemas.microsoft.com/office/drawing/2014/main" val="10001"/>
                  </a:ext>
                </a:extLst>
              </a:tr>
              <a:tr h="512064">
                <a:tc>
                  <a:txBody>
                    <a:bodyPr/>
                    <a:lstStyle/>
                    <a:p>
                      <a:pPr marL="0" indent="0">
                        <a:buNone/>
                      </a:pPr>
                      <a:r>
                        <a:rPr lang="en-US" sz="1200" b="1" dirty="0">
                          <a:solidFill>
                            <a:schemeClr val="tx1"/>
                          </a:solidFill>
                          <a:latin typeface="Calibri" pitchFamily="34" charset="0"/>
                          <a:ea typeface="Calibri" pitchFamily="34" charset="-122"/>
                          <a:cs typeface="Calibri" pitchFamily="34" charset="-120"/>
                        </a:rPr>
                        <a:t>Sequence the instruction</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A full sequence, more detailed and connected than any pre-service candidate submission</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Strong</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Struggling</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tx1"/>
                          </a:solidFill>
                          <a:latin typeface="Calibri" pitchFamily="34" charset="0"/>
                          <a:ea typeface="Calibri" pitchFamily="34" charset="-122"/>
                          <a:cs typeface="Calibri" pitchFamily="34" charset="-120"/>
                        </a:rPr>
                        <a:t>VULNERABLE</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accent2"/>
                    </a:solidFill>
                  </a:tcPr>
                </a:tc>
                <a:extLst>
                  <a:ext uri="{0D108BD9-81ED-4DB2-BD59-A6C34878D82A}">
                    <a16:rowId xmlns:a16="http://schemas.microsoft.com/office/drawing/2014/main" val="10002"/>
                  </a:ext>
                </a:extLst>
              </a:tr>
              <a:tr h="512064">
                <a:tc>
                  <a:txBody>
                    <a:bodyPr/>
                    <a:lstStyle/>
                    <a:p>
                      <a:pPr marL="0" indent="0">
                        <a:buNone/>
                      </a:pPr>
                      <a:r>
                        <a:rPr lang="en-US" sz="1200" b="1" dirty="0">
                          <a:solidFill>
                            <a:schemeClr val="tx1"/>
                          </a:solidFill>
                          <a:latin typeface="Calibri" pitchFamily="34" charset="0"/>
                          <a:ea typeface="Calibri" pitchFamily="34" charset="-122"/>
                          <a:cs typeface="Calibri" pitchFamily="34" charset="-120"/>
                        </a:rPr>
                        <a:t>Write the lesson rationale</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Well reasoned rationale that accurately justified decisions made throughout the instructional sequence. </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Strong</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Struggling</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tx1"/>
                          </a:solidFill>
                          <a:latin typeface="Calibri" pitchFamily="34" charset="0"/>
                          <a:ea typeface="Calibri" pitchFamily="34" charset="-122"/>
                          <a:cs typeface="Calibri" pitchFamily="34" charset="-120"/>
                        </a:rPr>
                        <a:t>VULNERABLE</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accent2"/>
                    </a:solidFill>
                  </a:tcPr>
                </a:tc>
                <a:extLst>
                  <a:ext uri="{0D108BD9-81ED-4DB2-BD59-A6C34878D82A}">
                    <a16:rowId xmlns:a16="http://schemas.microsoft.com/office/drawing/2014/main" val="10003"/>
                  </a:ext>
                </a:extLst>
              </a:tr>
              <a:tr h="512064">
                <a:tc>
                  <a:txBody>
                    <a:bodyPr/>
                    <a:lstStyle/>
                    <a:p>
                      <a:pPr marL="0" indent="0">
                        <a:buNone/>
                      </a:pPr>
                      <a:r>
                        <a:rPr lang="en-US" sz="1200" b="1" dirty="0">
                          <a:solidFill>
                            <a:schemeClr val="tx1"/>
                          </a:solidFill>
                          <a:latin typeface="Calibri" pitchFamily="34" charset="0"/>
                          <a:ea typeface="Calibri" pitchFamily="34" charset="-122"/>
                          <a:cs typeface="Calibri" pitchFamily="34" charset="-120"/>
                        </a:rPr>
                        <a:t>Connect decisions to theory</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buNone/>
                      </a:pPr>
                      <a:r>
                        <a:rPr lang="en-US" sz="1200" dirty="0">
                          <a:latin typeface="Calibri" charset="0"/>
                          <a:ea typeface="Calibri" charset="0"/>
                          <a:cs typeface="Calibri" charset="0"/>
                        </a:rPr>
                        <a:t>Strategies for ELL and students with accommodations tied to evidence-based pedagogy. </a:t>
                      </a: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charset="0"/>
                          <a:cs typeface="Calibri" pitchFamily="34" charset="-120"/>
                        </a:rPr>
                        <a:t>Strong</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Struggling</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tx1"/>
                          </a:solidFill>
                          <a:latin typeface="Calibri" pitchFamily="34" charset="0"/>
                          <a:ea typeface="Calibri" pitchFamily="34" charset="-122"/>
                          <a:cs typeface="Calibri" pitchFamily="34" charset="-120"/>
                        </a:rPr>
                        <a:t>VULNERABLE</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accent2"/>
                    </a:solidFill>
                  </a:tcPr>
                </a:tc>
                <a:extLst>
                  <a:ext uri="{0D108BD9-81ED-4DB2-BD59-A6C34878D82A}">
                    <a16:rowId xmlns:a16="http://schemas.microsoft.com/office/drawing/2014/main" val="10004"/>
                  </a:ext>
                </a:extLst>
              </a:tr>
              <a:tr h="512064">
                <a:tc>
                  <a:txBody>
                    <a:bodyPr/>
                    <a:lstStyle/>
                    <a:p>
                      <a:pPr marL="0" indent="0">
                        <a:buNone/>
                      </a:pPr>
                      <a:r>
                        <a:rPr lang="en-US" sz="1200" b="1" dirty="0">
                          <a:solidFill>
                            <a:schemeClr val="tx1"/>
                          </a:solidFill>
                          <a:latin typeface="Calibri" pitchFamily="34" charset="0"/>
                          <a:ea typeface="Calibri" pitchFamily="34" charset="-122"/>
                          <a:cs typeface="Calibri" pitchFamily="34" charset="-120"/>
                        </a:rPr>
                        <a:t>Strategy Book entry</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Indistinguishable from a strong submission. Generated in seconds without any human direction required.</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Strong</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Strong</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tx1"/>
                          </a:solidFill>
                          <a:latin typeface="Calibri" pitchFamily="34" charset="0"/>
                          <a:ea typeface="Calibri" pitchFamily="34" charset="-122"/>
                          <a:cs typeface="Calibri" pitchFamily="34" charset="-120"/>
                        </a:rPr>
                        <a:t>CUT</a:t>
                      </a:r>
                      <a:endParaRPr lang="en-US" sz="1200" dirty="0">
                        <a:latin typeface="Calibri" charset="0"/>
                        <a:ea typeface="Calibri" charset="0"/>
                        <a:cs typeface="Calibri" charset="0"/>
                      </a:endParaRPr>
                    </a:p>
                  </a:txBody>
                  <a:tcPr marL="73152" marR="73152" marT="36576" marB="36576" anchor="ctr">
                    <a:lnL w="12700" cap="flat" cmpd="sng" algn="ctr">
                      <a:solidFill>
                        <a:srgbClr val="C9CCCA"/>
                      </a:solidFill>
                      <a:prstDash val="solid"/>
                      <a:round/>
                      <a:headEnd type="none" w="med" len="med"/>
                      <a:tailEnd type="none" w="med" len="med"/>
                    </a:lnL>
                    <a:lnR w="12700" cap="flat" cmpd="sng" algn="ctr">
                      <a:solidFill>
                        <a:srgbClr val="C9CCCA"/>
                      </a:solidFill>
                      <a:prstDash val="solid"/>
                      <a:round/>
                      <a:headEnd type="none" w="med" len="med"/>
                      <a:tailEnd type="none" w="med" len="med"/>
                    </a:lnR>
                    <a:lnT w="12700" cap="flat" cmpd="sng" algn="ctr">
                      <a:solidFill>
                        <a:srgbClr val="C9CCCA"/>
                      </a:solidFill>
                      <a:prstDash val="solid"/>
                      <a:round/>
                      <a:headEnd type="none" w="med" len="med"/>
                      <a:tailEnd type="none" w="med" len="med"/>
                    </a:lnT>
                    <a:lnB w="12700" cap="flat" cmpd="sng" algn="ctr">
                      <a:solidFill>
                        <a:srgbClr val="C9CCCA"/>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25" name="Slide Number Placeholder 0">
            <a:extLst>
              <a:ext uri="{FF2B5EF4-FFF2-40B4-BE49-F238E27FC236}">
                <a16:creationId xmlns:a16="http://schemas.microsoft.com/office/drawing/2014/main" id="{FB917AC7-9AB5-B055-292E-4E32BDA70A2C}"/>
              </a:ext>
            </a:extLst>
          </p:cNvPr>
          <p:cNvSpPr>
            <a:spLocks noGrp="1"/>
          </p:cNvSpPr>
          <p:nvPr>
            <p:ph type="sldNum" sz="quarter" idx="4294967295"/>
          </p:nvPr>
        </p:nvSpPr>
        <p:spPr>
          <a:xfrm>
            <a:off x="841248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3"/>
                </a:solidFill>
              </a:defRPr>
            </a:lvl1pPr>
          </a:lstStyle>
          <a:p>
            <a:pPr algn="r"/>
            <a:fld id="{F7021451-1387-4CA6-816F-3879F97B5CBC}" type="slidenum">
              <a:rPr lang="en-US" b="0"/>
              <a:t>23</a:t>
            </a:fld>
            <a:endParaRPr lang="en-US"/>
          </a:p>
        </p:txBody>
      </p:sp>
      <p:sp>
        <p:nvSpPr>
          <p:cNvPr id="5" name="Frame 4">
            <a:extLst>
              <a:ext uri="{FF2B5EF4-FFF2-40B4-BE49-F238E27FC236}">
                <a16:creationId xmlns:a16="http://schemas.microsoft.com/office/drawing/2014/main" id="{2D39AC84-9E24-EA5B-FCAE-C508E81A88EA}"/>
              </a:ext>
            </a:extLst>
          </p:cNvPr>
          <p:cNvSpPr/>
          <p:nvPr/>
        </p:nvSpPr>
        <p:spPr>
          <a:xfrm>
            <a:off x="419100" y="2273300"/>
            <a:ext cx="8305800" cy="1746250"/>
          </a:xfrm>
          <a:prstGeom prst="frame">
            <a:avLst>
              <a:gd name="adj1" fmla="val 2182"/>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4014342857"/>
      </p:ext>
    </p:extLst>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show="0">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85800"/>
          </a:xfrm>
          <a:prstGeom prst="rect">
            <a:avLst/>
          </a:prstGeom>
          <a:noFill/>
          <a:ln/>
        </p:spPr>
        <p:txBody>
          <a:bodyPr wrap="square" lIns="0" tIns="0" rIns="0" bIns="0" rtlCol="0" anchor="ctr"/>
          <a:lstStyle/>
          <a:p>
            <a:pPr marL="0" indent="0" algn="ctr">
              <a:buNone/>
            </a:pPr>
            <a:r>
              <a:rPr lang="en-US" sz="3400" b="1" dirty="0">
                <a:solidFill>
                  <a:schemeClr val="tx2"/>
                </a:solidFill>
              </a:rPr>
              <a:t>The rationale row, up close</a:t>
            </a:r>
            <a:endParaRPr lang="en-US" sz="3400" dirty="0"/>
          </a:p>
        </p:txBody>
      </p:sp>
      <p:sp>
        <p:nvSpPr>
          <p:cNvPr id="3" name="AI ON ITS OWN document"/>
          <p:cNvSpPr/>
          <p:nvPr/>
        </p:nvSpPr>
        <p:spPr>
          <a:xfrm>
            <a:off x="457200" y="1097280"/>
            <a:ext cx="3977640" cy="2103120"/>
          </a:xfrm>
          <a:prstGeom prst="roundRect">
            <a:avLst>
              <a:gd name="adj" fmla="val 3478"/>
            </a:avLst>
          </a:prstGeom>
          <a:solidFill>
            <a:schemeClr val="bg1"/>
          </a:solidFill>
          <a:ln w="12700">
            <a:solidFill>
              <a:schemeClr val="bg1"/>
            </a:solidFill>
            <a:prstDash val="solid"/>
          </a:ln>
          <a:effectLst>
            <a:outerShdw blurRad="76200" dist="19050" dir="5400000" algn="bl" rotWithShape="0">
              <a:srgbClr val="000000">
                <a:alpha val="12000"/>
              </a:srgbClr>
            </a:outerShdw>
          </a:effectLst>
        </p:spPr>
        <p:txBody>
          <a:bodyPr/>
          <a:lstStyle/>
          <a:p>
            <a:endParaRPr lang="en-US"/>
          </a:p>
        </p:txBody>
      </p:sp>
      <p:sp>
        <p:nvSpPr>
          <p:cNvPr id="4" name="AI ON ITS OWN border"/>
          <p:cNvSpPr/>
          <p:nvPr/>
        </p:nvSpPr>
        <p:spPr>
          <a:xfrm>
            <a:off x="457200" y="1097280"/>
            <a:ext cx="3977640" cy="2103120"/>
          </a:xfrm>
          <a:prstGeom prst="roundRect">
            <a:avLst>
              <a:gd name="adj" fmla="val 3478"/>
            </a:avLst>
          </a:prstGeom>
          <a:ln w="12700">
            <a:solidFill>
              <a:srgbClr val="C9CCCA"/>
            </a:solidFill>
            <a:prstDash val="solid"/>
          </a:ln>
        </p:spPr>
        <p:txBody>
          <a:bodyPr/>
          <a:lstStyle/>
          <a:p>
            <a:endParaRPr lang="en-US"/>
          </a:p>
        </p:txBody>
      </p:sp>
      <p:sp>
        <p:nvSpPr>
          <p:cNvPr id="5" name="AI ON ITS OWN label"/>
          <p:cNvSpPr txBox="1"/>
          <p:nvPr/>
        </p:nvSpPr>
        <p:spPr>
          <a:xfrm>
            <a:off x="731520" y="1234440"/>
            <a:ext cx="3474720" cy="274320"/>
          </a:xfrm>
          <a:prstGeom prst="rect">
            <a:avLst/>
          </a:prstGeom>
          <a:noFill/>
          <a:ln/>
        </p:spPr>
        <p:txBody>
          <a:bodyPr wrap="square" lIns="0" tIns="0" rIns="0" bIns="0" rtlCol="0" anchor="t"/>
          <a:lstStyle/>
          <a:p>
            <a:pPr marL="0" indent="0">
              <a:buNone/>
            </a:pPr>
            <a:r>
              <a:rPr lang="en-US" sz="1200" b="1" kern="0" spc="200" dirty="0">
                <a:solidFill>
                  <a:schemeClr val="tx2"/>
                </a:solidFill>
                <a:latin typeface="Calibri" pitchFamily="34" charset="0"/>
                <a:ea typeface="Calibri" pitchFamily="34" charset="-122"/>
                <a:cs typeface="Calibri" pitchFamily="34" charset="-120"/>
              </a:rPr>
              <a:t>AI ON ITS OWN</a:t>
            </a:r>
            <a:endParaRPr lang="en-US" sz="1200" dirty="0"/>
          </a:p>
        </p:txBody>
      </p:sp>
      <p:sp>
        <p:nvSpPr>
          <p:cNvPr id="6" name="AI ON ITS OWN line 1"/>
          <p:cNvSpPr/>
          <p:nvPr/>
        </p:nvSpPr>
        <p:spPr>
          <a:xfrm>
            <a:off x="731520" y="1645920"/>
            <a:ext cx="3429000" cy="64008"/>
          </a:xfrm>
          <a:prstGeom prst="rect">
            <a:avLst/>
          </a:prstGeom>
          <a:solidFill>
            <a:schemeClr val="accent6"/>
          </a:solidFill>
          <a:ln w="12700">
            <a:solidFill>
              <a:schemeClr val="accent6"/>
            </a:solidFill>
            <a:prstDash val="solid"/>
          </a:ln>
        </p:spPr>
        <p:txBody>
          <a:bodyPr/>
          <a:lstStyle/>
          <a:p>
            <a:endParaRPr lang="en-US"/>
          </a:p>
        </p:txBody>
      </p:sp>
      <p:sp>
        <p:nvSpPr>
          <p:cNvPr id="7" name="AI ON ITS OWN line 2"/>
          <p:cNvSpPr/>
          <p:nvPr/>
        </p:nvSpPr>
        <p:spPr>
          <a:xfrm>
            <a:off x="731520" y="1783080"/>
            <a:ext cx="3257550" cy="64008"/>
          </a:xfrm>
          <a:prstGeom prst="rect">
            <a:avLst/>
          </a:prstGeom>
          <a:solidFill>
            <a:schemeClr val="accent6"/>
          </a:solidFill>
          <a:ln w="12700">
            <a:solidFill>
              <a:schemeClr val="accent6"/>
            </a:solidFill>
            <a:prstDash val="solid"/>
          </a:ln>
        </p:spPr>
        <p:txBody>
          <a:bodyPr/>
          <a:lstStyle/>
          <a:p>
            <a:endParaRPr lang="en-US"/>
          </a:p>
        </p:txBody>
      </p:sp>
      <p:sp>
        <p:nvSpPr>
          <p:cNvPr id="8" name="AI ON ITS OWN line 3"/>
          <p:cNvSpPr/>
          <p:nvPr/>
        </p:nvSpPr>
        <p:spPr>
          <a:xfrm>
            <a:off x="731520" y="1920240"/>
            <a:ext cx="3429000" cy="64008"/>
          </a:xfrm>
          <a:prstGeom prst="rect">
            <a:avLst/>
          </a:prstGeom>
          <a:solidFill>
            <a:schemeClr val="accent6"/>
          </a:solidFill>
          <a:ln w="12700">
            <a:solidFill>
              <a:schemeClr val="accent6"/>
            </a:solidFill>
            <a:prstDash val="solid"/>
          </a:ln>
        </p:spPr>
        <p:txBody>
          <a:bodyPr/>
          <a:lstStyle/>
          <a:p>
            <a:endParaRPr lang="en-US"/>
          </a:p>
        </p:txBody>
      </p:sp>
      <p:sp>
        <p:nvSpPr>
          <p:cNvPr id="9" name="AI ON ITS OWN line 4"/>
          <p:cNvSpPr/>
          <p:nvPr/>
        </p:nvSpPr>
        <p:spPr>
          <a:xfrm>
            <a:off x="731520" y="2057400"/>
            <a:ext cx="3086100" cy="64008"/>
          </a:xfrm>
          <a:prstGeom prst="rect">
            <a:avLst/>
          </a:prstGeom>
          <a:solidFill>
            <a:schemeClr val="accent6"/>
          </a:solidFill>
          <a:ln w="12700">
            <a:solidFill>
              <a:schemeClr val="accent6"/>
            </a:solidFill>
            <a:prstDash val="solid"/>
          </a:ln>
        </p:spPr>
        <p:txBody>
          <a:bodyPr/>
          <a:lstStyle/>
          <a:p>
            <a:endParaRPr lang="en-US"/>
          </a:p>
        </p:txBody>
      </p:sp>
      <p:sp>
        <p:nvSpPr>
          <p:cNvPr id="10" name="AI ON ITS OWN line 5"/>
          <p:cNvSpPr/>
          <p:nvPr/>
        </p:nvSpPr>
        <p:spPr>
          <a:xfrm>
            <a:off x="731520" y="2194560"/>
            <a:ext cx="3429000" cy="64008"/>
          </a:xfrm>
          <a:prstGeom prst="rect">
            <a:avLst/>
          </a:prstGeom>
          <a:solidFill>
            <a:schemeClr val="accent6"/>
          </a:solidFill>
          <a:ln w="12700">
            <a:solidFill>
              <a:schemeClr val="accent6"/>
            </a:solidFill>
            <a:prstDash val="solid"/>
          </a:ln>
        </p:spPr>
        <p:txBody>
          <a:bodyPr/>
          <a:lstStyle/>
          <a:p>
            <a:endParaRPr lang="en-US"/>
          </a:p>
        </p:txBody>
      </p:sp>
      <p:sp>
        <p:nvSpPr>
          <p:cNvPr id="11" name="AI ON ITS OWN line 6"/>
          <p:cNvSpPr/>
          <p:nvPr/>
        </p:nvSpPr>
        <p:spPr>
          <a:xfrm>
            <a:off x="731520" y="2331720"/>
            <a:ext cx="3326130" cy="64008"/>
          </a:xfrm>
          <a:prstGeom prst="rect">
            <a:avLst/>
          </a:prstGeom>
          <a:solidFill>
            <a:schemeClr val="accent6"/>
          </a:solidFill>
          <a:ln w="12700">
            <a:solidFill>
              <a:schemeClr val="accent6"/>
            </a:solidFill>
            <a:prstDash val="solid"/>
          </a:ln>
        </p:spPr>
        <p:txBody>
          <a:bodyPr/>
          <a:lstStyle/>
          <a:p>
            <a:endParaRPr lang="en-US"/>
          </a:p>
        </p:txBody>
      </p:sp>
      <p:sp>
        <p:nvSpPr>
          <p:cNvPr id="12" name="AI ON ITS OWN line 7"/>
          <p:cNvSpPr/>
          <p:nvPr/>
        </p:nvSpPr>
        <p:spPr>
          <a:xfrm>
            <a:off x="731520" y="2468880"/>
            <a:ext cx="2057400" cy="64008"/>
          </a:xfrm>
          <a:prstGeom prst="rect">
            <a:avLst/>
          </a:prstGeom>
          <a:solidFill>
            <a:schemeClr val="accent6"/>
          </a:solidFill>
          <a:ln w="12700">
            <a:solidFill>
              <a:schemeClr val="accent6"/>
            </a:solidFill>
            <a:prstDash val="solid"/>
          </a:ln>
        </p:spPr>
        <p:txBody>
          <a:bodyPr/>
          <a:lstStyle/>
          <a:p>
            <a:endParaRPr lang="en-US"/>
          </a:p>
        </p:txBody>
      </p:sp>
      <p:sp>
        <p:nvSpPr>
          <p:cNvPr id="13" name="AI ON ITS OWN caption"/>
          <p:cNvSpPr txBox="1"/>
          <p:nvPr/>
        </p:nvSpPr>
        <p:spPr>
          <a:xfrm>
            <a:off x="731520" y="2606040"/>
            <a:ext cx="3474720" cy="50292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A confident, well-organized rationale that read as fully reasoned.</a:t>
            </a:r>
            <a:endParaRPr lang="en-US" sz="1400" dirty="0"/>
          </a:p>
        </p:txBody>
      </p:sp>
      <p:sp>
        <p:nvSpPr>
          <p:cNvPr id="14" name="STUDENT SAMPLE document"/>
          <p:cNvSpPr/>
          <p:nvPr/>
        </p:nvSpPr>
        <p:spPr>
          <a:xfrm>
            <a:off x="4709160" y="1097280"/>
            <a:ext cx="3977640" cy="2103120"/>
          </a:xfrm>
          <a:prstGeom prst="roundRect">
            <a:avLst>
              <a:gd name="adj" fmla="val 3478"/>
            </a:avLst>
          </a:prstGeom>
          <a:solidFill>
            <a:schemeClr val="bg1"/>
          </a:solidFill>
          <a:ln w="12700">
            <a:solidFill>
              <a:schemeClr val="bg1"/>
            </a:solidFill>
            <a:prstDash val="solid"/>
          </a:ln>
          <a:effectLst>
            <a:outerShdw blurRad="76200" dist="19050" dir="5400000" algn="bl" rotWithShape="0">
              <a:srgbClr val="000000">
                <a:alpha val="12000"/>
              </a:srgbClr>
            </a:outerShdw>
          </a:effectLst>
        </p:spPr>
        <p:txBody>
          <a:bodyPr/>
          <a:lstStyle/>
          <a:p>
            <a:endParaRPr lang="en-US"/>
          </a:p>
        </p:txBody>
      </p:sp>
      <p:sp>
        <p:nvSpPr>
          <p:cNvPr id="15" name="STUDENT SAMPLE border"/>
          <p:cNvSpPr/>
          <p:nvPr/>
        </p:nvSpPr>
        <p:spPr>
          <a:xfrm>
            <a:off x="4709160" y="1097280"/>
            <a:ext cx="3977640" cy="2103120"/>
          </a:xfrm>
          <a:prstGeom prst="roundRect">
            <a:avLst>
              <a:gd name="adj" fmla="val 3478"/>
            </a:avLst>
          </a:prstGeom>
          <a:ln w="12700">
            <a:solidFill>
              <a:srgbClr val="C9CCCA"/>
            </a:solidFill>
            <a:prstDash val="solid"/>
          </a:ln>
        </p:spPr>
        <p:txBody>
          <a:bodyPr/>
          <a:lstStyle/>
          <a:p>
            <a:endParaRPr lang="en-US"/>
          </a:p>
        </p:txBody>
      </p:sp>
      <p:sp>
        <p:nvSpPr>
          <p:cNvPr id="16" name="STUDENT SAMPLE label"/>
          <p:cNvSpPr txBox="1"/>
          <p:nvPr/>
        </p:nvSpPr>
        <p:spPr>
          <a:xfrm>
            <a:off x="4983480" y="1234440"/>
            <a:ext cx="3474720" cy="274320"/>
          </a:xfrm>
          <a:prstGeom prst="rect">
            <a:avLst/>
          </a:prstGeom>
          <a:noFill/>
          <a:ln/>
        </p:spPr>
        <p:txBody>
          <a:bodyPr wrap="square" lIns="0" tIns="0" rIns="0" bIns="0" rtlCol="0" anchor="t"/>
          <a:lstStyle/>
          <a:p>
            <a:pPr marL="0" indent="0">
              <a:buNone/>
            </a:pPr>
            <a:r>
              <a:rPr lang="en-US" sz="1200" b="1" kern="0" spc="200" dirty="0">
                <a:solidFill>
                  <a:schemeClr val="tx2"/>
                </a:solidFill>
                <a:latin typeface="Calibri" pitchFamily="34" charset="0"/>
                <a:ea typeface="Calibri" pitchFamily="34" charset="-122"/>
                <a:cs typeface="Calibri" pitchFamily="34" charset="-120"/>
              </a:rPr>
              <a:t>STUDENT SAMPLE</a:t>
            </a:r>
            <a:endParaRPr lang="en-US" sz="1200" dirty="0"/>
          </a:p>
        </p:txBody>
      </p:sp>
      <p:sp>
        <p:nvSpPr>
          <p:cNvPr id="17" name="STUDENT SAMPLE line 1"/>
          <p:cNvSpPr/>
          <p:nvPr/>
        </p:nvSpPr>
        <p:spPr>
          <a:xfrm>
            <a:off x="4983480" y="1645920"/>
            <a:ext cx="3429000" cy="64008"/>
          </a:xfrm>
          <a:prstGeom prst="rect">
            <a:avLst/>
          </a:prstGeom>
          <a:solidFill>
            <a:schemeClr val="accent6"/>
          </a:solidFill>
          <a:ln w="12700">
            <a:solidFill>
              <a:schemeClr val="accent6"/>
            </a:solidFill>
            <a:prstDash val="solid"/>
          </a:ln>
        </p:spPr>
        <p:txBody>
          <a:bodyPr/>
          <a:lstStyle/>
          <a:p>
            <a:endParaRPr lang="en-US"/>
          </a:p>
        </p:txBody>
      </p:sp>
      <p:sp>
        <p:nvSpPr>
          <p:cNvPr id="18" name="STUDENT SAMPLE line 2"/>
          <p:cNvSpPr/>
          <p:nvPr/>
        </p:nvSpPr>
        <p:spPr>
          <a:xfrm>
            <a:off x="4983480" y="1783080"/>
            <a:ext cx="3154680" cy="64008"/>
          </a:xfrm>
          <a:prstGeom prst="rect">
            <a:avLst/>
          </a:prstGeom>
          <a:solidFill>
            <a:schemeClr val="accent6"/>
          </a:solidFill>
          <a:ln w="12700">
            <a:solidFill>
              <a:schemeClr val="accent6"/>
            </a:solidFill>
            <a:prstDash val="solid"/>
          </a:ln>
        </p:spPr>
        <p:txBody>
          <a:bodyPr/>
          <a:lstStyle/>
          <a:p>
            <a:endParaRPr lang="en-US"/>
          </a:p>
        </p:txBody>
      </p:sp>
      <p:sp>
        <p:nvSpPr>
          <p:cNvPr id="19" name="STUDENT SAMPLE line 3"/>
          <p:cNvSpPr/>
          <p:nvPr/>
        </p:nvSpPr>
        <p:spPr>
          <a:xfrm>
            <a:off x="4983480" y="1920240"/>
            <a:ext cx="1885950" cy="64008"/>
          </a:xfrm>
          <a:prstGeom prst="rect">
            <a:avLst/>
          </a:prstGeom>
          <a:solidFill>
            <a:schemeClr val="accent6"/>
          </a:solidFill>
          <a:ln w="12700">
            <a:solidFill>
              <a:schemeClr val="accent6"/>
            </a:solidFill>
            <a:prstDash val="solid"/>
          </a:ln>
        </p:spPr>
        <p:txBody>
          <a:bodyPr/>
          <a:lstStyle/>
          <a:p>
            <a:endParaRPr lang="en-US"/>
          </a:p>
        </p:txBody>
      </p:sp>
      <p:sp>
        <p:nvSpPr>
          <p:cNvPr id="20" name="Trailing fragment"/>
          <p:cNvSpPr txBox="1"/>
          <p:nvPr/>
        </p:nvSpPr>
        <p:spPr>
          <a:xfrm>
            <a:off x="4983480" y="2057400"/>
            <a:ext cx="3474720" cy="320040"/>
          </a:xfrm>
          <a:prstGeom prst="rect">
            <a:avLst/>
          </a:prstGeom>
          <a:noFill/>
          <a:ln/>
        </p:spPr>
        <p:txBody>
          <a:bodyPr wrap="square" lIns="0" tIns="0" rIns="0" bIns="0" rtlCol="0" anchor="t"/>
          <a:lstStyle/>
          <a:p>
            <a:pPr marL="0" indent="0">
              <a:buNone/>
            </a:pPr>
            <a:r>
              <a:rPr lang="en-US" sz="1500" i="1" dirty="0">
                <a:solidFill>
                  <a:schemeClr val="tx1"/>
                </a:solidFill>
                <a:latin typeface="Calibri" pitchFamily="34" charset="0"/>
                <a:ea typeface="Calibri" pitchFamily="34" charset="-122"/>
                <a:cs typeface="Calibri" pitchFamily="34" charset="-120"/>
              </a:rPr>
              <a:t>“...Students are also”</a:t>
            </a:r>
            <a:endParaRPr lang="en-US" sz="1500" dirty="0"/>
          </a:p>
        </p:txBody>
      </p:sp>
      <p:sp>
        <p:nvSpPr>
          <p:cNvPr id="21" name="STUDENT SAMPLE caption"/>
          <p:cNvSpPr txBox="1"/>
          <p:nvPr/>
        </p:nvSpPr>
        <p:spPr>
          <a:xfrm>
            <a:off x="4983480" y="2606040"/>
            <a:ext cx="3474720" cy="50292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The same section trailed off mid-sentence.</a:t>
            </a:r>
            <a:endParaRPr lang="en-US" sz="1400" dirty="0"/>
          </a:p>
        </p:txBody>
      </p:sp>
      <p:sp>
        <p:nvSpPr>
          <p:cNvPr id="22" name="Takeaway card"/>
          <p:cNvSpPr/>
          <p:nvPr/>
        </p:nvSpPr>
        <p:spPr>
          <a:xfrm>
            <a:off x="457200" y="3429000"/>
            <a:ext cx="8229600" cy="1097280"/>
          </a:xfrm>
          <a:prstGeom prst="roundRect">
            <a:avLst>
              <a:gd name="adj" fmla="val 6667"/>
            </a:avLst>
          </a:prstGeom>
          <a:solidFill>
            <a:schemeClr val="accent1"/>
          </a:solidFill>
          <a:ln w="12700">
            <a:solidFill>
              <a:schemeClr val="accent1"/>
            </a:solidFill>
            <a:prstDash val="solid"/>
          </a:ln>
          <a:effectLst>
            <a:outerShdw blurRad="76200" dist="19050" dir="5400000" algn="bl" rotWithShape="0">
              <a:srgbClr val="000000">
                <a:alpha val="12000"/>
              </a:srgbClr>
            </a:outerShdw>
          </a:effectLst>
        </p:spPr>
        <p:txBody>
          <a:bodyPr/>
          <a:lstStyle/>
          <a:p>
            <a:endParaRPr lang="en-US"/>
          </a:p>
        </p:txBody>
      </p:sp>
      <p:sp>
        <p:nvSpPr>
          <p:cNvPr id="23" name="Takeaway"/>
          <p:cNvSpPr txBox="1"/>
          <p:nvPr/>
        </p:nvSpPr>
        <p:spPr>
          <a:xfrm>
            <a:off x="731520" y="3429000"/>
            <a:ext cx="4023360" cy="1097280"/>
          </a:xfrm>
          <a:prstGeom prst="rect">
            <a:avLst/>
          </a:prstGeom>
          <a:noFill/>
          <a:ln/>
        </p:spPr>
        <p:txBody>
          <a:bodyPr wrap="square" lIns="0" tIns="0" rIns="0" bIns="0" rtlCol="0" anchor="ctr"/>
          <a:lstStyle/>
          <a:p>
            <a:pPr marL="0" indent="0">
              <a:buNone/>
            </a:pPr>
            <a:r>
              <a:rPr lang="en-US" sz="1700" b="1" dirty="0">
                <a:solidFill>
                  <a:schemeClr val="bg1"/>
                </a:solidFill>
                <a:latin typeface="Calibri" pitchFamily="34" charset="0"/>
                <a:ea typeface="Calibri" pitchFamily="34" charset="-122"/>
                <a:cs typeface="Calibri" pitchFamily="34" charset="-120"/>
              </a:rPr>
              <a:t>On the page, a fluent rationale and a thought-through one can look the same.</a:t>
            </a:r>
            <a:endParaRPr lang="en-US" sz="1700" dirty="0"/>
          </a:p>
        </p:txBody>
      </p:sp>
      <p:sp>
        <p:nvSpPr>
          <p:cNvPr id="24" name="Decision"/>
          <p:cNvSpPr txBox="1"/>
          <p:nvPr/>
        </p:nvSpPr>
        <p:spPr>
          <a:xfrm>
            <a:off x="4983480" y="3429000"/>
            <a:ext cx="3520440" cy="1097280"/>
          </a:xfrm>
          <a:prstGeom prst="rect">
            <a:avLst/>
          </a:prstGeom>
          <a:noFill/>
          <a:ln/>
        </p:spPr>
        <p:txBody>
          <a:bodyPr wrap="square" lIns="0" tIns="0" rIns="0" bIns="0" rtlCol="0" anchor="ctr"/>
          <a:lstStyle/>
          <a:p>
            <a:pPr marL="0" indent="0">
              <a:buNone/>
            </a:pPr>
            <a:r>
              <a:rPr lang="en-US" sz="1400" b="1" dirty="0">
                <a:solidFill>
                  <a:schemeClr val="accent2"/>
                </a:solidFill>
                <a:latin typeface="Calibri" pitchFamily="34" charset="0"/>
                <a:ea typeface="Calibri" pitchFamily="34" charset="-122"/>
                <a:cs typeface="Calibri" pitchFamily="34" charset="-120"/>
              </a:rPr>
              <a:t>The decision at this vulnerable point: </a:t>
            </a:r>
            <a:r>
              <a:rPr lang="en-US" sz="1400" dirty="0">
                <a:solidFill>
                  <a:schemeClr val="bg1"/>
                </a:solidFill>
                <a:latin typeface="Calibri" pitchFamily="34" charset="0"/>
                <a:ea typeface="Calibri" pitchFamily="34" charset="-122"/>
                <a:cs typeface="Calibri" pitchFamily="34" charset="-120"/>
              </a:rPr>
              <a:t>if AI is integrated, it asks what was decided and why. Every word of the rationale stays the candidate's.</a:t>
            </a:r>
            <a:endParaRPr lang="en-US" sz="1400" dirty="0"/>
          </a:p>
        </p:txBody>
      </p:sp>
      <p:sp>
        <p:nvSpPr>
          <p:cNvPr id="25" name="Slide Number Placeholder 0"/>
          <p:cNvSpPr>
            <a:spLocks noGrp="1"/>
          </p:cNvSpPr>
          <p:nvPr>
            <p:ph type="sldNum" sz="quarter" idx="4294967295"/>
          </p:nvPr>
        </p:nvSpPr>
        <p:spPr>
          <a:xfrm>
            <a:off x="841248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3"/>
                </a:solidFill>
              </a:defRPr>
            </a:lvl1pPr>
          </a:lstStyle>
          <a:p>
            <a:pPr algn="r"/>
            <a:fld id="{F7021451-1387-4CA6-816F-3879F97B5CBC}" type="slidenum">
              <a:rPr lang="en-US" b="0"/>
              <a:t>24</a:t>
            </a:fld>
            <a:endParaRPr lang="en-US"/>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443BE-E217-B39F-0C74-680FB64FCD0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F921E37-96BF-F6C7-F9B0-BE2767D6BA11}"/>
              </a:ext>
            </a:extLst>
          </p:cNvPr>
          <p:cNvSpPr>
            <a:spLocks noGrp="1"/>
          </p:cNvSpPr>
          <p:nvPr>
            <p:ph type="title" idx="100" hasCustomPrompt="1"/>
          </p:nvPr>
        </p:nvSpPr>
        <p:spPr>
          <a:xfrm>
            <a:off x="457200" y="256032"/>
            <a:ext cx="8229600" cy="685800"/>
          </a:xfrm>
          <a:prstGeom prst="rect">
            <a:avLst/>
          </a:prstGeom>
          <a:noFill/>
          <a:ln/>
        </p:spPr>
        <p:txBody>
          <a:bodyPr wrap="square" lIns="0" tIns="0" rIns="0" bIns="0" rtlCol="0" anchor="ctr"/>
          <a:lstStyle/>
          <a:p>
            <a:pPr marL="0" indent="0" algn="ctr">
              <a:buNone/>
            </a:pPr>
            <a:r>
              <a:rPr lang="en-US" sz="3400" b="1" dirty="0">
                <a:solidFill>
                  <a:schemeClr val="tx2"/>
                </a:solidFill>
              </a:rPr>
              <a:t>The AI Literacy Continuum</a:t>
            </a:r>
            <a:endParaRPr lang="en-US" sz="3400" dirty="0"/>
          </a:p>
        </p:txBody>
      </p:sp>
      <p:sp>
        <p:nvSpPr>
          <p:cNvPr id="3" name="Level 1 step">
            <a:extLst>
              <a:ext uri="{FF2B5EF4-FFF2-40B4-BE49-F238E27FC236}">
                <a16:creationId xmlns:a16="http://schemas.microsoft.com/office/drawing/2014/main" id="{94C730B1-9C19-7909-35E2-38482EA292CE}"/>
              </a:ext>
            </a:extLst>
          </p:cNvPr>
          <p:cNvSpPr/>
          <p:nvPr/>
        </p:nvSpPr>
        <p:spPr>
          <a:xfrm>
            <a:off x="457200" y="2113280"/>
            <a:ext cx="1554480" cy="2413000"/>
          </a:xfrm>
          <a:prstGeom prst="roundRect">
            <a:avLst>
              <a:gd name="adj" fmla="val 3529"/>
            </a:avLst>
          </a:prstGeom>
          <a:solidFill>
            <a:schemeClr val="bg2"/>
          </a:solidFill>
          <a:ln w="12700">
            <a:solidFill>
              <a:schemeClr val="bg2"/>
            </a:solidFill>
            <a:prstDash val="solid"/>
          </a:ln>
        </p:spPr>
        <p:txBody>
          <a:bodyPr/>
          <a:lstStyle/>
          <a:p>
            <a:endParaRPr lang="en-US"/>
          </a:p>
        </p:txBody>
      </p:sp>
      <p:sp>
        <p:nvSpPr>
          <p:cNvPr id="4" name="Level 1 number">
            <a:extLst>
              <a:ext uri="{FF2B5EF4-FFF2-40B4-BE49-F238E27FC236}">
                <a16:creationId xmlns:a16="http://schemas.microsoft.com/office/drawing/2014/main" id="{7C5ADF1E-74EB-AE2B-760B-091D37CEBD11}"/>
              </a:ext>
            </a:extLst>
          </p:cNvPr>
          <p:cNvSpPr txBox="1"/>
          <p:nvPr/>
        </p:nvSpPr>
        <p:spPr>
          <a:xfrm>
            <a:off x="566928" y="2223008"/>
            <a:ext cx="1335024" cy="201168"/>
          </a:xfrm>
          <a:prstGeom prst="rect">
            <a:avLst/>
          </a:prstGeom>
          <a:noFill/>
          <a:ln/>
        </p:spPr>
        <p:txBody>
          <a:bodyPr wrap="square" lIns="0" tIns="0" rIns="0" bIns="0" rtlCol="0" anchor="t"/>
          <a:lstStyle/>
          <a:p>
            <a:pPr marL="0" indent="0">
              <a:buNone/>
            </a:pPr>
            <a:r>
              <a:rPr lang="en-US" sz="1000" b="1" kern="0" spc="100" dirty="0">
                <a:solidFill>
                  <a:schemeClr val="tx1"/>
                </a:solidFill>
                <a:latin typeface="Calibri" pitchFamily="34" charset="0"/>
                <a:ea typeface="Calibri" pitchFamily="34" charset="-122"/>
                <a:cs typeface="Calibri" pitchFamily="34" charset="-120"/>
              </a:rPr>
              <a:t>LEVEL 1</a:t>
            </a:r>
            <a:endParaRPr lang="en-US" sz="1000" dirty="0"/>
          </a:p>
        </p:txBody>
      </p:sp>
      <p:sp>
        <p:nvSpPr>
          <p:cNvPr id="5" name="Level 1 name">
            <a:extLst>
              <a:ext uri="{FF2B5EF4-FFF2-40B4-BE49-F238E27FC236}">
                <a16:creationId xmlns:a16="http://schemas.microsoft.com/office/drawing/2014/main" id="{457A7F8C-5A66-D960-B7B2-F22F7C287206}"/>
              </a:ext>
            </a:extLst>
          </p:cNvPr>
          <p:cNvSpPr txBox="1"/>
          <p:nvPr/>
        </p:nvSpPr>
        <p:spPr>
          <a:xfrm>
            <a:off x="566928" y="2442464"/>
            <a:ext cx="1371600" cy="457200"/>
          </a:xfrm>
          <a:prstGeom prst="rect">
            <a:avLst/>
          </a:prstGeom>
          <a:noFill/>
          <a:ln/>
        </p:spPr>
        <p:txBody>
          <a:bodyPr wrap="square" lIns="0" tIns="0" rIns="0" bIns="0" rtlCol="0" anchor="t"/>
          <a:lstStyle/>
          <a:p>
            <a:pPr marL="0" indent="0">
              <a:buNone/>
            </a:pPr>
            <a:r>
              <a:rPr lang="en-US" sz="1400" b="1" dirty="0">
                <a:solidFill>
                  <a:schemeClr val="tx1"/>
                </a:solidFill>
                <a:latin typeface="Calibri" pitchFamily="34" charset="0"/>
                <a:ea typeface="Calibri" pitchFamily="34" charset="-122"/>
                <a:cs typeface="Calibri" pitchFamily="34" charset="-120"/>
              </a:rPr>
              <a:t>No AI Use</a:t>
            </a:r>
            <a:endParaRPr lang="en-US" sz="1400" dirty="0"/>
          </a:p>
        </p:txBody>
      </p:sp>
      <p:sp>
        <p:nvSpPr>
          <p:cNvPr id="6" name="Level 1 descriptor">
            <a:extLst>
              <a:ext uri="{FF2B5EF4-FFF2-40B4-BE49-F238E27FC236}">
                <a16:creationId xmlns:a16="http://schemas.microsoft.com/office/drawing/2014/main" id="{DC9A3FB2-E670-4E62-9469-718AC3006DA0}"/>
              </a:ext>
            </a:extLst>
          </p:cNvPr>
          <p:cNvSpPr txBox="1"/>
          <p:nvPr/>
        </p:nvSpPr>
        <p:spPr>
          <a:xfrm>
            <a:off x="566928" y="2936240"/>
            <a:ext cx="1353312" cy="457200"/>
          </a:xfrm>
          <a:prstGeom prst="rect">
            <a:avLst/>
          </a:prstGeom>
          <a:noFill/>
          <a:ln/>
        </p:spPr>
        <p:txBody>
          <a:bodyPr wrap="square" lIns="0" tIns="0" rIns="0" bIns="0" rtlCol="0" anchor="t"/>
          <a:lstStyle/>
          <a:p>
            <a:pPr marL="0" indent="0">
              <a:buNone/>
            </a:pPr>
            <a:r>
              <a:rPr lang="en-US" sz="1200" dirty="0">
                <a:solidFill>
                  <a:schemeClr val="tx1"/>
                </a:solidFill>
                <a:latin typeface="Calibri" pitchFamily="34" charset="0"/>
                <a:ea typeface="Calibri" pitchFamily="34" charset="-122"/>
                <a:cs typeface="Calibri" pitchFamily="34" charset="-120"/>
              </a:rPr>
              <a:t>Work completed without AI</a:t>
            </a:r>
            <a:endParaRPr lang="en-US" sz="1200" dirty="0"/>
          </a:p>
        </p:txBody>
      </p:sp>
      <p:sp>
        <p:nvSpPr>
          <p:cNvPr id="7" name="Level 1 why label">
            <a:extLst>
              <a:ext uri="{FF2B5EF4-FFF2-40B4-BE49-F238E27FC236}">
                <a16:creationId xmlns:a16="http://schemas.microsoft.com/office/drawing/2014/main" id="{4701491A-902D-C3F4-F25E-18CC92E0C64F}"/>
              </a:ext>
            </a:extLst>
          </p:cNvPr>
          <p:cNvSpPr txBox="1"/>
          <p:nvPr/>
        </p:nvSpPr>
        <p:spPr>
          <a:xfrm>
            <a:off x="566928" y="3439160"/>
            <a:ext cx="1335024" cy="182880"/>
          </a:xfrm>
          <a:prstGeom prst="rect">
            <a:avLst/>
          </a:prstGeom>
          <a:noFill/>
          <a:ln/>
        </p:spPr>
        <p:txBody>
          <a:bodyPr wrap="square" lIns="0" tIns="0" rIns="0" bIns="0" rtlCol="0" anchor="t"/>
          <a:lstStyle/>
          <a:p>
            <a:pPr marL="0" indent="0">
              <a:buNone/>
            </a:pPr>
            <a:r>
              <a:rPr lang="en-US" sz="1000" b="1" kern="0" spc="200" dirty="0">
                <a:solidFill>
                  <a:schemeClr val="tx2"/>
                </a:solidFill>
                <a:latin typeface="Calibri" pitchFamily="34" charset="0"/>
                <a:ea typeface="Calibri" pitchFamily="34" charset="-122"/>
                <a:cs typeface="Calibri" pitchFamily="34" charset="-120"/>
              </a:rPr>
              <a:t>WHY</a:t>
            </a:r>
            <a:endParaRPr lang="en-US" sz="1000" dirty="0"/>
          </a:p>
        </p:txBody>
      </p:sp>
      <p:sp>
        <p:nvSpPr>
          <p:cNvPr id="8" name="Level 1 why">
            <a:extLst>
              <a:ext uri="{FF2B5EF4-FFF2-40B4-BE49-F238E27FC236}">
                <a16:creationId xmlns:a16="http://schemas.microsoft.com/office/drawing/2014/main" id="{CC9FDEF6-9FF7-AA23-FD96-E999B44D2384}"/>
              </a:ext>
            </a:extLst>
          </p:cNvPr>
          <p:cNvSpPr txBox="1"/>
          <p:nvPr/>
        </p:nvSpPr>
        <p:spPr>
          <a:xfrm>
            <a:off x="566928" y="3631184"/>
            <a:ext cx="1353312" cy="548640"/>
          </a:xfrm>
          <a:prstGeom prst="rect">
            <a:avLst/>
          </a:prstGeom>
          <a:noFill/>
          <a:ln/>
        </p:spPr>
        <p:txBody>
          <a:bodyPr wrap="square" lIns="0" tIns="0" rIns="0" bIns="0" rtlCol="0" anchor="t"/>
          <a:lstStyle/>
          <a:p>
            <a:pPr marL="0" indent="0">
              <a:buNone/>
            </a:pPr>
            <a:r>
              <a:rPr lang="en-US" sz="1200" b="1" dirty="0">
                <a:solidFill>
                  <a:schemeClr val="tx1"/>
                </a:solidFill>
                <a:latin typeface="Calibri" pitchFamily="34" charset="0"/>
                <a:ea typeface="Calibri" pitchFamily="34" charset="-122"/>
                <a:cs typeface="Calibri" pitchFamily="34" charset="-120"/>
              </a:rPr>
              <a:t>Evidence of independent competence (e.g., domain knowledge)</a:t>
            </a:r>
            <a:endParaRPr lang="en-US" sz="1200" dirty="0"/>
          </a:p>
        </p:txBody>
      </p:sp>
      <p:sp>
        <p:nvSpPr>
          <p:cNvPr id="9" name="Level 2 step">
            <a:extLst>
              <a:ext uri="{FF2B5EF4-FFF2-40B4-BE49-F238E27FC236}">
                <a16:creationId xmlns:a16="http://schemas.microsoft.com/office/drawing/2014/main" id="{5072ADC6-372C-73B7-86C6-9D22F3DB83CD}"/>
              </a:ext>
            </a:extLst>
          </p:cNvPr>
          <p:cNvSpPr/>
          <p:nvPr/>
        </p:nvSpPr>
        <p:spPr>
          <a:xfrm>
            <a:off x="2103120" y="2002536"/>
            <a:ext cx="1554480" cy="2523744"/>
          </a:xfrm>
          <a:prstGeom prst="roundRect">
            <a:avLst>
              <a:gd name="adj" fmla="val 3529"/>
            </a:avLst>
          </a:prstGeom>
          <a:solidFill>
            <a:schemeClr val="accent4"/>
          </a:solidFill>
          <a:ln w="12700">
            <a:solidFill>
              <a:schemeClr val="accent4"/>
            </a:solidFill>
            <a:prstDash val="solid"/>
          </a:ln>
        </p:spPr>
        <p:txBody>
          <a:bodyPr/>
          <a:lstStyle/>
          <a:p>
            <a:endParaRPr lang="en-US"/>
          </a:p>
        </p:txBody>
      </p:sp>
      <p:sp>
        <p:nvSpPr>
          <p:cNvPr id="10" name="Level 2 number">
            <a:extLst>
              <a:ext uri="{FF2B5EF4-FFF2-40B4-BE49-F238E27FC236}">
                <a16:creationId xmlns:a16="http://schemas.microsoft.com/office/drawing/2014/main" id="{8B33AE50-3E0F-6CB2-10D1-973FBAAD1C80}"/>
              </a:ext>
            </a:extLst>
          </p:cNvPr>
          <p:cNvSpPr txBox="1"/>
          <p:nvPr/>
        </p:nvSpPr>
        <p:spPr>
          <a:xfrm>
            <a:off x="2212848" y="2112264"/>
            <a:ext cx="1335024" cy="201168"/>
          </a:xfrm>
          <a:prstGeom prst="rect">
            <a:avLst/>
          </a:prstGeom>
          <a:noFill/>
          <a:ln/>
        </p:spPr>
        <p:txBody>
          <a:bodyPr wrap="square" lIns="0" tIns="0" rIns="0" bIns="0" rtlCol="0" anchor="t"/>
          <a:lstStyle/>
          <a:p>
            <a:pPr marL="0" indent="0">
              <a:buNone/>
            </a:pPr>
            <a:r>
              <a:rPr lang="en-US" sz="1000" b="1" kern="0" spc="100" dirty="0">
                <a:solidFill>
                  <a:schemeClr val="tx1"/>
                </a:solidFill>
                <a:latin typeface="Calibri" pitchFamily="34" charset="0"/>
                <a:ea typeface="Calibri" pitchFamily="34" charset="-122"/>
                <a:cs typeface="Calibri" pitchFamily="34" charset="-120"/>
              </a:rPr>
              <a:t>LEVEL 2</a:t>
            </a:r>
            <a:endParaRPr lang="en-US" sz="1000" dirty="0"/>
          </a:p>
        </p:txBody>
      </p:sp>
      <p:sp>
        <p:nvSpPr>
          <p:cNvPr id="11" name="Level 2 name">
            <a:extLst>
              <a:ext uri="{FF2B5EF4-FFF2-40B4-BE49-F238E27FC236}">
                <a16:creationId xmlns:a16="http://schemas.microsoft.com/office/drawing/2014/main" id="{FE7F6F5B-9ECE-1DD6-FF4F-CF5F2D16CDB9}"/>
              </a:ext>
            </a:extLst>
          </p:cNvPr>
          <p:cNvSpPr txBox="1"/>
          <p:nvPr/>
        </p:nvSpPr>
        <p:spPr>
          <a:xfrm>
            <a:off x="2212848" y="2331720"/>
            <a:ext cx="1371600" cy="457200"/>
          </a:xfrm>
          <a:prstGeom prst="rect">
            <a:avLst/>
          </a:prstGeom>
          <a:noFill/>
          <a:ln/>
        </p:spPr>
        <p:txBody>
          <a:bodyPr wrap="square" lIns="0" tIns="0" rIns="0" bIns="0" rtlCol="0" anchor="t"/>
          <a:lstStyle/>
          <a:p>
            <a:pPr marL="0" indent="0">
              <a:buNone/>
            </a:pPr>
            <a:r>
              <a:rPr lang="en-US" sz="1400" b="1" dirty="0">
                <a:solidFill>
                  <a:schemeClr val="tx2"/>
                </a:solidFill>
                <a:latin typeface="Calibri" pitchFamily="34" charset="0"/>
                <a:ea typeface="Calibri" pitchFamily="34" charset="-122"/>
                <a:cs typeface="Calibri" pitchFamily="34" charset="-120"/>
              </a:rPr>
              <a:t>Limited AI Use</a:t>
            </a:r>
            <a:endParaRPr lang="en-US" sz="1400" dirty="0"/>
          </a:p>
        </p:txBody>
      </p:sp>
      <p:sp>
        <p:nvSpPr>
          <p:cNvPr id="12" name="Level 2 descriptor">
            <a:extLst>
              <a:ext uri="{FF2B5EF4-FFF2-40B4-BE49-F238E27FC236}">
                <a16:creationId xmlns:a16="http://schemas.microsoft.com/office/drawing/2014/main" id="{1EB4788A-520A-186F-211E-30B90778A56C}"/>
              </a:ext>
            </a:extLst>
          </p:cNvPr>
          <p:cNvSpPr txBox="1"/>
          <p:nvPr/>
        </p:nvSpPr>
        <p:spPr>
          <a:xfrm>
            <a:off x="2212848" y="2825496"/>
            <a:ext cx="1353312" cy="457200"/>
          </a:xfrm>
          <a:prstGeom prst="rect">
            <a:avLst/>
          </a:prstGeom>
          <a:noFill/>
          <a:ln/>
        </p:spPr>
        <p:txBody>
          <a:bodyPr wrap="square" lIns="0" tIns="0" rIns="0" bIns="0" rtlCol="0" anchor="t"/>
          <a:lstStyle/>
          <a:p>
            <a:pPr marL="0" indent="0">
              <a:buNone/>
            </a:pPr>
            <a:r>
              <a:rPr lang="en-US" sz="1200" dirty="0">
                <a:solidFill>
                  <a:schemeClr val="tx1"/>
                </a:solidFill>
                <a:latin typeface="Calibri" pitchFamily="34" charset="0"/>
                <a:ea typeface="Calibri" pitchFamily="34" charset="-122"/>
                <a:cs typeface="Calibri" pitchFamily="34" charset="-120"/>
              </a:rPr>
              <a:t>AI for narrow, specified tasks</a:t>
            </a:r>
            <a:endParaRPr lang="en-US" sz="1200" dirty="0"/>
          </a:p>
        </p:txBody>
      </p:sp>
      <p:sp>
        <p:nvSpPr>
          <p:cNvPr id="13" name="Level 2 why label">
            <a:extLst>
              <a:ext uri="{FF2B5EF4-FFF2-40B4-BE49-F238E27FC236}">
                <a16:creationId xmlns:a16="http://schemas.microsoft.com/office/drawing/2014/main" id="{D0D78E8C-15B6-F09A-15D0-E4927145B74D}"/>
              </a:ext>
            </a:extLst>
          </p:cNvPr>
          <p:cNvSpPr txBox="1"/>
          <p:nvPr/>
        </p:nvSpPr>
        <p:spPr>
          <a:xfrm>
            <a:off x="2212848" y="3328416"/>
            <a:ext cx="1335024" cy="182880"/>
          </a:xfrm>
          <a:prstGeom prst="rect">
            <a:avLst/>
          </a:prstGeom>
          <a:noFill/>
          <a:ln/>
        </p:spPr>
        <p:txBody>
          <a:bodyPr wrap="square" lIns="0" tIns="0" rIns="0" bIns="0" rtlCol="0" anchor="t"/>
          <a:lstStyle/>
          <a:p>
            <a:pPr marL="0" indent="0">
              <a:buNone/>
            </a:pPr>
            <a:r>
              <a:rPr lang="en-US" sz="1000" b="1" kern="0" spc="200" dirty="0">
                <a:solidFill>
                  <a:schemeClr val="tx2"/>
                </a:solidFill>
                <a:latin typeface="Calibri" pitchFamily="34" charset="0"/>
                <a:ea typeface="Calibri" pitchFamily="34" charset="-122"/>
                <a:cs typeface="Calibri" pitchFamily="34" charset="-120"/>
              </a:rPr>
              <a:t>WHY</a:t>
            </a:r>
            <a:endParaRPr lang="en-US" sz="1000" dirty="0"/>
          </a:p>
        </p:txBody>
      </p:sp>
      <p:sp>
        <p:nvSpPr>
          <p:cNvPr id="14" name="Level 2 why">
            <a:extLst>
              <a:ext uri="{FF2B5EF4-FFF2-40B4-BE49-F238E27FC236}">
                <a16:creationId xmlns:a16="http://schemas.microsoft.com/office/drawing/2014/main" id="{C19D9671-C157-1078-EEC9-7EBC59F175E6}"/>
              </a:ext>
            </a:extLst>
          </p:cNvPr>
          <p:cNvSpPr txBox="1"/>
          <p:nvPr/>
        </p:nvSpPr>
        <p:spPr>
          <a:xfrm>
            <a:off x="2212848" y="3520440"/>
            <a:ext cx="1353312" cy="548640"/>
          </a:xfrm>
          <a:prstGeom prst="rect">
            <a:avLst/>
          </a:prstGeom>
          <a:noFill/>
          <a:ln/>
        </p:spPr>
        <p:txBody>
          <a:bodyPr wrap="square" lIns="0" tIns="0" rIns="0" bIns="0" rtlCol="0" anchor="t"/>
          <a:lstStyle/>
          <a:p>
            <a:pPr marL="0" indent="0">
              <a:buNone/>
            </a:pPr>
            <a:r>
              <a:rPr lang="en-US" sz="1200" b="1" dirty="0">
                <a:solidFill>
                  <a:schemeClr val="tx2"/>
                </a:solidFill>
                <a:latin typeface="Calibri" pitchFamily="34" charset="0"/>
                <a:ea typeface="Calibri" pitchFamily="34" charset="-122"/>
                <a:cs typeface="Calibri" pitchFamily="34" charset="-120"/>
              </a:rPr>
              <a:t>Lower non-essential barriers (e.g., grammar)</a:t>
            </a:r>
            <a:endParaRPr lang="en-US" sz="1200" dirty="0"/>
          </a:p>
        </p:txBody>
      </p:sp>
      <p:sp>
        <p:nvSpPr>
          <p:cNvPr id="15" name="Level 3 step">
            <a:extLst>
              <a:ext uri="{FF2B5EF4-FFF2-40B4-BE49-F238E27FC236}">
                <a16:creationId xmlns:a16="http://schemas.microsoft.com/office/drawing/2014/main" id="{8BC67CC5-C0B9-FF24-891D-810CF21819CF}"/>
              </a:ext>
            </a:extLst>
          </p:cNvPr>
          <p:cNvSpPr/>
          <p:nvPr/>
        </p:nvSpPr>
        <p:spPr>
          <a:xfrm>
            <a:off x="3749040" y="1764792"/>
            <a:ext cx="1554480" cy="2761488"/>
          </a:xfrm>
          <a:prstGeom prst="roundRect">
            <a:avLst>
              <a:gd name="adj" fmla="val 3529"/>
            </a:avLst>
          </a:prstGeom>
          <a:solidFill>
            <a:srgbClr val="4F7A63"/>
          </a:solidFill>
          <a:ln w="28575">
            <a:solidFill>
              <a:schemeClr val="accent2"/>
            </a:solidFill>
            <a:prstDash val="solid"/>
          </a:ln>
        </p:spPr>
        <p:txBody>
          <a:bodyPr/>
          <a:lstStyle/>
          <a:p>
            <a:endParaRPr lang="en-US"/>
          </a:p>
        </p:txBody>
      </p:sp>
      <p:sp>
        <p:nvSpPr>
          <p:cNvPr id="16" name="Level 3 number">
            <a:extLst>
              <a:ext uri="{FF2B5EF4-FFF2-40B4-BE49-F238E27FC236}">
                <a16:creationId xmlns:a16="http://schemas.microsoft.com/office/drawing/2014/main" id="{2F20663E-F0FA-0A5B-6ECC-C5A5D30F6A3B}"/>
              </a:ext>
            </a:extLst>
          </p:cNvPr>
          <p:cNvSpPr txBox="1"/>
          <p:nvPr/>
        </p:nvSpPr>
        <p:spPr>
          <a:xfrm>
            <a:off x="3858768" y="1874520"/>
            <a:ext cx="1335024" cy="201168"/>
          </a:xfrm>
          <a:prstGeom prst="rect">
            <a:avLst/>
          </a:prstGeom>
          <a:noFill/>
          <a:ln/>
        </p:spPr>
        <p:txBody>
          <a:bodyPr wrap="square" lIns="0" tIns="0" rIns="0" bIns="0" rtlCol="0" anchor="t"/>
          <a:lstStyle/>
          <a:p>
            <a:pPr marL="0" indent="0">
              <a:buNone/>
            </a:pPr>
            <a:r>
              <a:rPr lang="en-US" sz="1000" b="1" kern="0" spc="100" dirty="0">
                <a:solidFill>
                  <a:schemeClr val="bg1"/>
                </a:solidFill>
                <a:latin typeface="Calibri" pitchFamily="34" charset="0"/>
                <a:ea typeface="Calibri" pitchFamily="34" charset="-122"/>
                <a:cs typeface="Calibri" pitchFamily="34" charset="-120"/>
              </a:rPr>
              <a:t>LEVEL 3</a:t>
            </a:r>
            <a:endParaRPr lang="en-US" sz="1000" dirty="0"/>
          </a:p>
        </p:txBody>
      </p:sp>
      <p:sp>
        <p:nvSpPr>
          <p:cNvPr id="17" name="Level 3 name">
            <a:extLst>
              <a:ext uri="{FF2B5EF4-FFF2-40B4-BE49-F238E27FC236}">
                <a16:creationId xmlns:a16="http://schemas.microsoft.com/office/drawing/2014/main" id="{C20B9D24-0200-4498-64F9-3C9585E084DE}"/>
              </a:ext>
            </a:extLst>
          </p:cNvPr>
          <p:cNvSpPr txBox="1"/>
          <p:nvPr/>
        </p:nvSpPr>
        <p:spPr>
          <a:xfrm>
            <a:off x="3858768" y="2093976"/>
            <a:ext cx="1371600" cy="457200"/>
          </a:xfrm>
          <a:prstGeom prst="rect">
            <a:avLst/>
          </a:prstGeom>
          <a:noFill/>
          <a:ln/>
        </p:spPr>
        <p:txBody>
          <a:bodyPr wrap="square" lIns="0" tIns="0" rIns="0" bIns="0" rtlCol="0" anchor="t"/>
          <a:lstStyle/>
          <a:p>
            <a:pPr marL="0" indent="0">
              <a:buNone/>
            </a:pPr>
            <a:r>
              <a:rPr lang="en-US" sz="1400" b="1" dirty="0">
                <a:solidFill>
                  <a:schemeClr val="bg1"/>
                </a:solidFill>
                <a:latin typeface="Calibri" pitchFamily="34" charset="0"/>
                <a:ea typeface="Calibri" pitchFamily="34" charset="-122"/>
                <a:cs typeface="Calibri" pitchFamily="34" charset="-120"/>
              </a:rPr>
              <a:t>Collaborative AI Use</a:t>
            </a:r>
            <a:endParaRPr lang="en-US" sz="1400" dirty="0"/>
          </a:p>
        </p:txBody>
      </p:sp>
      <p:sp>
        <p:nvSpPr>
          <p:cNvPr id="18" name="Level 3 descriptor">
            <a:extLst>
              <a:ext uri="{FF2B5EF4-FFF2-40B4-BE49-F238E27FC236}">
                <a16:creationId xmlns:a16="http://schemas.microsoft.com/office/drawing/2014/main" id="{2E8D674B-200E-8FC6-8D20-A298B7C65EEB}"/>
              </a:ext>
            </a:extLst>
          </p:cNvPr>
          <p:cNvSpPr txBox="1"/>
          <p:nvPr/>
        </p:nvSpPr>
        <p:spPr>
          <a:xfrm>
            <a:off x="3858768" y="2803652"/>
            <a:ext cx="1353312" cy="457200"/>
          </a:xfrm>
          <a:prstGeom prst="rect">
            <a:avLst/>
          </a:prstGeom>
          <a:noFill/>
          <a:ln/>
        </p:spPr>
        <p:txBody>
          <a:bodyPr wrap="square" lIns="0" tIns="0" rIns="0" bIns="0" rtlCol="0" anchor="t"/>
          <a:lstStyle/>
          <a:p>
            <a:pPr marL="0" indent="0">
              <a:buNone/>
            </a:pPr>
            <a:r>
              <a:rPr lang="en-US" sz="1200" dirty="0">
                <a:solidFill>
                  <a:schemeClr val="bg1"/>
                </a:solidFill>
                <a:latin typeface="Calibri" pitchFamily="34" charset="0"/>
                <a:ea typeface="Calibri" pitchFamily="34" charset="-122"/>
                <a:cs typeface="Calibri" pitchFamily="34" charset="-120"/>
              </a:rPr>
              <a:t>AI as a thought partner throughout</a:t>
            </a:r>
            <a:endParaRPr lang="en-US" sz="1200" dirty="0"/>
          </a:p>
        </p:txBody>
      </p:sp>
      <p:sp>
        <p:nvSpPr>
          <p:cNvPr id="19" name="Level 3 why label">
            <a:extLst>
              <a:ext uri="{FF2B5EF4-FFF2-40B4-BE49-F238E27FC236}">
                <a16:creationId xmlns:a16="http://schemas.microsoft.com/office/drawing/2014/main" id="{0B9A139F-0C6C-7BF8-4E4C-3C064CCD06F4}"/>
              </a:ext>
            </a:extLst>
          </p:cNvPr>
          <p:cNvSpPr txBox="1"/>
          <p:nvPr/>
        </p:nvSpPr>
        <p:spPr>
          <a:xfrm>
            <a:off x="3858768" y="3306572"/>
            <a:ext cx="1335024" cy="182880"/>
          </a:xfrm>
          <a:prstGeom prst="rect">
            <a:avLst/>
          </a:prstGeom>
          <a:noFill/>
          <a:ln/>
        </p:spPr>
        <p:txBody>
          <a:bodyPr wrap="square" lIns="0" tIns="0" rIns="0" bIns="0" rtlCol="0" anchor="t"/>
          <a:lstStyle/>
          <a:p>
            <a:pPr marL="0" indent="0">
              <a:buNone/>
            </a:pPr>
            <a:r>
              <a:rPr lang="en-US" sz="1000" b="1" kern="0" spc="200" dirty="0">
                <a:solidFill>
                  <a:schemeClr val="accent2"/>
                </a:solidFill>
                <a:latin typeface="Calibri" pitchFamily="34" charset="0"/>
                <a:ea typeface="Calibri" pitchFamily="34" charset="-122"/>
                <a:cs typeface="Calibri" pitchFamily="34" charset="-120"/>
              </a:rPr>
              <a:t>WHY</a:t>
            </a:r>
            <a:endParaRPr lang="en-US" sz="1000" dirty="0"/>
          </a:p>
        </p:txBody>
      </p:sp>
      <p:sp>
        <p:nvSpPr>
          <p:cNvPr id="20" name="Level 3 why">
            <a:extLst>
              <a:ext uri="{FF2B5EF4-FFF2-40B4-BE49-F238E27FC236}">
                <a16:creationId xmlns:a16="http://schemas.microsoft.com/office/drawing/2014/main" id="{4B8C6CF3-082B-0DDF-A3FA-9FDFE3A01042}"/>
              </a:ext>
            </a:extLst>
          </p:cNvPr>
          <p:cNvSpPr txBox="1"/>
          <p:nvPr/>
        </p:nvSpPr>
        <p:spPr>
          <a:xfrm>
            <a:off x="3858768" y="3498596"/>
            <a:ext cx="1353312" cy="548640"/>
          </a:xfrm>
          <a:prstGeom prst="rect">
            <a:avLst/>
          </a:prstGeom>
          <a:noFill/>
          <a:ln/>
        </p:spPr>
        <p:txBody>
          <a:bodyPr wrap="square" lIns="0" tIns="0" rIns="0" bIns="0" rtlCol="0" anchor="t"/>
          <a:lstStyle/>
          <a:p>
            <a:pPr marL="0" indent="0">
              <a:buNone/>
            </a:pPr>
            <a:r>
              <a:rPr lang="en-US" sz="1200" b="1" dirty="0">
                <a:solidFill>
                  <a:schemeClr val="bg1"/>
                </a:solidFill>
                <a:latin typeface="Calibri" pitchFamily="34" charset="0"/>
                <a:ea typeface="Calibri" pitchFamily="34" charset="-122"/>
                <a:cs typeface="Calibri" pitchFamily="34" charset="-120"/>
              </a:rPr>
              <a:t>Engage critical thinking through reflection</a:t>
            </a:r>
            <a:endParaRPr lang="en-US" sz="1200" dirty="0"/>
          </a:p>
        </p:txBody>
      </p:sp>
      <p:sp>
        <p:nvSpPr>
          <p:cNvPr id="21" name="Level 4 step">
            <a:extLst>
              <a:ext uri="{FF2B5EF4-FFF2-40B4-BE49-F238E27FC236}">
                <a16:creationId xmlns:a16="http://schemas.microsoft.com/office/drawing/2014/main" id="{13686F1E-32EF-04C9-C6BA-6F1A2CEC3D39}"/>
              </a:ext>
            </a:extLst>
          </p:cNvPr>
          <p:cNvSpPr/>
          <p:nvPr/>
        </p:nvSpPr>
        <p:spPr>
          <a:xfrm>
            <a:off x="5394960" y="1527048"/>
            <a:ext cx="1554480" cy="2999232"/>
          </a:xfrm>
          <a:prstGeom prst="roundRect">
            <a:avLst>
              <a:gd name="adj" fmla="val 3529"/>
            </a:avLst>
          </a:prstGeom>
          <a:solidFill>
            <a:schemeClr val="accent1"/>
          </a:solidFill>
          <a:ln w="12700">
            <a:solidFill>
              <a:schemeClr val="accent1"/>
            </a:solidFill>
            <a:prstDash val="solid"/>
          </a:ln>
        </p:spPr>
        <p:txBody>
          <a:bodyPr/>
          <a:lstStyle/>
          <a:p>
            <a:endParaRPr lang="en-US"/>
          </a:p>
        </p:txBody>
      </p:sp>
      <p:sp>
        <p:nvSpPr>
          <p:cNvPr id="22" name="Level 4 number">
            <a:extLst>
              <a:ext uri="{FF2B5EF4-FFF2-40B4-BE49-F238E27FC236}">
                <a16:creationId xmlns:a16="http://schemas.microsoft.com/office/drawing/2014/main" id="{EDBA4F19-27C8-0424-0302-E44068F877BB}"/>
              </a:ext>
            </a:extLst>
          </p:cNvPr>
          <p:cNvSpPr txBox="1"/>
          <p:nvPr/>
        </p:nvSpPr>
        <p:spPr>
          <a:xfrm>
            <a:off x="5504688" y="1636776"/>
            <a:ext cx="1335024" cy="201168"/>
          </a:xfrm>
          <a:prstGeom prst="rect">
            <a:avLst/>
          </a:prstGeom>
          <a:noFill/>
          <a:ln/>
        </p:spPr>
        <p:txBody>
          <a:bodyPr wrap="square" lIns="0" tIns="0" rIns="0" bIns="0" rtlCol="0" anchor="t"/>
          <a:lstStyle/>
          <a:p>
            <a:pPr marL="0" indent="0">
              <a:buNone/>
            </a:pPr>
            <a:r>
              <a:rPr lang="en-US" sz="1000" b="1" kern="0" spc="100" dirty="0">
                <a:solidFill>
                  <a:srgbClr val="E3ECE6"/>
                </a:solidFill>
                <a:latin typeface="Calibri" pitchFamily="34" charset="0"/>
                <a:ea typeface="Calibri" pitchFamily="34" charset="-122"/>
                <a:cs typeface="Calibri" pitchFamily="34" charset="-120"/>
              </a:rPr>
              <a:t>LEVEL 4</a:t>
            </a:r>
            <a:endParaRPr lang="en-US" sz="1000" dirty="0"/>
          </a:p>
        </p:txBody>
      </p:sp>
      <p:sp>
        <p:nvSpPr>
          <p:cNvPr id="23" name="Level 4 name">
            <a:extLst>
              <a:ext uri="{FF2B5EF4-FFF2-40B4-BE49-F238E27FC236}">
                <a16:creationId xmlns:a16="http://schemas.microsoft.com/office/drawing/2014/main" id="{6BF24AA8-ED56-1563-5B55-92BB7C351AA7}"/>
              </a:ext>
            </a:extLst>
          </p:cNvPr>
          <p:cNvSpPr txBox="1"/>
          <p:nvPr/>
        </p:nvSpPr>
        <p:spPr>
          <a:xfrm>
            <a:off x="5504688" y="1856232"/>
            <a:ext cx="1371600" cy="457200"/>
          </a:xfrm>
          <a:prstGeom prst="rect">
            <a:avLst/>
          </a:prstGeom>
          <a:noFill/>
          <a:ln/>
        </p:spPr>
        <p:txBody>
          <a:bodyPr wrap="square" lIns="0" tIns="0" rIns="0" bIns="0" rtlCol="0" anchor="t"/>
          <a:lstStyle/>
          <a:p>
            <a:pPr marL="0" indent="0">
              <a:buNone/>
            </a:pPr>
            <a:r>
              <a:rPr lang="en-US" sz="1400" b="1" dirty="0">
                <a:solidFill>
                  <a:schemeClr val="bg1"/>
                </a:solidFill>
                <a:latin typeface="Calibri" pitchFamily="34" charset="0"/>
                <a:ea typeface="Calibri" pitchFamily="34" charset="-122"/>
                <a:cs typeface="Calibri" pitchFamily="34" charset="-120"/>
              </a:rPr>
              <a:t>Integrated AI Use</a:t>
            </a:r>
            <a:endParaRPr lang="en-US" sz="1400" dirty="0"/>
          </a:p>
        </p:txBody>
      </p:sp>
      <p:sp>
        <p:nvSpPr>
          <p:cNvPr id="24" name="Level 4 descriptor">
            <a:extLst>
              <a:ext uri="{FF2B5EF4-FFF2-40B4-BE49-F238E27FC236}">
                <a16:creationId xmlns:a16="http://schemas.microsoft.com/office/drawing/2014/main" id="{871E248A-870D-F3B2-6161-46E54F633B66}"/>
              </a:ext>
            </a:extLst>
          </p:cNvPr>
          <p:cNvSpPr txBox="1"/>
          <p:nvPr/>
        </p:nvSpPr>
        <p:spPr>
          <a:xfrm>
            <a:off x="5504688" y="2350008"/>
            <a:ext cx="1353312" cy="457200"/>
          </a:xfrm>
          <a:prstGeom prst="rect">
            <a:avLst/>
          </a:prstGeom>
          <a:noFill/>
          <a:ln/>
        </p:spPr>
        <p:txBody>
          <a:bodyPr wrap="square" lIns="0" tIns="0" rIns="0" bIns="0" rtlCol="0" anchor="t"/>
          <a:lstStyle/>
          <a:p>
            <a:pPr marL="0" indent="0">
              <a:buNone/>
            </a:pPr>
            <a:r>
              <a:rPr lang="en-US" sz="1200" dirty="0">
                <a:solidFill>
                  <a:srgbClr val="E3ECE6"/>
                </a:solidFill>
                <a:latin typeface="Calibri" pitchFamily="34" charset="0"/>
                <a:ea typeface="Calibri" pitchFamily="34" charset="-122"/>
                <a:cs typeface="Calibri" pitchFamily="34" charset="-120"/>
              </a:rPr>
              <a:t>AI woven in as in professional practice</a:t>
            </a:r>
            <a:endParaRPr lang="en-US" sz="1200" dirty="0"/>
          </a:p>
        </p:txBody>
      </p:sp>
      <p:sp>
        <p:nvSpPr>
          <p:cNvPr id="25" name="Level 4 why label">
            <a:extLst>
              <a:ext uri="{FF2B5EF4-FFF2-40B4-BE49-F238E27FC236}">
                <a16:creationId xmlns:a16="http://schemas.microsoft.com/office/drawing/2014/main" id="{4D5FCD2B-7646-12BC-164B-BCF7EA5CF068}"/>
              </a:ext>
            </a:extLst>
          </p:cNvPr>
          <p:cNvSpPr txBox="1"/>
          <p:nvPr/>
        </p:nvSpPr>
        <p:spPr>
          <a:xfrm>
            <a:off x="5504688" y="2852928"/>
            <a:ext cx="1335024" cy="182880"/>
          </a:xfrm>
          <a:prstGeom prst="rect">
            <a:avLst/>
          </a:prstGeom>
          <a:noFill/>
          <a:ln/>
        </p:spPr>
        <p:txBody>
          <a:bodyPr wrap="square" lIns="0" tIns="0" rIns="0" bIns="0" rtlCol="0" anchor="t"/>
          <a:lstStyle/>
          <a:p>
            <a:pPr marL="0" indent="0">
              <a:buNone/>
            </a:pPr>
            <a:r>
              <a:rPr lang="en-US" sz="1000" b="1" kern="0" spc="200" dirty="0">
                <a:solidFill>
                  <a:schemeClr val="accent2"/>
                </a:solidFill>
                <a:latin typeface="Calibri" pitchFamily="34" charset="0"/>
                <a:ea typeface="Calibri" pitchFamily="34" charset="-122"/>
                <a:cs typeface="Calibri" pitchFamily="34" charset="-120"/>
              </a:rPr>
              <a:t>WHY</a:t>
            </a:r>
            <a:endParaRPr lang="en-US" sz="1000" dirty="0"/>
          </a:p>
        </p:txBody>
      </p:sp>
      <p:sp>
        <p:nvSpPr>
          <p:cNvPr id="26" name="Level 4 why">
            <a:extLst>
              <a:ext uri="{FF2B5EF4-FFF2-40B4-BE49-F238E27FC236}">
                <a16:creationId xmlns:a16="http://schemas.microsoft.com/office/drawing/2014/main" id="{6FEBFF30-B754-9893-7326-CBDB9F365C5C}"/>
              </a:ext>
            </a:extLst>
          </p:cNvPr>
          <p:cNvSpPr txBox="1"/>
          <p:nvPr/>
        </p:nvSpPr>
        <p:spPr>
          <a:xfrm>
            <a:off x="5504688" y="3044952"/>
            <a:ext cx="1353312" cy="548640"/>
          </a:xfrm>
          <a:prstGeom prst="rect">
            <a:avLst/>
          </a:prstGeom>
          <a:noFill/>
          <a:ln/>
        </p:spPr>
        <p:txBody>
          <a:bodyPr wrap="square" lIns="0" tIns="0" rIns="0" bIns="0" rtlCol="0" anchor="t"/>
          <a:lstStyle/>
          <a:p>
            <a:pPr marL="0" indent="0">
              <a:buNone/>
            </a:pPr>
            <a:r>
              <a:rPr lang="en-US" sz="1200" b="1" dirty="0">
                <a:solidFill>
                  <a:schemeClr val="bg1"/>
                </a:solidFill>
                <a:latin typeface="Calibri" pitchFamily="34" charset="0"/>
                <a:ea typeface="Calibri" pitchFamily="34" charset="-122"/>
                <a:cs typeface="Calibri" pitchFamily="34" charset="-120"/>
              </a:rPr>
              <a:t>Co-create with human-directed interaction</a:t>
            </a:r>
            <a:endParaRPr lang="en-US" sz="1200" dirty="0"/>
          </a:p>
        </p:txBody>
      </p:sp>
      <p:sp>
        <p:nvSpPr>
          <p:cNvPr id="27" name="Level 5 step">
            <a:extLst>
              <a:ext uri="{FF2B5EF4-FFF2-40B4-BE49-F238E27FC236}">
                <a16:creationId xmlns:a16="http://schemas.microsoft.com/office/drawing/2014/main" id="{782F0062-858D-E345-3A18-D143BFEE1C56}"/>
              </a:ext>
            </a:extLst>
          </p:cNvPr>
          <p:cNvSpPr/>
          <p:nvPr/>
        </p:nvSpPr>
        <p:spPr>
          <a:xfrm>
            <a:off x="7040880" y="1289304"/>
            <a:ext cx="1554480" cy="3236976"/>
          </a:xfrm>
          <a:prstGeom prst="roundRect">
            <a:avLst>
              <a:gd name="adj" fmla="val 3529"/>
            </a:avLst>
          </a:prstGeom>
          <a:solidFill>
            <a:schemeClr val="tx1"/>
          </a:solidFill>
          <a:ln w="12700">
            <a:solidFill>
              <a:schemeClr val="tx1"/>
            </a:solidFill>
            <a:prstDash val="solid"/>
          </a:ln>
        </p:spPr>
        <p:txBody>
          <a:bodyPr/>
          <a:lstStyle/>
          <a:p>
            <a:endParaRPr lang="en-US"/>
          </a:p>
        </p:txBody>
      </p:sp>
      <p:sp>
        <p:nvSpPr>
          <p:cNvPr id="28" name="Level 5 number">
            <a:extLst>
              <a:ext uri="{FF2B5EF4-FFF2-40B4-BE49-F238E27FC236}">
                <a16:creationId xmlns:a16="http://schemas.microsoft.com/office/drawing/2014/main" id="{7FCA77F0-3347-F669-D4DF-AA05730420D4}"/>
              </a:ext>
            </a:extLst>
          </p:cNvPr>
          <p:cNvSpPr txBox="1"/>
          <p:nvPr/>
        </p:nvSpPr>
        <p:spPr>
          <a:xfrm>
            <a:off x="7150608" y="1399032"/>
            <a:ext cx="1335024" cy="201168"/>
          </a:xfrm>
          <a:prstGeom prst="rect">
            <a:avLst/>
          </a:prstGeom>
          <a:noFill/>
          <a:ln/>
        </p:spPr>
        <p:txBody>
          <a:bodyPr wrap="square" lIns="0" tIns="0" rIns="0" bIns="0" rtlCol="0" anchor="t"/>
          <a:lstStyle/>
          <a:p>
            <a:pPr marL="0" indent="0">
              <a:buNone/>
            </a:pPr>
            <a:r>
              <a:rPr lang="en-US" sz="1000" b="1" kern="0" spc="100" dirty="0">
                <a:solidFill>
                  <a:schemeClr val="bg1"/>
                </a:solidFill>
                <a:latin typeface="Calibri" pitchFamily="34" charset="0"/>
                <a:ea typeface="Calibri" pitchFamily="34" charset="-122"/>
                <a:cs typeface="Calibri" pitchFamily="34" charset="-120"/>
              </a:rPr>
              <a:t>LEVEL 5</a:t>
            </a:r>
            <a:endParaRPr lang="en-US" sz="1000" dirty="0"/>
          </a:p>
        </p:txBody>
      </p:sp>
      <p:sp>
        <p:nvSpPr>
          <p:cNvPr id="29" name="Level 5 name">
            <a:extLst>
              <a:ext uri="{FF2B5EF4-FFF2-40B4-BE49-F238E27FC236}">
                <a16:creationId xmlns:a16="http://schemas.microsoft.com/office/drawing/2014/main" id="{DB0AD27D-A917-9E3E-F4BC-B4B4C23F3AB8}"/>
              </a:ext>
            </a:extLst>
          </p:cNvPr>
          <p:cNvSpPr txBox="1"/>
          <p:nvPr/>
        </p:nvSpPr>
        <p:spPr>
          <a:xfrm>
            <a:off x="7150608" y="1618488"/>
            <a:ext cx="1371600" cy="457200"/>
          </a:xfrm>
          <a:prstGeom prst="rect">
            <a:avLst/>
          </a:prstGeom>
          <a:noFill/>
          <a:ln/>
        </p:spPr>
        <p:txBody>
          <a:bodyPr wrap="square" lIns="0" tIns="0" rIns="0" bIns="0" rtlCol="0" anchor="t"/>
          <a:lstStyle/>
          <a:p>
            <a:pPr marL="0" indent="0">
              <a:buNone/>
            </a:pPr>
            <a:r>
              <a:rPr lang="en-US" sz="1400" b="1" dirty="0">
                <a:solidFill>
                  <a:schemeClr val="accent2"/>
                </a:solidFill>
                <a:latin typeface="Calibri" pitchFamily="34" charset="0"/>
                <a:ea typeface="Calibri" pitchFamily="34" charset="-122"/>
                <a:cs typeface="Calibri" pitchFamily="34" charset="-120"/>
              </a:rPr>
              <a:t>AI Innovation</a:t>
            </a:r>
            <a:endParaRPr lang="en-US" sz="1400" dirty="0"/>
          </a:p>
        </p:txBody>
      </p:sp>
      <p:sp>
        <p:nvSpPr>
          <p:cNvPr id="30" name="Level 5 descriptor">
            <a:extLst>
              <a:ext uri="{FF2B5EF4-FFF2-40B4-BE49-F238E27FC236}">
                <a16:creationId xmlns:a16="http://schemas.microsoft.com/office/drawing/2014/main" id="{A22ACD6E-0359-58C7-A879-8AE9106CECA2}"/>
              </a:ext>
            </a:extLst>
          </p:cNvPr>
          <p:cNvSpPr txBox="1"/>
          <p:nvPr/>
        </p:nvSpPr>
        <p:spPr>
          <a:xfrm>
            <a:off x="7150608" y="2112264"/>
            <a:ext cx="1353312" cy="457200"/>
          </a:xfrm>
          <a:prstGeom prst="rect">
            <a:avLst/>
          </a:prstGeom>
          <a:noFill/>
          <a:ln/>
        </p:spPr>
        <p:txBody>
          <a:bodyPr wrap="square" lIns="0" tIns="0" rIns="0" bIns="0" rtlCol="0" anchor="t"/>
          <a:lstStyle/>
          <a:p>
            <a:pPr marL="0" indent="0">
              <a:buNone/>
            </a:pPr>
            <a:r>
              <a:rPr lang="en-US" sz="1200" dirty="0">
                <a:solidFill>
                  <a:schemeClr val="bg1"/>
                </a:solidFill>
                <a:latin typeface="Calibri" pitchFamily="34" charset="0"/>
                <a:ea typeface="Calibri" pitchFamily="34" charset="-122"/>
                <a:cs typeface="Calibri" pitchFamily="34" charset="-120"/>
              </a:rPr>
              <a:t>AI used to create novel approaches</a:t>
            </a:r>
            <a:endParaRPr lang="en-US" sz="1200" dirty="0"/>
          </a:p>
        </p:txBody>
      </p:sp>
      <p:sp>
        <p:nvSpPr>
          <p:cNvPr id="31" name="Level 5 why label">
            <a:extLst>
              <a:ext uri="{FF2B5EF4-FFF2-40B4-BE49-F238E27FC236}">
                <a16:creationId xmlns:a16="http://schemas.microsoft.com/office/drawing/2014/main" id="{BBE29B49-C932-8842-8534-1950E44D2A45}"/>
              </a:ext>
            </a:extLst>
          </p:cNvPr>
          <p:cNvSpPr txBox="1"/>
          <p:nvPr/>
        </p:nvSpPr>
        <p:spPr>
          <a:xfrm>
            <a:off x="7150608" y="2615184"/>
            <a:ext cx="1335024" cy="182880"/>
          </a:xfrm>
          <a:prstGeom prst="rect">
            <a:avLst/>
          </a:prstGeom>
          <a:noFill/>
          <a:ln/>
        </p:spPr>
        <p:txBody>
          <a:bodyPr wrap="square" lIns="0" tIns="0" rIns="0" bIns="0" rtlCol="0" anchor="t"/>
          <a:lstStyle/>
          <a:p>
            <a:pPr marL="0" indent="0">
              <a:buNone/>
            </a:pPr>
            <a:r>
              <a:rPr lang="en-US" sz="1000" b="1" kern="0" spc="200" dirty="0">
                <a:solidFill>
                  <a:schemeClr val="accent2"/>
                </a:solidFill>
                <a:latin typeface="Calibri" pitchFamily="34" charset="0"/>
                <a:ea typeface="Calibri" pitchFamily="34" charset="-122"/>
                <a:cs typeface="Calibri" pitchFamily="34" charset="-120"/>
              </a:rPr>
              <a:t>WHY</a:t>
            </a:r>
            <a:endParaRPr lang="en-US" sz="1000" dirty="0"/>
          </a:p>
        </p:txBody>
      </p:sp>
      <p:sp>
        <p:nvSpPr>
          <p:cNvPr id="32" name="Level 5 why">
            <a:extLst>
              <a:ext uri="{FF2B5EF4-FFF2-40B4-BE49-F238E27FC236}">
                <a16:creationId xmlns:a16="http://schemas.microsoft.com/office/drawing/2014/main" id="{A1CF702D-AF85-6A28-2B5B-46A6BBD4E3D7}"/>
              </a:ext>
            </a:extLst>
          </p:cNvPr>
          <p:cNvSpPr txBox="1"/>
          <p:nvPr/>
        </p:nvSpPr>
        <p:spPr>
          <a:xfrm>
            <a:off x="7150608" y="2807208"/>
            <a:ext cx="1353312" cy="548640"/>
          </a:xfrm>
          <a:prstGeom prst="rect">
            <a:avLst/>
          </a:prstGeom>
          <a:noFill/>
          <a:ln/>
        </p:spPr>
        <p:txBody>
          <a:bodyPr wrap="square" lIns="0" tIns="0" rIns="0" bIns="0" rtlCol="0" anchor="t"/>
          <a:lstStyle/>
          <a:p>
            <a:pPr marL="0" indent="0">
              <a:buNone/>
            </a:pPr>
            <a:r>
              <a:rPr lang="en-US" sz="1200" b="1" dirty="0">
                <a:solidFill>
                  <a:schemeClr val="accent2"/>
                </a:solidFill>
                <a:latin typeface="Calibri" pitchFamily="34" charset="0"/>
                <a:ea typeface="Calibri" pitchFamily="34" charset="-122"/>
                <a:cs typeface="Calibri" pitchFamily="34" charset="-120"/>
              </a:rPr>
              <a:t>Evidence of AI fluency (discernment and stewardship)</a:t>
            </a:r>
            <a:endParaRPr lang="en-US" sz="1200" dirty="0"/>
          </a:p>
        </p:txBody>
      </p:sp>
      <p:sp>
        <p:nvSpPr>
          <p:cNvPr id="33" name="Prompt card">
            <a:extLst>
              <a:ext uri="{FF2B5EF4-FFF2-40B4-BE49-F238E27FC236}">
                <a16:creationId xmlns:a16="http://schemas.microsoft.com/office/drawing/2014/main" id="{063B2602-10D3-53FB-86A6-FDC4D629A29A}"/>
              </a:ext>
            </a:extLst>
          </p:cNvPr>
          <p:cNvSpPr/>
          <p:nvPr/>
        </p:nvSpPr>
        <p:spPr>
          <a:xfrm>
            <a:off x="457200" y="1024128"/>
            <a:ext cx="3200400" cy="822960"/>
          </a:xfrm>
          <a:prstGeom prst="roundRect">
            <a:avLst>
              <a:gd name="adj" fmla="val 8889"/>
            </a:avLst>
          </a:prstGeom>
          <a:solidFill>
            <a:schemeClr val="accent5"/>
          </a:solidFill>
          <a:ln w="12700">
            <a:solidFill>
              <a:schemeClr val="accent5"/>
            </a:solidFill>
            <a:prstDash val="solid"/>
          </a:ln>
        </p:spPr>
        <p:txBody>
          <a:bodyPr/>
          <a:lstStyle/>
          <a:p>
            <a:endParaRPr lang="en-US"/>
          </a:p>
        </p:txBody>
      </p:sp>
      <p:sp>
        <p:nvSpPr>
          <p:cNvPr id="34" name="Prompt">
            <a:extLst>
              <a:ext uri="{FF2B5EF4-FFF2-40B4-BE49-F238E27FC236}">
                <a16:creationId xmlns:a16="http://schemas.microsoft.com/office/drawing/2014/main" id="{7F065D4D-9FBA-6611-36CC-80C2E51B2281}"/>
              </a:ext>
            </a:extLst>
          </p:cNvPr>
          <p:cNvSpPr txBox="1"/>
          <p:nvPr/>
        </p:nvSpPr>
        <p:spPr>
          <a:xfrm>
            <a:off x="621792" y="1042416"/>
            <a:ext cx="2926080" cy="786384"/>
          </a:xfrm>
          <a:prstGeom prst="rect">
            <a:avLst/>
          </a:prstGeom>
          <a:noFill/>
          <a:ln/>
        </p:spPr>
        <p:txBody>
          <a:bodyPr wrap="square" lIns="0" tIns="0" rIns="0" bIns="0" rtlCol="0" anchor="ctr"/>
          <a:lstStyle/>
          <a:p>
            <a:pPr marL="0" indent="0">
              <a:buNone/>
            </a:pPr>
            <a:r>
              <a:rPr lang="en-US" sz="1400" b="1" dirty="0">
                <a:solidFill>
                  <a:schemeClr val="tx1"/>
                </a:solidFill>
                <a:latin typeface="Calibri" pitchFamily="34" charset="0"/>
                <a:ea typeface="Calibri" pitchFamily="34" charset="-122"/>
                <a:cs typeface="Calibri" pitchFamily="34" charset="-120"/>
              </a:rPr>
              <a:t>Where does one of your assignments sit today?</a:t>
            </a:r>
            <a:endParaRPr lang="en-US" sz="1400" dirty="0"/>
          </a:p>
          <a:p>
            <a:pPr marL="0" indent="0">
              <a:buNone/>
            </a:pPr>
            <a:r>
              <a:rPr lang="en-US" sz="1400" dirty="0">
                <a:solidFill>
                  <a:schemeClr val="tx1"/>
                </a:solidFill>
                <a:latin typeface="Calibri" pitchFamily="34" charset="0"/>
                <a:ea typeface="Calibri" pitchFamily="34" charset="-122"/>
                <a:cs typeface="Calibri" pitchFamily="34" charset="-120"/>
              </a:rPr>
              <a:t>Where would you want it to sit?</a:t>
            </a:r>
            <a:endParaRPr lang="en-US" sz="1400" dirty="0"/>
          </a:p>
        </p:txBody>
      </p:sp>
      <p:sp>
        <p:nvSpPr>
          <p:cNvPr id="35" name="Citation">
            <a:extLst>
              <a:ext uri="{FF2B5EF4-FFF2-40B4-BE49-F238E27FC236}">
                <a16:creationId xmlns:a16="http://schemas.microsoft.com/office/drawing/2014/main" id="{F3D27819-A268-5278-25DC-FB2049BD50D8}"/>
              </a:ext>
            </a:extLst>
          </p:cNvPr>
          <p:cNvSpPr txBox="1"/>
          <p:nvPr/>
        </p:nvSpPr>
        <p:spPr>
          <a:xfrm>
            <a:off x="457200" y="4754880"/>
            <a:ext cx="7772400" cy="256032"/>
          </a:xfrm>
          <a:prstGeom prst="rect">
            <a:avLst/>
          </a:prstGeom>
          <a:noFill/>
          <a:ln/>
        </p:spPr>
        <p:txBody>
          <a:bodyPr wrap="square" lIns="0" tIns="0" rIns="0" bIns="0" rtlCol="0" anchor="ctr"/>
          <a:lstStyle/>
          <a:p>
            <a:pPr marL="0" indent="0">
              <a:buNone/>
            </a:pPr>
            <a:r>
              <a:rPr lang="en-US" sz="1000" dirty="0">
                <a:solidFill>
                  <a:schemeClr val="accent3"/>
                </a:solidFill>
                <a:latin typeface="Calibri" pitchFamily="34" charset="0"/>
                <a:ea typeface="Calibri" pitchFamily="34" charset="-122"/>
                <a:cs typeface="Calibri" pitchFamily="34" charset="-120"/>
              </a:rPr>
              <a:t>IWU AI Literacy Continuum (Bleistein &amp; Snyder, 2026), adapted from the AIAS (Perkins et al., 2024)</a:t>
            </a:r>
            <a:endParaRPr lang="en-US" sz="1000" dirty="0"/>
          </a:p>
        </p:txBody>
      </p:sp>
      <p:sp>
        <p:nvSpPr>
          <p:cNvPr id="36" name="Slide Number Placeholder 0">
            <a:extLst>
              <a:ext uri="{FF2B5EF4-FFF2-40B4-BE49-F238E27FC236}">
                <a16:creationId xmlns:a16="http://schemas.microsoft.com/office/drawing/2014/main" id="{93862DBE-C29F-1CC2-B205-DDBD4160C60C}"/>
              </a:ext>
            </a:extLst>
          </p:cNvPr>
          <p:cNvSpPr>
            <a:spLocks noGrp="1"/>
          </p:cNvSpPr>
          <p:nvPr>
            <p:ph type="sldNum" sz="quarter" idx="4294967295"/>
          </p:nvPr>
        </p:nvSpPr>
        <p:spPr>
          <a:xfrm>
            <a:off x="841248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3"/>
                </a:solidFill>
              </a:defRPr>
            </a:lvl1pPr>
          </a:lstStyle>
          <a:p>
            <a:pPr algn="r"/>
            <a:fld id="{F7021451-1387-4CA6-816F-3879F97B5CBC}" type="slidenum">
              <a:rPr lang="en-US" b="0"/>
              <a:t>25</a:t>
            </a:fld>
            <a:endParaRPr lang="en-US"/>
          </a:p>
        </p:txBody>
      </p:sp>
      <p:sp>
        <p:nvSpPr>
          <p:cNvPr id="37" name="Down Arrow Callout 36">
            <a:extLst>
              <a:ext uri="{FF2B5EF4-FFF2-40B4-BE49-F238E27FC236}">
                <a16:creationId xmlns:a16="http://schemas.microsoft.com/office/drawing/2014/main" id="{7B556D5C-7755-271E-3A76-C6998184CD1F}"/>
              </a:ext>
            </a:extLst>
          </p:cNvPr>
          <p:cNvSpPr/>
          <p:nvPr/>
        </p:nvSpPr>
        <p:spPr>
          <a:xfrm>
            <a:off x="3592773" y="1167130"/>
            <a:ext cx="1820475" cy="669798"/>
          </a:xfrm>
          <a:prstGeom prst="downArrowCallou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1"/>
                </a:solidFill>
              </a:rPr>
              <a:t>Design for this!</a:t>
            </a:r>
          </a:p>
        </p:txBody>
      </p:sp>
    </p:spTree>
    <p:extLst>
      <p:ext uri="{BB962C8B-B14F-4D97-AF65-F5344CB8AC3E}">
        <p14:creationId xmlns:p14="http://schemas.microsoft.com/office/powerpoint/2010/main" val="297326904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85800"/>
          </a:xfrm>
          <a:prstGeom prst="rect">
            <a:avLst/>
          </a:prstGeom>
          <a:noFill/>
          <a:ln/>
        </p:spPr>
        <p:txBody>
          <a:bodyPr wrap="square" lIns="0" tIns="0" rIns="0" bIns="0" rtlCol="0" anchor="ctr"/>
          <a:lstStyle/>
          <a:p>
            <a:pPr marL="0" indent="0" algn="ctr">
              <a:buNone/>
            </a:pPr>
            <a:r>
              <a:rPr lang="en-US" sz="3400" b="1" dirty="0">
                <a:solidFill>
                  <a:schemeClr val="tx2"/>
                </a:solidFill>
              </a:rPr>
              <a:t>Roles AI can take at the vulnerable point</a:t>
            </a:r>
            <a:endParaRPr lang="en-US" sz="3400" dirty="0"/>
          </a:p>
        </p:txBody>
      </p:sp>
      <p:pic>
        <p:nvPicPr>
          <p:cNvPr id="3" name="Agency arrow" descr="Upward arrow"/>
          <p:cNvPicPr>
            <a:picLocks noChangeAspect="1"/>
          </p:cNvPicPr>
          <p:nvPr/>
        </p:nvPicPr>
        <p:blipFill>
          <a:blip r:embed="rId3"/>
          <a:stretch>
            <a:fillRect/>
          </a:stretch>
        </p:blipFill>
        <p:spPr>
          <a:xfrm>
            <a:off x="2011680" y="969264"/>
            <a:ext cx="182880" cy="182880"/>
          </a:xfrm>
          <a:prstGeom prst="rect">
            <a:avLst/>
          </a:prstGeom>
        </p:spPr>
      </p:pic>
      <p:sp>
        <p:nvSpPr>
          <p:cNvPr id="4" name="Pyramid reading cue"/>
          <p:cNvSpPr txBox="1"/>
          <p:nvPr/>
        </p:nvSpPr>
        <p:spPr>
          <a:xfrm>
            <a:off x="2240280" y="932688"/>
            <a:ext cx="4754880" cy="256032"/>
          </a:xfrm>
          <a:prstGeom prst="rect">
            <a:avLst/>
          </a:prstGeom>
          <a:noFill/>
          <a:ln/>
        </p:spPr>
        <p:txBody>
          <a:bodyPr wrap="square" lIns="0" tIns="0" rIns="0" bIns="0" rtlCol="0" anchor="ctr"/>
          <a:lstStyle/>
          <a:p>
            <a:pPr marL="0" indent="0">
              <a:buNone/>
            </a:pPr>
            <a:r>
              <a:rPr lang="en-US" sz="1200" i="1" dirty="0">
                <a:solidFill>
                  <a:schemeClr val="accent3"/>
                </a:solidFill>
                <a:latin typeface="Calibri" pitchFamily="34" charset="0"/>
                <a:ea typeface="Calibri" pitchFamily="34" charset="-122"/>
                <a:cs typeface="Calibri" pitchFamily="34" charset="-120"/>
              </a:rPr>
              <a:t>Learner agency and cognitive load increase</a:t>
            </a:r>
            <a:endParaRPr lang="en-US" sz="1200" dirty="0"/>
          </a:p>
        </p:txBody>
      </p:sp>
      <p:sp>
        <p:nvSpPr>
          <p:cNvPr id="5" name="Opponent tier"/>
          <p:cNvSpPr/>
          <p:nvPr/>
        </p:nvSpPr>
        <p:spPr>
          <a:xfrm>
            <a:off x="1737360" y="1280160"/>
            <a:ext cx="1463040" cy="585216"/>
          </a:xfrm>
          <a:prstGeom prst="roundRect">
            <a:avLst>
              <a:gd name="adj" fmla="val 7813"/>
            </a:avLst>
          </a:prstGeom>
          <a:solidFill>
            <a:schemeClr val="tx1"/>
          </a:solidFill>
          <a:ln w="12700">
            <a:solidFill>
              <a:schemeClr val="tx1"/>
            </a:solidFill>
            <a:prstDash val="solid"/>
          </a:ln>
        </p:spPr>
        <p:txBody>
          <a:bodyPr/>
          <a:lstStyle/>
          <a:p>
            <a:endParaRPr lang="en-US"/>
          </a:p>
        </p:txBody>
      </p:sp>
      <p:sp>
        <p:nvSpPr>
          <p:cNvPr id="6" name="Opponent tier label"/>
          <p:cNvSpPr txBox="1"/>
          <p:nvPr/>
        </p:nvSpPr>
        <p:spPr>
          <a:xfrm>
            <a:off x="1737360" y="1280160"/>
            <a:ext cx="1463040" cy="585216"/>
          </a:xfrm>
          <a:prstGeom prst="rect">
            <a:avLst/>
          </a:prstGeom>
          <a:noFill/>
          <a:ln/>
        </p:spPr>
        <p:txBody>
          <a:bodyPr wrap="square" lIns="0" tIns="0" rIns="0" bIns="0" rtlCol="0" anchor="ctr"/>
          <a:lstStyle/>
          <a:p>
            <a:pPr marL="0" indent="0" algn="ctr">
              <a:buNone/>
            </a:pPr>
            <a:r>
              <a:rPr lang="en-US" sz="1500" b="1" dirty="0">
                <a:solidFill>
                  <a:schemeClr val="accent2"/>
                </a:solidFill>
                <a:latin typeface="Calibri" pitchFamily="34" charset="0"/>
                <a:ea typeface="Calibri" pitchFamily="34" charset="-122"/>
                <a:cs typeface="Calibri" pitchFamily="34" charset="-120"/>
              </a:rPr>
              <a:t>Opponent</a:t>
            </a:r>
            <a:endParaRPr lang="en-US" sz="1500" dirty="0"/>
          </a:p>
        </p:txBody>
      </p:sp>
      <p:sp>
        <p:nvSpPr>
          <p:cNvPr id="7" name="Opponent description"/>
          <p:cNvSpPr txBox="1"/>
          <p:nvPr/>
        </p:nvSpPr>
        <p:spPr>
          <a:xfrm>
            <a:off x="4800600" y="1280160"/>
            <a:ext cx="3886200" cy="585216"/>
          </a:xfrm>
          <a:prstGeom prst="rect">
            <a:avLst/>
          </a:prstGeom>
          <a:noFill/>
          <a:ln/>
        </p:spPr>
        <p:txBody>
          <a:bodyPr wrap="square" lIns="0" tIns="0" rIns="0" bIns="0" rtlCol="0" anchor="ctr"/>
          <a:lstStyle/>
          <a:p>
            <a:pPr marL="0" indent="0">
              <a:buNone/>
            </a:pPr>
            <a:r>
              <a:rPr lang="en-US" sz="1300" b="1" dirty="0">
                <a:solidFill>
                  <a:schemeClr val="tx2"/>
                </a:solidFill>
                <a:latin typeface="Calibri" pitchFamily="34" charset="0"/>
                <a:ea typeface="Calibri" pitchFamily="34" charset="-122"/>
                <a:cs typeface="Calibri" pitchFamily="34" charset="-120"/>
              </a:rPr>
              <a:t>AI as Opponent: </a:t>
            </a:r>
            <a:r>
              <a:rPr lang="en-US" sz="1300" dirty="0">
                <a:solidFill>
                  <a:schemeClr val="tx1"/>
                </a:solidFill>
                <a:latin typeface="Calibri" pitchFamily="34" charset="0"/>
                <a:ea typeface="Calibri" pitchFamily="34" charset="-122"/>
                <a:cs typeface="Calibri" pitchFamily="34" charset="-120"/>
              </a:rPr>
              <a:t>Debates and tests the learner's assumptions</a:t>
            </a:r>
            <a:endParaRPr lang="en-US" sz="1300" dirty="0"/>
          </a:p>
        </p:txBody>
      </p:sp>
      <p:sp>
        <p:nvSpPr>
          <p:cNvPr id="8" name="Evidence tier"/>
          <p:cNvSpPr/>
          <p:nvPr/>
        </p:nvSpPr>
        <p:spPr>
          <a:xfrm>
            <a:off x="1417320" y="1920240"/>
            <a:ext cx="2103120" cy="585216"/>
          </a:xfrm>
          <a:prstGeom prst="roundRect">
            <a:avLst>
              <a:gd name="adj" fmla="val 7813"/>
            </a:avLst>
          </a:prstGeom>
          <a:solidFill>
            <a:schemeClr val="accent1"/>
          </a:solidFill>
          <a:ln w="12700">
            <a:solidFill>
              <a:schemeClr val="accent1"/>
            </a:solidFill>
            <a:prstDash val="solid"/>
          </a:ln>
        </p:spPr>
        <p:txBody>
          <a:bodyPr/>
          <a:lstStyle/>
          <a:p>
            <a:endParaRPr lang="en-US"/>
          </a:p>
        </p:txBody>
      </p:sp>
      <p:sp>
        <p:nvSpPr>
          <p:cNvPr id="9" name="Evidence tier label"/>
          <p:cNvSpPr txBox="1"/>
          <p:nvPr/>
        </p:nvSpPr>
        <p:spPr>
          <a:xfrm>
            <a:off x="1417320" y="1920240"/>
            <a:ext cx="2103120" cy="585216"/>
          </a:xfrm>
          <a:prstGeom prst="rect">
            <a:avLst/>
          </a:prstGeom>
          <a:noFill/>
          <a:ln/>
        </p:spPr>
        <p:txBody>
          <a:bodyPr wrap="square" lIns="0" tIns="0" rIns="0" bIns="0" rtlCol="0" anchor="ctr"/>
          <a:lstStyle/>
          <a:p>
            <a:pPr marL="0" indent="0" algn="ctr">
              <a:buNone/>
            </a:pPr>
            <a:r>
              <a:rPr lang="en-US" sz="1500" b="1" dirty="0">
                <a:solidFill>
                  <a:schemeClr val="bg1"/>
                </a:solidFill>
                <a:latin typeface="Calibri" pitchFamily="34" charset="0"/>
                <a:ea typeface="Calibri" pitchFamily="34" charset="-122"/>
                <a:cs typeface="Calibri" pitchFamily="34" charset="-120"/>
              </a:rPr>
              <a:t>Evidence</a:t>
            </a:r>
            <a:endParaRPr lang="en-US" sz="1500" dirty="0"/>
          </a:p>
        </p:txBody>
      </p:sp>
      <p:sp>
        <p:nvSpPr>
          <p:cNvPr id="10" name="Evidence description"/>
          <p:cNvSpPr txBox="1"/>
          <p:nvPr/>
        </p:nvSpPr>
        <p:spPr>
          <a:xfrm>
            <a:off x="4800600" y="1920240"/>
            <a:ext cx="3886200" cy="585216"/>
          </a:xfrm>
          <a:prstGeom prst="rect">
            <a:avLst/>
          </a:prstGeom>
          <a:noFill/>
          <a:ln/>
        </p:spPr>
        <p:txBody>
          <a:bodyPr wrap="square" lIns="0" tIns="0" rIns="0" bIns="0" rtlCol="0" anchor="ctr"/>
          <a:lstStyle/>
          <a:p>
            <a:pPr marL="0" indent="0">
              <a:buNone/>
            </a:pPr>
            <a:r>
              <a:rPr lang="en-US" sz="1300" b="1" dirty="0">
                <a:solidFill>
                  <a:schemeClr val="tx2"/>
                </a:solidFill>
                <a:latin typeface="Calibri" pitchFamily="34" charset="0"/>
                <a:ea typeface="Calibri" pitchFamily="34" charset="-122"/>
                <a:cs typeface="Calibri" pitchFamily="34" charset="-120"/>
              </a:rPr>
              <a:t>AI as Evidence: </a:t>
            </a:r>
            <a:r>
              <a:rPr lang="en-US" sz="1300" dirty="0">
                <a:solidFill>
                  <a:schemeClr val="tx1"/>
                </a:solidFill>
                <a:latin typeface="Calibri" pitchFamily="34" charset="0"/>
                <a:ea typeface="Calibri" pitchFamily="34" charset="-122"/>
                <a:cs typeface="Calibri" pitchFamily="34" charset="-120"/>
              </a:rPr>
              <a:t>Its output becomes the object of critique</a:t>
            </a:r>
            <a:endParaRPr lang="en-US" sz="1300" dirty="0"/>
          </a:p>
        </p:txBody>
      </p:sp>
      <p:sp>
        <p:nvSpPr>
          <p:cNvPr id="11" name="Reflector tier"/>
          <p:cNvSpPr/>
          <p:nvPr/>
        </p:nvSpPr>
        <p:spPr>
          <a:xfrm>
            <a:off x="1097280" y="2560320"/>
            <a:ext cx="2743200" cy="585216"/>
          </a:xfrm>
          <a:prstGeom prst="roundRect">
            <a:avLst>
              <a:gd name="adj" fmla="val 7813"/>
            </a:avLst>
          </a:prstGeom>
          <a:solidFill>
            <a:srgbClr val="4F7A63"/>
          </a:solidFill>
          <a:ln w="38100">
            <a:solidFill>
              <a:schemeClr val="accent2"/>
            </a:solidFill>
            <a:prstDash val="solid"/>
          </a:ln>
        </p:spPr>
        <p:txBody>
          <a:bodyPr/>
          <a:lstStyle/>
          <a:p>
            <a:endParaRPr lang="en-US"/>
          </a:p>
        </p:txBody>
      </p:sp>
      <p:sp>
        <p:nvSpPr>
          <p:cNvPr id="12" name="Reflector tier label"/>
          <p:cNvSpPr txBox="1"/>
          <p:nvPr/>
        </p:nvSpPr>
        <p:spPr>
          <a:xfrm>
            <a:off x="1097280" y="2560320"/>
            <a:ext cx="2743200" cy="585216"/>
          </a:xfrm>
          <a:prstGeom prst="rect">
            <a:avLst/>
          </a:prstGeom>
          <a:noFill/>
          <a:ln/>
        </p:spPr>
        <p:txBody>
          <a:bodyPr wrap="square" lIns="0" tIns="0" rIns="0" bIns="0" rtlCol="0" anchor="ctr"/>
          <a:lstStyle/>
          <a:p>
            <a:pPr marL="0" indent="0" algn="ctr">
              <a:buNone/>
            </a:pPr>
            <a:r>
              <a:rPr lang="en-US" sz="1500" b="1" dirty="0">
                <a:solidFill>
                  <a:schemeClr val="bg1"/>
                </a:solidFill>
                <a:latin typeface="Calibri" pitchFamily="34" charset="0"/>
                <a:ea typeface="Calibri" pitchFamily="34" charset="-122"/>
                <a:cs typeface="Calibri" pitchFamily="34" charset="-120"/>
              </a:rPr>
              <a:t>Reflector</a:t>
            </a:r>
            <a:endParaRPr lang="en-US" sz="1500" dirty="0"/>
          </a:p>
        </p:txBody>
      </p:sp>
      <p:sp>
        <p:nvSpPr>
          <p:cNvPr id="13" name="Reflector description"/>
          <p:cNvSpPr txBox="1"/>
          <p:nvPr/>
        </p:nvSpPr>
        <p:spPr>
          <a:xfrm>
            <a:off x="4800600" y="2560320"/>
            <a:ext cx="3886200" cy="585216"/>
          </a:xfrm>
          <a:prstGeom prst="rect">
            <a:avLst/>
          </a:prstGeom>
          <a:noFill/>
          <a:ln/>
        </p:spPr>
        <p:txBody>
          <a:bodyPr wrap="square" lIns="0" tIns="0" rIns="0" bIns="0" rtlCol="0" anchor="ctr"/>
          <a:lstStyle/>
          <a:p>
            <a:pPr marL="0" indent="0">
              <a:buNone/>
            </a:pPr>
            <a:r>
              <a:rPr lang="en-US" sz="1300" b="1" dirty="0">
                <a:solidFill>
                  <a:schemeClr val="tx2"/>
                </a:solidFill>
                <a:latin typeface="Calibri" pitchFamily="34" charset="0"/>
                <a:ea typeface="Calibri" pitchFamily="34" charset="-122"/>
                <a:cs typeface="Calibri" pitchFamily="34" charset="-120"/>
              </a:rPr>
              <a:t>AI as Reflector: </a:t>
            </a:r>
            <a:r>
              <a:rPr lang="en-US" sz="1300" dirty="0">
                <a:solidFill>
                  <a:schemeClr val="tx1"/>
                </a:solidFill>
                <a:latin typeface="Calibri" pitchFamily="34" charset="0"/>
                <a:ea typeface="Calibri" pitchFamily="34" charset="-122"/>
                <a:cs typeface="Calibri" pitchFamily="34" charset="-120"/>
              </a:rPr>
              <a:t>Makes the learner's own thinking visible</a:t>
            </a:r>
            <a:endParaRPr lang="en-US" sz="1300" dirty="0"/>
          </a:p>
        </p:txBody>
      </p:sp>
      <p:sp>
        <p:nvSpPr>
          <p:cNvPr id="14" name="Scaffold tier"/>
          <p:cNvSpPr/>
          <p:nvPr/>
        </p:nvSpPr>
        <p:spPr>
          <a:xfrm>
            <a:off x="777240" y="3200400"/>
            <a:ext cx="3383280" cy="585216"/>
          </a:xfrm>
          <a:prstGeom prst="roundRect">
            <a:avLst>
              <a:gd name="adj" fmla="val 7813"/>
            </a:avLst>
          </a:prstGeom>
          <a:solidFill>
            <a:schemeClr val="accent4"/>
          </a:solidFill>
          <a:ln w="12700">
            <a:solidFill>
              <a:schemeClr val="accent4"/>
            </a:solidFill>
            <a:prstDash val="solid"/>
          </a:ln>
        </p:spPr>
        <p:txBody>
          <a:bodyPr/>
          <a:lstStyle/>
          <a:p>
            <a:endParaRPr lang="en-US"/>
          </a:p>
        </p:txBody>
      </p:sp>
      <p:sp>
        <p:nvSpPr>
          <p:cNvPr id="15" name="Scaffold tier label"/>
          <p:cNvSpPr txBox="1"/>
          <p:nvPr/>
        </p:nvSpPr>
        <p:spPr>
          <a:xfrm>
            <a:off x="777240" y="3200400"/>
            <a:ext cx="3383280" cy="585216"/>
          </a:xfrm>
          <a:prstGeom prst="rect">
            <a:avLst/>
          </a:prstGeom>
          <a:noFill/>
          <a:ln/>
        </p:spPr>
        <p:txBody>
          <a:bodyPr wrap="square" lIns="0" tIns="0" rIns="0" bIns="0" rtlCol="0" anchor="ctr"/>
          <a:lstStyle/>
          <a:p>
            <a:pPr marL="0" indent="0" algn="ctr">
              <a:buNone/>
            </a:pPr>
            <a:r>
              <a:rPr lang="en-US" sz="1500" b="1" dirty="0">
                <a:solidFill>
                  <a:schemeClr val="tx2"/>
                </a:solidFill>
                <a:latin typeface="Calibri" pitchFamily="34" charset="0"/>
                <a:ea typeface="Calibri" pitchFamily="34" charset="-122"/>
                <a:cs typeface="Calibri" pitchFamily="34" charset="-120"/>
              </a:rPr>
              <a:t>Scaffold</a:t>
            </a:r>
            <a:endParaRPr lang="en-US" sz="1500" dirty="0"/>
          </a:p>
        </p:txBody>
      </p:sp>
      <p:sp>
        <p:nvSpPr>
          <p:cNvPr id="16" name="Scaffold description"/>
          <p:cNvSpPr txBox="1"/>
          <p:nvPr/>
        </p:nvSpPr>
        <p:spPr>
          <a:xfrm>
            <a:off x="4800600" y="3200400"/>
            <a:ext cx="3886200" cy="585216"/>
          </a:xfrm>
          <a:prstGeom prst="rect">
            <a:avLst/>
          </a:prstGeom>
          <a:noFill/>
          <a:ln/>
        </p:spPr>
        <p:txBody>
          <a:bodyPr wrap="square" lIns="0" tIns="0" rIns="0" bIns="0" rtlCol="0" anchor="ctr"/>
          <a:lstStyle/>
          <a:p>
            <a:pPr marL="0" indent="0">
              <a:buNone/>
            </a:pPr>
            <a:r>
              <a:rPr lang="en-US" sz="1300" b="1" dirty="0">
                <a:solidFill>
                  <a:schemeClr val="tx2"/>
                </a:solidFill>
                <a:latin typeface="Calibri" pitchFamily="34" charset="0"/>
                <a:ea typeface="Calibri" pitchFamily="34" charset="-122"/>
                <a:cs typeface="Calibri" pitchFamily="34" charset="-120"/>
              </a:rPr>
              <a:t>AI as Scaffold: </a:t>
            </a:r>
            <a:r>
              <a:rPr lang="en-US" sz="1300" dirty="0">
                <a:solidFill>
                  <a:schemeClr val="tx1"/>
                </a:solidFill>
                <a:latin typeface="Calibri" pitchFamily="34" charset="0"/>
                <a:ea typeface="Calibri" pitchFamily="34" charset="-122"/>
                <a:cs typeface="Calibri" pitchFamily="34" charset="-120"/>
              </a:rPr>
              <a:t>Supports without deciding for the learner</a:t>
            </a:r>
            <a:endParaRPr lang="en-US" sz="1300" dirty="0"/>
          </a:p>
        </p:txBody>
      </p:sp>
      <p:sp>
        <p:nvSpPr>
          <p:cNvPr id="17" name="Executor tier"/>
          <p:cNvSpPr/>
          <p:nvPr/>
        </p:nvSpPr>
        <p:spPr>
          <a:xfrm>
            <a:off x="457200" y="3840480"/>
            <a:ext cx="4023360" cy="585216"/>
          </a:xfrm>
          <a:prstGeom prst="roundRect">
            <a:avLst>
              <a:gd name="adj" fmla="val 7813"/>
            </a:avLst>
          </a:prstGeom>
          <a:solidFill>
            <a:schemeClr val="bg2"/>
          </a:solidFill>
          <a:ln w="12700">
            <a:solidFill>
              <a:schemeClr val="bg2"/>
            </a:solidFill>
            <a:prstDash val="solid"/>
          </a:ln>
        </p:spPr>
        <p:txBody>
          <a:bodyPr/>
          <a:lstStyle/>
          <a:p>
            <a:endParaRPr lang="en-US"/>
          </a:p>
        </p:txBody>
      </p:sp>
      <p:sp>
        <p:nvSpPr>
          <p:cNvPr id="18" name="Executor tier label"/>
          <p:cNvSpPr txBox="1"/>
          <p:nvPr/>
        </p:nvSpPr>
        <p:spPr>
          <a:xfrm>
            <a:off x="457200" y="3840480"/>
            <a:ext cx="4023360" cy="585216"/>
          </a:xfrm>
          <a:prstGeom prst="rect">
            <a:avLst/>
          </a:prstGeom>
          <a:noFill/>
          <a:ln/>
        </p:spPr>
        <p:txBody>
          <a:bodyPr wrap="square" lIns="0" tIns="0" rIns="0" bIns="0" rtlCol="0" anchor="ctr"/>
          <a:lstStyle/>
          <a:p>
            <a:pPr marL="0" indent="0" algn="ctr">
              <a:buNone/>
            </a:pPr>
            <a:r>
              <a:rPr lang="en-US" sz="1500" b="1" dirty="0">
                <a:solidFill>
                  <a:schemeClr val="tx1"/>
                </a:solidFill>
                <a:latin typeface="Calibri" pitchFamily="34" charset="0"/>
                <a:ea typeface="Calibri" pitchFamily="34" charset="-122"/>
                <a:cs typeface="Calibri" pitchFamily="34" charset="-120"/>
              </a:rPr>
              <a:t>Executor</a:t>
            </a:r>
            <a:endParaRPr lang="en-US" sz="1500" dirty="0"/>
          </a:p>
        </p:txBody>
      </p:sp>
      <p:sp>
        <p:nvSpPr>
          <p:cNvPr id="19" name="Executor description"/>
          <p:cNvSpPr txBox="1"/>
          <p:nvPr/>
        </p:nvSpPr>
        <p:spPr>
          <a:xfrm>
            <a:off x="4800600" y="3840480"/>
            <a:ext cx="3886200" cy="585216"/>
          </a:xfrm>
          <a:prstGeom prst="rect">
            <a:avLst/>
          </a:prstGeom>
          <a:noFill/>
          <a:ln/>
        </p:spPr>
        <p:txBody>
          <a:bodyPr wrap="square" lIns="0" tIns="0" rIns="0" bIns="0" rtlCol="0" anchor="ctr"/>
          <a:lstStyle/>
          <a:p>
            <a:pPr marL="0" indent="0">
              <a:buNone/>
            </a:pPr>
            <a:r>
              <a:rPr lang="en-US" sz="1300" b="1" dirty="0">
                <a:solidFill>
                  <a:schemeClr val="tx2"/>
                </a:solidFill>
                <a:latin typeface="Calibri" pitchFamily="34" charset="0"/>
                <a:ea typeface="Calibri" pitchFamily="34" charset="-122"/>
                <a:cs typeface="Calibri" pitchFamily="34" charset="-120"/>
              </a:rPr>
              <a:t>AI as Executor: </a:t>
            </a:r>
            <a:r>
              <a:rPr lang="en-US" sz="1300" dirty="0">
                <a:solidFill>
                  <a:schemeClr val="tx1"/>
                </a:solidFill>
                <a:latin typeface="Calibri" pitchFamily="34" charset="0"/>
                <a:ea typeface="Calibri" pitchFamily="34" charset="-122"/>
                <a:cs typeface="Calibri" pitchFamily="34" charset="-120"/>
              </a:rPr>
              <a:t>Performs the task on the learner's behalf</a:t>
            </a:r>
            <a:endParaRPr lang="en-US" sz="1300" dirty="0"/>
          </a:p>
        </p:txBody>
      </p:sp>
      <p:sp>
        <p:nvSpPr>
          <p:cNvPr id="20" name="Bundle 1 marker"/>
          <p:cNvSpPr/>
          <p:nvPr/>
        </p:nvSpPr>
        <p:spPr>
          <a:xfrm>
            <a:off x="3913632" y="2688336"/>
            <a:ext cx="777240" cy="329184"/>
          </a:xfrm>
          <a:prstGeom prst="roundRect">
            <a:avLst>
              <a:gd name="adj" fmla="val 50000"/>
            </a:avLst>
          </a:prstGeom>
          <a:solidFill>
            <a:schemeClr val="accent2"/>
          </a:solidFill>
          <a:ln w="12700">
            <a:solidFill>
              <a:schemeClr val="accent2"/>
            </a:solidFill>
            <a:prstDash val="solid"/>
          </a:ln>
        </p:spPr>
        <p:txBody>
          <a:bodyPr/>
          <a:lstStyle/>
          <a:p>
            <a:endParaRPr lang="en-US"/>
          </a:p>
        </p:txBody>
      </p:sp>
      <p:sp>
        <p:nvSpPr>
          <p:cNvPr id="21" name="Bundle 1 marker text"/>
          <p:cNvSpPr txBox="1"/>
          <p:nvPr/>
        </p:nvSpPr>
        <p:spPr>
          <a:xfrm>
            <a:off x="3913632" y="2688336"/>
            <a:ext cx="777240" cy="329184"/>
          </a:xfrm>
          <a:prstGeom prst="rect">
            <a:avLst/>
          </a:prstGeom>
          <a:noFill/>
          <a:ln/>
        </p:spPr>
        <p:txBody>
          <a:bodyPr wrap="square" lIns="0" tIns="0" rIns="0" bIns="0" rtlCol="0" anchor="ctr"/>
          <a:lstStyle/>
          <a:p>
            <a:pPr marL="0" indent="0" algn="ctr">
              <a:buNone/>
            </a:pPr>
            <a:r>
              <a:rPr lang="en-US" sz="1200" b="1" dirty="0">
                <a:solidFill>
                  <a:schemeClr val="tx1"/>
                </a:solidFill>
                <a:latin typeface="Calibri" pitchFamily="34" charset="0"/>
                <a:ea typeface="Calibri" pitchFamily="34" charset="-122"/>
                <a:cs typeface="Calibri" pitchFamily="34" charset="-120"/>
              </a:rPr>
              <a:t>Bundle 1</a:t>
            </a:r>
            <a:endParaRPr lang="en-US" sz="1200" dirty="0"/>
          </a:p>
        </p:txBody>
      </p:sp>
      <p:sp>
        <p:nvSpPr>
          <p:cNvPr id="22" name="Citation"/>
          <p:cNvSpPr txBox="1"/>
          <p:nvPr/>
        </p:nvSpPr>
        <p:spPr>
          <a:xfrm>
            <a:off x="457200" y="4754880"/>
            <a:ext cx="7772400" cy="256032"/>
          </a:xfrm>
          <a:prstGeom prst="rect">
            <a:avLst/>
          </a:prstGeom>
          <a:noFill/>
          <a:ln/>
        </p:spPr>
        <p:txBody>
          <a:bodyPr wrap="square" lIns="0" tIns="0" rIns="0" bIns="0" rtlCol="0" anchor="ctr"/>
          <a:lstStyle/>
          <a:p>
            <a:pPr marL="0" indent="0">
              <a:buNone/>
            </a:pPr>
            <a:r>
              <a:rPr lang="en-US" sz="1000" dirty="0">
                <a:solidFill>
                  <a:schemeClr val="accent3"/>
                </a:solidFill>
                <a:latin typeface="Calibri" pitchFamily="34" charset="0"/>
                <a:ea typeface="Calibri" pitchFamily="34" charset="-122"/>
                <a:cs typeface="Calibri" pitchFamily="34" charset="-120"/>
              </a:rPr>
              <a:t>Adapted from Scott (2026), The AI Cognitive Use Pyramid, CC BY-NC-SA 4.0</a:t>
            </a:r>
            <a:endParaRPr lang="en-US" sz="1000" dirty="0"/>
          </a:p>
        </p:txBody>
      </p:sp>
      <p:sp>
        <p:nvSpPr>
          <p:cNvPr id="25" name="Slide Number Placeholder 0"/>
          <p:cNvSpPr>
            <a:spLocks noGrp="1"/>
          </p:cNvSpPr>
          <p:nvPr>
            <p:ph type="sldNum" sz="quarter" idx="4294967295"/>
          </p:nvPr>
        </p:nvSpPr>
        <p:spPr>
          <a:xfrm>
            <a:off x="841248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3"/>
                </a:solidFill>
              </a:defRPr>
            </a:lvl1pPr>
          </a:lstStyle>
          <a:p>
            <a:pPr algn="r"/>
            <a:fld id="{F7021451-1387-4CA6-816F-3879F97B5CBC}" type="slidenum">
              <a:rPr lang="en-US" b="0"/>
              <a:t>26</a:t>
            </a:fld>
            <a:endParaRPr lang="en-US"/>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A4B55-872F-286B-DC13-0054EFEA7B8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1DADC6E-9031-3DD6-7882-76A491A01245}"/>
              </a:ext>
            </a:extLst>
          </p:cNvPr>
          <p:cNvSpPr>
            <a:spLocks noGrp="1"/>
          </p:cNvSpPr>
          <p:nvPr>
            <p:ph type="title" idx="100" hasCustomPrompt="1"/>
          </p:nvPr>
        </p:nvSpPr>
        <p:spPr>
          <a:xfrm>
            <a:off x="457200" y="256032"/>
            <a:ext cx="8229600" cy="685800"/>
          </a:xfrm>
          <a:prstGeom prst="rect">
            <a:avLst/>
          </a:prstGeom>
          <a:noFill/>
          <a:ln/>
        </p:spPr>
        <p:txBody>
          <a:bodyPr wrap="square" lIns="0" tIns="0" rIns="0" bIns="0" rtlCol="0" anchor="ctr"/>
          <a:lstStyle/>
          <a:p>
            <a:pPr marL="0" indent="0" algn="ctr">
              <a:buNone/>
            </a:pPr>
            <a:r>
              <a:rPr lang="en-US" sz="3400" b="1" dirty="0">
                <a:solidFill>
                  <a:schemeClr val="tx2"/>
                </a:solidFill>
              </a:rPr>
              <a:t>The 3As and 4Ds in Instructional Design</a:t>
            </a:r>
            <a:endParaRPr lang="en-US" sz="3400" dirty="0"/>
          </a:p>
        </p:txBody>
      </p:sp>
      <p:sp>
        <p:nvSpPr>
          <p:cNvPr id="23" name="Citation">
            <a:extLst>
              <a:ext uri="{FF2B5EF4-FFF2-40B4-BE49-F238E27FC236}">
                <a16:creationId xmlns:a16="http://schemas.microsoft.com/office/drawing/2014/main" id="{369F885B-91A9-B586-C1C5-8355CAE166AE}"/>
              </a:ext>
            </a:extLst>
          </p:cNvPr>
          <p:cNvSpPr txBox="1"/>
          <p:nvPr/>
        </p:nvSpPr>
        <p:spPr>
          <a:xfrm>
            <a:off x="457200" y="4754880"/>
            <a:ext cx="7772400" cy="256032"/>
          </a:xfrm>
          <a:prstGeom prst="rect">
            <a:avLst/>
          </a:prstGeom>
          <a:noFill/>
          <a:ln/>
        </p:spPr>
        <p:txBody>
          <a:bodyPr wrap="square" lIns="0" tIns="0" rIns="0" bIns="0" rtlCol="0" anchor="ctr"/>
          <a:lstStyle/>
          <a:p>
            <a:pPr marL="0" indent="0">
              <a:buNone/>
            </a:pPr>
            <a:r>
              <a:rPr lang="en-US" sz="1000" dirty="0">
                <a:solidFill>
                  <a:schemeClr val="accent3"/>
                </a:solidFill>
                <a:latin typeface="Calibri" pitchFamily="34" charset="0"/>
                <a:ea typeface="Calibri" pitchFamily="34" charset="-122"/>
                <a:cs typeface="Calibri" pitchFamily="34" charset="-120"/>
              </a:rPr>
              <a:t>Framework: Dakan, Feller, &amp; Anthropic (2025), CC BY-NC-SA 4.0. Applied to EDMS 523 Bundle 1.</a:t>
            </a:r>
            <a:endParaRPr lang="en-US" sz="1000" dirty="0"/>
          </a:p>
        </p:txBody>
      </p:sp>
      <p:sp>
        <p:nvSpPr>
          <p:cNvPr id="25" name="Slide Number Placeholder 0">
            <a:extLst>
              <a:ext uri="{FF2B5EF4-FFF2-40B4-BE49-F238E27FC236}">
                <a16:creationId xmlns:a16="http://schemas.microsoft.com/office/drawing/2014/main" id="{2A754655-9B68-7226-F974-3A396F664AAE}"/>
              </a:ext>
            </a:extLst>
          </p:cNvPr>
          <p:cNvSpPr>
            <a:spLocks noGrp="1"/>
          </p:cNvSpPr>
          <p:nvPr>
            <p:ph type="sldNum" sz="quarter" idx="4294967295"/>
          </p:nvPr>
        </p:nvSpPr>
        <p:spPr>
          <a:xfrm>
            <a:off x="841248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3"/>
                </a:solidFill>
              </a:defRPr>
            </a:lvl1pPr>
          </a:lstStyle>
          <a:p>
            <a:pPr algn="r"/>
            <a:fld id="{F7021451-1387-4CA6-816F-3879F97B5CBC}" type="slidenum">
              <a:rPr lang="en-US" b="0"/>
              <a:t>27</a:t>
            </a:fld>
            <a:endParaRPr lang="en-US"/>
          </a:p>
        </p:txBody>
      </p:sp>
      <p:sp>
        <p:nvSpPr>
          <p:cNvPr id="30" name="Automation card">
            <a:extLst>
              <a:ext uri="{FF2B5EF4-FFF2-40B4-BE49-F238E27FC236}">
                <a16:creationId xmlns:a16="http://schemas.microsoft.com/office/drawing/2014/main" id="{7A86539E-47BC-2513-A9D9-FB2F6B0C0300}"/>
              </a:ext>
            </a:extLst>
          </p:cNvPr>
          <p:cNvSpPr/>
          <p:nvPr/>
        </p:nvSpPr>
        <p:spPr>
          <a:xfrm>
            <a:off x="457200" y="1066800"/>
            <a:ext cx="3429000" cy="1117600"/>
          </a:xfrm>
          <a:prstGeom prst="roundRect">
            <a:avLst>
              <a:gd name="adj" fmla="val 6000"/>
            </a:avLst>
          </a:prstGeom>
          <a:solidFill>
            <a:schemeClr val="accent5"/>
          </a:solidFill>
          <a:ln w="12700">
            <a:solidFill>
              <a:schemeClr val="accent5"/>
            </a:solidFill>
          </a:ln>
          <a:effectLst>
            <a:outerShdw blurRad="76200" dist="19050" dir="5400000" algn="bl" rotWithShape="0">
              <a:srgbClr val="000000">
                <a:alpha val="12000"/>
              </a:srgbClr>
            </a:outerShdw>
          </a:effectLst>
        </p:spPr>
        <p:txBody>
          <a:bodyPr/>
          <a:lstStyle/>
          <a:p>
            <a:endParaRPr lang="en-US"/>
          </a:p>
        </p:txBody>
      </p:sp>
      <p:sp>
        <p:nvSpPr>
          <p:cNvPr id="31" name="Automation circle">
            <a:extLst>
              <a:ext uri="{FF2B5EF4-FFF2-40B4-BE49-F238E27FC236}">
                <a16:creationId xmlns:a16="http://schemas.microsoft.com/office/drawing/2014/main" id="{8D269111-C230-19CC-080B-2B70761305AC}"/>
              </a:ext>
            </a:extLst>
          </p:cNvPr>
          <p:cNvSpPr/>
          <p:nvPr/>
        </p:nvSpPr>
        <p:spPr>
          <a:xfrm>
            <a:off x="635000" y="1397000"/>
            <a:ext cx="457200" cy="457200"/>
          </a:xfrm>
          <a:prstGeom prst="ellipse">
            <a:avLst/>
          </a:prstGeom>
          <a:solidFill>
            <a:schemeClr val="accent1"/>
          </a:solidFill>
          <a:ln w="12700">
            <a:solidFill>
              <a:schemeClr val="accent1"/>
            </a:solidFill>
          </a:ln>
        </p:spPr>
        <p:txBody>
          <a:bodyPr/>
          <a:lstStyle/>
          <a:p>
            <a:endParaRPr lang="en-US"/>
          </a:p>
        </p:txBody>
      </p:sp>
      <p:sp>
        <p:nvSpPr>
          <p:cNvPr id="32" name="Automation text">
            <a:extLst>
              <a:ext uri="{FF2B5EF4-FFF2-40B4-BE49-F238E27FC236}">
                <a16:creationId xmlns:a16="http://schemas.microsoft.com/office/drawing/2014/main" id="{E2BBCB8B-B081-5E2F-F5CF-191BF56F68E0}"/>
              </a:ext>
            </a:extLst>
          </p:cNvPr>
          <p:cNvSpPr txBox="1"/>
          <p:nvPr/>
        </p:nvSpPr>
        <p:spPr>
          <a:xfrm>
            <a:off x="1270000" y="1168400"/>
            <a:ext cx="2463800" cy="914400"/>
          </a:xfrm>
          <a:prstGeom prst="rect">
            <a:avLst/>
          </a:prstGeom>
          <a:noFill/>
        </p:spPr>
        <p:txBody>
          <a:bodyPr wrap="square" lIns="0" tIns="0" rIns="0" bIns="0" rtlCol="0" anchor="ctr"/>
          <a:lstStyle/>
          <a:p>
            <a:pPr marL="0" indent="0">
              <a:buNone/>
            </a:pPr>
            <a:r>
              <a:rPr lang="en-US" sz="1250" b="1" dirty="0">
                <a:solidFill>
                  <a:schemeClr val="tx2"/>
                </a:solidFill>
                <a:latin typeface="Calibri" pitchFamily="34" charset="0"/>
                <a:ea typeface="Calibri" pitchFamily="34" charset="-122"/>
                <a:cs typeface="Calibri" pitchFamily="34" charset="-120"/>
              </a:rPr>
              <a:t>Automation: </a:t>
            </a:r>
            <a:r>
              <a:rPr lang="en-US" sz="1250" dirty="0">
                <a:solidFill>
                  <a:schemeClr val="tx1"/>
                </a:solidFill>
                <a:latin typeface="Calibri" pitchFamily="34" charset="0"/>
                <a:ea typeface="Calibri" pitchFamily="34" charset="-122"/>
                <a:cs typeface="Calibri" pitchFamily="34" charset="-120"/>
              </a:rPr>
              <a:t>AI checks spelling and grammar on finished work, disclosed. It writes nothing in the plan, the revisions, or the rationale.</a:t>
            </a:r>
          </a:p>
        </p:txBody>
      </p:sp>
      <p:sp>
        <p:nvSpPr>
          <p:cNvPr id="33" name="Augmentation card">
            <a:extLst>
              <a:ext uri="{FF2B5EF4-FFF2-40B4-BE49-F238E27FC236}">
                <a16:creationId xmlns:a16="http://schemas.microsoft.com/office/drawing/2014/main" id="{91FB4A9A-5732-1B3F-D6F3-FCCD49360A53}"/>
              </a:ext>
            </a:extLst>
          </p:cNvPr>
          <p:cNvSpPr/>
          <p:nvPr/>
        </p:nvSpPr>
        <p:spPr>
          <a:xfrm>
            <a:off x="457200" y="2298700"/>
            <a:ext cx="3429000" cy="1117600"/>
          </a:xfrm>
          <a:prstGeom prst="roundRect">
            <a:avLst>
              <a:gd name="adj" fmla="val 6000"/>
            </a:avLst>
          </a:prstGeom>
          <a:solidFill>
            <a:schemeClr val="accent5"/>
          </a:solidFill>
          <a:ln w="12700">
            <a:solidFill>
              <a:schemeClr val="accent5"/>
            </a:solidFill>
          </a:ln>
          <a:effectLst>
            <a:outerShdw blurRad="76200" dist="19050" dir="5400000" algn="bl" rotWithShape="0">
              <a:srgbClr val="000000">
                <a:alpha val="12000"/>
              </a:srgbClr>
            </a:outerShdw>
          </a:effectLst>
        </p:spPr>
        <p:txBody>
          <a:bodyPr/>
          <a:lstStyle/>
          <a:p>
            <a:endParaRPr lang="en-US"/>
          </a:p>
        </p:txBody>
      </p:sp>
      <p:sp>
        <p:nvSpPr>
          <p:cNvPr id="34" name="Augmentation circle">
            <a:extLst>
              <a:ext uri="{FF2B5EF4-FFF2-40B4-BE49-F238E27FC236}">
                <a16:creationId xmlns:a16="http://schemas.microsoft.com/office/drawing/2014/main" id="{54D14AA3-B38A-E322-F14F-C3FF761E01C8}"/>
              </a:ext>
            </a:extLst>
          </p:cNvPr>
          <p:cNvSpPr/>
          <p:nvPr/>
        </p:nvSpPr>
        <p:spPr>
          <a:xfrm>
            <a:off x="635000" y="2628900"/>
            <a:ext cx="457200" cy="457200"/>
          </a:xfrm>
          <a:prstGeom prst="ellipse">
            <a:avLst/>
          </a:prstGeom>
          <a:solidFill>
            <a:schemeClr val="accent1"/>
          </a:solidFill>
          <a:ln w="12700">
            <a:solidFill>
              <a:schemeClr val="accent1"/>
            </a:solidFill>
          </a:ln>
        </p:spPr>
        <p:txBody>
          <a:bodyPr/>
          <a:lstStyle/>
          <a:p>
            <a:endParaRPr lang="en-US"/>
          </a:p>
        </p:txBody>
      </p:sp>
      <p:sp>
        <p:nvSpPr>
          <p:cNvPr id="35" name="Augmentation text">
            <a:extLst>
              <a:ext uri="{FF2B5EF4-FFF2-40B4-BE49-F238E27FC236}">
                <a16:creationId xmlns:a16="http://schemas.microsoft.com/office/drawing/2014/main" id="{8F741D79-F999-DBB8-1785-7093F7DC9D16}"/>
              </a:ext>
            </a:extLst>
          </p:cNvPr>
          <p:cNvSpPr txBox="1"/>
          <p:nvPr/>
        </p:nvSpPr>
        <p:spPr>
          <a:xfrm>
            <a:off x="1270000" y="2400300"/>
            <a:ext cx="2463800" cy="914400"/>
          </a:xfrm>
          <a:prstGeom prst="rect">
            <a:avLst/>
          </a:prstGeom>
          <a:noFill/>
        </p:spPr>
        <p:txBody>
          <a:bodyPr wrap="square" lIns="0" tIns="0" rIns="0" bIns="0" rtlCol="0" anchor="ctr"/>
          <a:lstStyle/>
          <a:p>
            <a:r>
              <a:rPr lang="en-US" sz="1250" b="1" dirty="0">
                <a:solidFill>
                  <a:schemeClr val="tx2"/>
                </a:solidFill>
                <a:latin typeface="Calibri" pitchFamily="34" charset="0"/>
                <a:ea typeface="Calibri" pitchFamily="34" charset="-122"/>
                <a:cs typeface="Calibri" pitchFamily="34" charset="-120"/>
              </a:rPr>
              <a:t>Augmentation: </a:t>
            </a:r>
            <a:r>
              <a:rPr lang="en-US" sz="1250" dirty="0">
                <a:solidFill>
                  <a:schemeClr val="tx1"/>
                </a:solidFill>
                <a:latin typeface="Calibri" pitchFamily="34" charset="0"/>
                <a:ea typeface="Calibri" pitchFamily="34" charset="-122"/>
                <a:cs typeface="Calibri" pitchFamily="34" charset="-120"/>
              </a:rPr>
              <a:t>In </a:t>
            </a:r>
            <a:r>
              <a:rPr lang="en-US" sz="1250" dirty="0">
                <a:latin typeface="Calibri" pitchFamily="34" charset="0"/>
                <a:ea typeface="Calibri" pitchFamily="34" charset="-122"/>
                <a:cs typeface="Calibri" pitchFamily="34" charset="-120"/>
              </a:rPr>
              <a:t>each reflector </a:t>
            </a:r>
            <a:r>
              <a:rPr lang="en-US" sz="1250" dirty="0">
                <a:solidFill>
                  <a:schemeClr val="tx1"/>
                </a:solidFill>
                <a:latin typeface="Calibri" pitchFamily="34" charset="0"/>
                <a:ea typeface="Calibri" pitchFamily="34" charset="-122"/>
                <a:cs typeface="Calibri" pitchFamily="34" charset="-120"/>
              </a:rPr>
              <a:t>session, the candidate and AI think together: AI asks and reflects back; the candidate answers, decides, and revises.</a:t>
            </a:r>
          </a:p>
        </p:txBody>
      </p:sp>
      <p:sp>
        <p:nvSpPr>
          <p:cNvPr id="36" name="Agency card">
            <a:extLst>
              <a:ext uri="{FF2B5EF4-FFF2-40B4-BE49-F238E27FC236}">
                <a16:creationId xmlns:a16="http://schemas.microsoft.com/office/drawing/2014/main" id="{D48D2D39-8AF1-E400-A94D-2F3D2E22B5FB}"/>
              </a:ext>
            </a:extLst>
          </p:cNvPr>
          <p:cNvSpPr/>
          <p:nvPr/>
        </p:nvSpPr>
        <p:spPr>
          <a:xfrm>
            <a:off x="457200" y="3530600"/>
            <a:ext cx="3429000" cy="1117600"/>
          </a:xfrm>
          <a:prstGeom prst="roundRect">
            <a:avLst>
              <a:gd name="adj" fmla="val 6000"/>
            </a:avLst>
          </a:prstGeom>
          <a:solidFill>
            <a:schemeClr val="accent5"/>
          </a:solidFill>
          <a:ln w="12700">
            <a:solidFill>
              <a:schemeClr val="accent5"/>
            </a:solidFill>
          </a:ln>
          <a:effectLst>
            <a:outerShdw blurRad="76200" dist="19050" dir="5400000" algn="bl" rotWithShape="0">
              <a:srgbClr val="000000">
                <a:alpha val="12000"/>
              </a:srgbClr>
            </a:outerShdw>
          </a:effectLst>
        </p:spPr>
        <p:txBody>
          <a:bodyPr/>
          <a:lstStyle/>
          <a:p>
            <a:endParaRPr lang="en-US"/>
          </a:p>
        </p:txBody>
      </p:sp>
      <p:sp>
        <p:nvSpPr>
          <p:cNvPr id="37" name="Agency circle">
            <a:extLst>
              <a:ext uri="{FF2B5EF4-FFF2-40B4-BE49-F238E27FC236}">
                <a16:creationId xmlns:a16="http://schemas.microsoft.com/office/drawing/2014/main" id="{47505A33-3D3C-D007-FF24-12AD9CCE5187}"/>
              </a:ext>
            </a:extLst>
          </p:cNvPr>
          <p:cNvSpPr/>
          <p:nvPr/>
        </p:nvSpPr>
        <p:spPr>
          <a:xfrm>
            <a:off x="635000" y="3860800"/>
            <a:ext cx="457200" cy="457200"/>
          </a:xfrm>
          <a:prstGeom prst="ellipse">
            <a:avLst/>
          </a:prstGeom>
          <a:solidFill>
            <a:schemeClr val="accent1"/>
          </a:solidFill>
          <a:ln w="12700">
            <a:solidFill>
              <a:schemeClr val="accent1"/>
            </a:solidFill>
          </a:ln>
        </p:spPr>
        <p:txBody>
          <a:bodyPr/>
          <a:lstStyle/>
          <a:p>
            <a:endParaRPr lang="en-US"/>
          </a:p>
        </p:txBody>
      </p:sp>
      <p:sp>
        <p:nvSpPr>
          <p:cNvPr id="38" name="Agency text">
            <a:extLst>
              <a:ext uri="{FF2B5EF4-FFF2-40B4-BE49-F238E27FC236}">
                <a16:creationId xmlns:a16="http://schemas.microsoft.com/office/drawing/2014/main" id="{7637F0C1-A07C-13AE-0A73-9C7AA85FA5A3}"/>
              </a:ext>
            </a:extLst>
          </p:cNvPr>
          <p:cNvSpPr txBox="1"/>
          <p:nvPr/>
        </p:nvSpPr>
        <p:spPr>
          <a:xfrm>
            <a:off x="1270000" y="3632200"/>
            <a:ext cx="2463800" cy="914400"/>
          </a:xfrm>
          <a:prstGeom prst="rect">
            <a:avLst/>
          </a:prstGeom>
          <a:noFill/>
        </p:spPr>
        <p:txBody>
          <a:bodyPr wrap="square" lIns="0" tIns="0" rIns="0" bIns="0" rtlCol="0" anchor="ctr"/>
          <a:lstStyle/>
          <a:p>
            <a:pPr marL="0" indent="0">
              <a:buNone/>
            </a:pPr>
            <a:r>
              <a:rPr lang="en-US" sz="1250" b="1" dirty="0">
                <a:solidFill>
                  <a:schemeClr val="tx2"/>
                </a:solidFill>
                <a:latin typeface="Calibri" pitchFamily="34" charset="0"/>
                <a:ea typeface="Calibri" pitchFamily="34" charset="-122"/>
                <a:cs typeface="Calibri" pitchFamily="34" charset="-120"/>
              </a:rPr>
              <a:t>Agency: </a:t>
            </a:r>
            <a:r>
              <a:rPr lang="en-US" sz="1250" dirty="0">
                <a:solidFill>
                  <a:schemeClr val="tx1"/>
                </a:solidFill>
                <a:latin typeface="Calibri" pitchFamily="34" charset="0"/>
                <a:ea typeface="Calibri" pitchFamily="34" charset="-122"/>
                <a:cs typeface="Calibri" pitchFamily="34" charset="-120"/>
              </a:rPr>
              <a:t>I configure the coach, then let it run each session on my behalf with 28 candidates in 28 placements, within the limits I set.</a:t>
            </a:r>
          </a:p>
        </p:txBody>
      </p:sp>
      <p:sp>
        <p:nvSpPr>
          <p:cNvPr id="39" name="Delegation card">
            <a:extLst>
              <a:ext uri="{FF2B5EF4-FFF2-40B4-BE49-F238E27FC236}">
                <a16:creationId xmlns:a16="http://schemas.microsoft.com/office/drawing/2014/main" id="{6AFFD3E5-9688-C0DD-3501-1EF6FD8D80F7}"/>
              </a:ext>
            </a:extLst>
          </p:cNvPr>
          <p:cNvSpPr/>
          <p:nvPr/>
        </p:nvSpPr>
        <p:spPr>
          <a:xfrm>
            <a:off x="4064000" y="1066800"/>
            <a:ext cx="4622800" cy="828675"/>
          </a:xfrm>
          <a:prstGeom prst="roundRect">
            <a:avLst>
              <a:gd name="adj" fmla="val 6000"/>
            </a:avLst>
          </a:prstGeom>
          <a:solidFill>
            <a:schemeClr val="accent4"/>
          </a:solidFill>
          <a:ln w="12700">
            <a:solidFill>
              <a:schemeClr val="accent4"/>
            </a:solidFill>
          </a:ln>
          <a:effectLst>
            <a:outerShdw blurRad="76200" dist="19050" dir="5400000" algn="bl" rotWithShape="0">
              <a:srgbClr val="000000">
                <a:alpha val="12000"/>
              </a:srgbClr>
            </a:outerShdw>
          </a:effectLst>
        </p:spPr>
        <p:txBody>
          <a:bodyPr/>
          <a:lstStyle/>
          <a:p>
            <a:endParaRPr lang="en-US"/>
          </a:p>
        </p:txBody>
      </p:sp>
      <p:sp>
        <p:nvSpPr>
          <p:cNvPr id="40" name="Delegation circle">
            <a:extLst>
              <a:ext uri="{FF2B5EF4-FFF2-40B4-BE49-F238E27FC236}">
                <a16:creationId xmlns:a16="http://schemas.microsoft.com/office/drawing/2014/main" id="{19E0BF4D-276B-8564-90B0-6C3B8F4E9FBD}"/>
              </a:ext>
            </a:extLst>
          </p:cNvPr>
          <p:cNvSpPr/>
          <p:nvPr/>
        </p:nvSpPr>
        <p:spPr>
          <a:xfrm>
            <a:off x="4241800" y="1252538"/>
            <a:ext cx="457200" cy="457200"/>
          </a:xfrm>
          <a:prstGeom prst="ellipse">
            <a:avLst/>
          </a:prstGeom>
          <a:solidFill>
            <a:schemeClr val="accent1"/>
          </a:solidFill>
          <a:ln w="12700">
            <a:solidFill>
              <a:schemeClr val="accent1"/>
            </a:solidFill>
          </a:ln>
        </p:spPr>
        <p:txBody>
          <a:bodyPr/>
          <a:lstStyle/>
          <a:p>
            <a:endParaRPr lang="en-US"/>
          </a:p>
        </p:txBody>
      </p:sp>
      <p:sp>
        <p:nvSpPr>
          <p:cNvPr id="41" name="Delegation text">
            <a:extLst>
              <a:ext uri="{FF2B5EF4-FFF2-40B4-BE49-F238E27FC236}">
                <a16:creationId xmlns:a16="http://schemas.microsoft.com/office/drawing/2014/main" id="{25D27B68-C6D2-4BAB-D38B-ACA386C5D729}"/>
              </a:ext>
            </a:extLst>
          </p:cNvPr>
          <p:cNvSpPr txBox="1"/>
          <p:nvPr/>
        </p:nvSpPr>
        <p:spPr>
          <a:xfrm>
            <a:off x="4876800" y="1117600"/>
            <a:ext cx="3632200" cy="727075"/>
          </a:xfrm>
          <a:prstGeom prst="rect">
            <a:avLst/>
          </a:prstGeom>
          <a:noFill/>
        </p:spPr>
        <p:txBody>
          <a:bodyPr wrap="square" lIns="0" tIns="0" rIns="0" bIns="0" rtlCol="0" anchor="ctr"/>
          <a:lstStyle/>
          <a:p>
            <a:pPr marL="0" indent="0">
              <a:buNone/>
            </a:pPr>
            <a:r>
              <a:rPr lang="en-US" sz="1250" b="1" dirty="0">
                <a:solidFill>
                  <a:schemeClr val="tx2"/>
                </a:solidFill>
                <a:latin typeface="Calibri" pitchFamily="34" charset="0"/>
                <a:ea typeface="Calibri" pitchFamily="34" charset="-122"/>
                <a:cs typeface="Calibri" pitchFamily="34" charset="-120"/>
              </a:rPr>
              <a:t>Delegation</a:t>
            </a:r>
            <a:r>
              <a:rPr lang="en-US" sz="1250" dirty="0">
                <a:solidFill>
                  <a:schemeClr val="tx2"/>
                </a:solidFill>
                <a:latin typeface="Calibri" pitchFamily="34" charset="0"/>
                <a:ea typeface="Calibri" pitchFamily="34" charset="-122"/>
                <a:cs typeface="Calibri" pitchFamily="34" charset="-120"/>
              </a:rPr>
              <a:t>: </a:t>
            </a:r>
            <a:r>
              <a:rPr lang="en-US" sz="1250" dirty="0">
                <a:solidFill>
                  <a:schemeClr val="tx1"/>
                </a:solidFill>
                <a:latin typeface="Calibri" pitchFamily="34" charset="0"/>
                <a:ea typeface="Calibri" pitchFamily="34" charset="-122"/>
                <a:cs typeface="Calibri" pitchFamily="34" charset="-120"/>
              </a:rPr>
              <a:t>I handed AI </a:t>
            </a:r>
            <a:r>
              <a:rPr lang="en-US" sz="1250" b="1" dirty="0">
                <a:solidFill>
                  <a:schemeClr val="tx1"/>
                </a:solidFill>
                <a:latin typeface="Calibri" pitchFamily="34" charset="0"/>
                <a:ea typeface="Calibri" pitchFamily="34" charset="-122"/>
                <a:cs typeface="Calibri" pitchFamily="34" charset="-120"/>
              </a:rPr>
              <a:t>the reflective questions </a:t>
            </a:r>
            <a:r>
              <a:rPr lang="en-US" sz="1250" dirty="0">
                <a:solidFill>
                  <a:schemeClr val="tx1"/>
                </a:solidFill>
                <a:latin typeface="Calibri" pitchFamily="34" charset="0"/>
                <a:ea typeface="Calibri" pitchFamily="34" charset="-122"/>
                <a:cs typeface="Calibri" pitchFamily="34" charset="-120"/>
              </a:rPr>
              <a:t>I cannot ask 28 candidates in one week. The plan, revisions, rationale, and grading stay human.</a:t>
            </a:r>
          </a:p>
        </p:txBody>
      </p:sp>
      <p:pic>
        <p:nvPicPr>
          <p:cNvPr id="5" name="Delegation icon" descr="Delegation">
            <a:extLst>
              <a:ext uri="{FF2B5EF4-FFF2-40B4-BE49-F238E27FC236}">
                <a16:creationId xmlns:a16="http://schemas.microsoft.com/office/drawing/2014/main" id="{BCB46D45-7F45-6ECC-E473-8653FB862368}"/>
              </a:ext>
            </a:extLst>
          </p:cNvPr>
          <p:cNvPicPr>
            <a:picLocks noChangeAspect="1"/>
          </p:cNvPicPr>
          <p:nvPr/>
        </p:nvPicPr>
        <p:blipFill>
          <a:blip r:embed="rId3"/>
          <a:stretch>
            <a:fillRect/>
          </a:stretch>
        </p:blipFill>
        <p:spPr>
          <a:xfrm>
            <a:off x="4343400" y="1354138"/>
            <a:ext cx="254000" cy="254000"/>
          </a:xfrm>
          <a:prstGeom prst="rect">
            <a:avLst/>
          </a:prstGeom>
        </p:spPr>
      </p:pic>
      <p:sp>
        <p:nvSpPr>
          <p:cNvPr id="42" name="Description card">
            <a:extLst>
              <a:ext uri="{FF2B5EF4-FFF2-40B4-BE49-F238E27FC236}">
                <a16:creationId xmlns:a16="http://schemas.microsoft.com/office/drawing/2014/main" id="{3C2E40A1-0FFE-517D-4494-D0FF216AEC40}"/>
              </a:ext>
            </a:extLst>
          </p:cNvPr>
          <p:cNvSpPr/>
          <p:nvPr/>
        </p:nvSpPr>
        <p:spPr>
          <a:xfrm>
            <a:off x="4064000" y="1984375"/>
            <a:ext cx="4622800" cy="828675"/>
          </a:xfrm>
          <a:prstGeom prst="roundRect">
            <a:avLst>
              <a:gd name="adj" fmla="val 6000"/>
            </a:avLst>
          </a:prstGeom>
          <a:solidFill>
            <a:schemeClr val="accent4"/>
          </a:solidFill>
          <a:ln w="12700">
            <a:solidFill>
              <a:schemeClr val="accent4"/>
            </a:solidFill>
          </a:ln>
          <a:effectLst>
            <a:outerShdw blurRad="76200" dist="19050" dir="5400000" algn="bl" rotWithShape="0">
              <a:srgbClr val="000000">
                <a:alpha val="12000"/>
              </a:srgbClr>
            </a:outerShdw>
          </a:effectLst>
        </p:spPr>
        <p:txBody>
          <a:bodyPr/>
          <a:lstStyle/>
          <a:p>
            <a:endParaRPr lang="en-US"/>
          </a:p>
        </p:txBody>
      </p:sp>
      <p:sp>
        <p:nvSpPr>
          <p:cNvPr id="43" name="Description circle">
            <a:extLst>
              <a:ext uri="{FF2B5EF4-FFF2-40B4-BE49-F238E27FC236}">
                <a16:creationId xmlns:a16="http://schemas.microsoft.com/office/drawing/2014/main" id="{B538B7FB-74CA-5A0C-F7DD-D01D23C20B56}"/>
              </a:ext>
            </a:extLst>
          </p:cNvPr>
          <p:cNvSpPr/>
          <p:nvPr/>
        </p:nvSpPr>
        <p:spPr>
          <a:xfrm>
            <a:off x="4241800" y="2170113"/>
            <a:ext cx="457200" cy="457200"/>
          </a:xfrm>
          <a:prstGeom prst="ellipse">
            <a:avLst/>
          </a:prstGeom>
          <a:solidFill>
            <a:schemeClr val="accent1"/>
          </a:solidFill>
          <a:ln w="12700">
            <a:solidFill>
              <a:schemeClr val="accent1"/>
            </a:solidFill>
          </a:ln>
        </p:spPr>
        <p:txBody>
          <a:bodyPr/>
          <a:lstStyle/>
          <a:p>
            <a:endParaRPr lang="en-US"/>
          </a:p>
        </p:txBody>
      </p:sp>
      <p:sp>
        <p:nvSpPr>
          <p:cNvPr id="44" name="Description text">
            <a:extLst>
              <a:ext uri="{FF2B5EF4-FFF2-40B4-BE49-F238E27FC236}">
                <a16:creationId xmlns:a16="http://schemas.microsoft.com/office/drawing/2014/main" id="{EC014337-DDEE-F8C9-344E-25FCFC8EC126}"/>
              </a:ext>
            </a:extLst>
          </p:cNvPr>
          <p:cNvSpPr txBox="1"/>
          <p:nvPr/>
        </p:nvSpPr>
        <p:spPr>
          <a:xfrm>
            <a:off x="4876800" y="2035175"/>
            <a:ext cx="3632200" cy="727075"/>
          </a:xfrm>
          <a:prstGeom prst="rect">
            <a:avLst/>
          </a:prstGeom>
          <a:noFill/>
        </p:spPr>
        <p:txBody>
          <a:bodyPr wrap="square" lIns="0" tIns="0" rIns="0" bIns="0" rtlCol="0" anchor="ctr"/>
          <a:lstStyle/>
          <a:p>
            <a:pPr marL="0" indent="0">
              <a:buNone/>
            </a:pPr>
            <a:r>
              <a:rPr lang="en-US" sz="1250" b="1" dirty="0">
                <a:solidFill>
                  <a:schemeClr val="tx2"/>
                </a:solidFill>
                <a:latin typeface="Calibri" pitchFamily="34" charset="0"/>
                <a:ea typeface="Calibri" pitchFamily="34" charset="-122"/>
                <a:cs typeface="Calibri" pitchFamily="34" charset="-120"/>
              </a:rPr>
              <a:t>Description: </a:t>
            </a:r>
            <a:r>
              <a:rPr lang="en-US" sz="1250" dirty="0">
                <a:solidFill>
                  <a:schemeClr val="tx1"/>
                </a:solidFill>
                <a:latin typeface="Calibri" pitchFamily="34" charset="0"/>
                <a:ea typeface="Calibri" pitchFamily="34" charset="-122"/>
                <a:cs typeface="Calibri" pitchFamily="34" charset="-120"/>
              </a:rPr>
              <a:t>I described a master-teacher coach, one focus per session, the steps to follow in order, and an agenda built only from the candidate's own words.</a:t>
            </a:r>
          </a:p>
        </p:txBody>
      </p:sp>
      <p:pic>
        <p:nvPicPr>
          <p:cNvPr id="10" name="Description icon" descr="Description">
            <a:extLst>
              <a:ext uri="{FF2B5EF4-FFF2-40B4-BE49-F238E27FC236}">
                <a16:creationId xmlns:a16="http://schemas.microsoft.com/office/drawing/2014/main" id="{7622AEC0-F123-0FAA-8A23-1A55BC02E78C}"/>
              </a:ext>
            </a:extLst>
          </p:cNvPr>
          <p:cNvPicPr>
            <a:picLocks noChangeAspect="1"/>
          </p:cNvPicPr>
          <p:nvPr/>
        </p:nvPicPr>
        <p:blipFill>
          <a:blip r:embed="rId4"/>
          <a:stretch>
            <a:fillRect/>
          </a:stretch>
        </p:blipFill>
        <p:spPr>
          <a:xfrm>
            <a:off x="4343400" y="2271713"/>
            <a:ext cx="254000" cy="254000"/>
          </a:xfrm>
          <a:prstGeom prst="rect">
            <a:avLst/>
          </a:prstGeom>
        </p:spPr>
      </p:pic>
      <p:sp>
        <p:nvSpPr>
          <p:cNvPr id="45" name="Discernment card">
            <a:extLst>
              <a:ext uri="{FF2B5EF4-FFF2-40B4-BE49-F238E27FC236}">
                <a16:creationId xmlns:a16="http://schemas.microsoft.com/office/drawing/2014/main" id="{F7EB83FB-BDA3-80F5-412E-355935691D7B}"/>
              </a:ext>
            </a:extLst>
          </p:cNvPr>
          <p:cNvSpPr/>
          <p:nvPr/>
        </p:nvSpPr>
        <p:spPr>
          <a:xfrm>
            <a:off x="4064000" y="2901950"/>
            <a:ext cx="4622800" cy="828675"/>
          </a:xfrm>
          <a:prstGeom prst="roundRect">
            <a:avLst>
              <a:gd name="adj" fmla="val 6000"/>
            </a:avLst>
          </a:prstGeom>
          <a:solidFill>
            <a:schemeClr val="accent4"/>
          </a:solidFill>
          <a:ln w="12700">
            <a:solidFill>
              <a:schemeClr val="accent4"/>
            </a:solidFill>
          </a:ln>
          <a:effectLst>
            <a:outerShdw blurRad="76200" dist="19050" dir="5400000" algn="bl" rotWithShape="0">
              <a:srgbClr val="000000">
                <a:alpha val="12000"/>
              </a:srgbClr>
            </a:outerShdw>
          </a:effectLst>
        </p:spPr>
        <p:txBody>
          <a:bodyPr/>
          <a:lstStyle/>
          <a:p>
            <a:endParaRPr lang="en-US"/>
          </a:p>
        </p:txBody>
      </p:sp>
      <p:sp>
        <p:nvSpPr>
          <p:cNvPr id="46" name="Discernment circle">
            <a:extLst>
              <a:ext uri="{FF2B5EF4-FFF2-40B4-BE49-F238E27FC236}">
                <a16:creationId xmlns:a16="http://schemas.microsoft.com/office/drawing/2014/main" id="{F56F1D22-FE30-2EEF-0F26-8381C441330A}"/>
              </a:ext>
            </a:extLst>
          </p:cNvPr>
          <p:cNvSpPr/>
          <p:nvPr/>
        </p:nvSpPr>
        <p:spPr>
          <a:xfrm>
            <a:off x="4241800" y="3087688"/>
            <a:ext cx="457200" cy="457200"/>
          </a:xfrm>
          <a:prstGeom prst="ellipse">
            <a:avLst/>
          </a:prstGeom>
          <a:solidFill>
            <a:schemeClr val="accent1"/>
          </a:solidFill>
          <a:ln w="12700">
            <a:solidFill>
              <a:schemeClr val="accent1"/>
            </a:solidFill>
          </a:ln>
        </p:spPr>
        <p:txBody>
          <a:bodyPr/>
          <a:lstStyle/>
          <a:p>
            <a:endParaRPr lang="en-US"/>
          </a:p>
        </p:txBody>
      </p:sp>
      <p:sp>
        <p:nvSpPr>
          <p:cNvPr id="47" name="Discernment text">
            <a:extLst>
              <a:ext uri="{FF2B5EF4-FFF2-40B4-BE49-F238E27FC236}">
                <a16:creationId xmlns:a16="http://schemas.microsoft.com/office/drawing/2014/main" id="{9C23337E-0BAF-01D5-42D5-752049A131E2}"/>
              </a:ext>
            </a:extLst>
          </p:cNvPr>
          <p:cNvSpPr txBox="1"/>
          <p:nvPr/>
        </p:nvSpPr>
        <p:spPr>
          <a:xfrm>
            <a:off x="4876800" y="2952750"/>
            <a:ext cx="3632200" cy="727075"/>
          </a:xfrm>
          <a:prstGeom prst="rect">
            <a:avLst/>
          </a:prstGeom>
          <a:noFill/>
        </p:spPr>
        <p:txBody>
          <a:bodyPr wrap="square" lIns="0" tIns="0" rIns="0" bIns="0" rtlCol="0" anchor="ctr"/>
          <a:lstStyle/>
          <a:p>
            <a:pPr marL="0" indent="0">
              <a:buNone/>
            </a:pPr>
            <a:r>
              <a:rPr lang="en-US" sz="1250" b="1" dirty="0">
                <a:solidFill>
                  <a:schemeClr val="tx2"/>
                </a:solidFill>
                <a:latin typeface="Calibri" pitchFamily="34" charset="0"/>
                <a:ea typeface="Calibri" pitchFamily="34" charset="-122"/>
                <a:cs typeface="Calibri" pitchFamily="34" charset="-120"/>
              </a:rPr>
              <a:t>Discernment: </a:t>
            </a:r>
            <a:r>
              <a:rPr lang="en-US" sz="1250" dirty="0">
                <a:solidFill>
                  <a:schemeClr val="tx1"/>
                </a:solidFill>
                <a:latin typeface="Calibri" pitchFamily="34" charset="0"/>
                <a:ea typeface="Calibri" pitchFamily="34" charset="-122"/>
                <a:cs typeface="Calibri" pitchFamily="34" charset="-120"/>
              </a:rPr>
              <a:t>I stress-tested the bundle to find where AI is strong and candidates struggle (alignment, sequencing), and where AI is unreliable (standards).</a:t>
            </a:r>
          </a:p>
        </p:txBody>
      </p:sp>
      <p:pic>
        <p:nvPicPr>
          <p:cNvPr id="15" name="Discernment icon" descr="Discernment">
            <a:extLst>
              <a:ext uri="{FF2B5EF4-FFF2-40B4-BE49-F238E27FC236}">
                <a16:creationId xmlns:a16="http://schemas.microsoft.com/office/drawing/2014/main" id="{94249202-0C82-779B-F7D7-995FAE7D23CA}"/>
              </a:ext>
            </a:extLst>
          </p:cNvPr>
          <p:cNvPicPr>
            <a:picLocks noChangeAspect="1"/>
          </p:cNvPicPr>
          <p:nvPr/>
        </p:nvPicPr>
        <p:blipFill>
          <a:blip r:embed="rId5"/>
          <a:stretch>
            <a:fillRect/>
          </a:stretch>
        </p:blipFill>
        <p:spPr>
          <a:xfrm>
            <a:off x="4343400" y="3189288"/>
            <a:ext cx="254000" cy="254000"/>
          </a:xfrm>
          <a:prstGeom prst="rect">
            <a:avLst/>
          </a:prstGeom>
        </p:spPr>
      </p:pic>
      <p:sp>
        <p:nvSpPr>
          <p:cNvPr id="48" name="Diligence card">
            <a:extLst>
              <a:ext uri="{FF2B5EF4-FFF2-40B4-BE49-F238E27FC236}">
                <a16:creationId xmlns:a16="http://schemas.microsoft.com/office/drawing/2014/main" id="{6573D107-8053-23EB-CC56-1F7A8CE1B865}"/>
              </a:ext>
            </a:extLst>
          </p:cNvPr>
          <p:cNvSpPr/>
          <p:nvPr/>
        </p:nvSpPr>
        <p:spPr>
          <a:xfrm>
            <a:off x="4064000" y="3819525"/>
            <a:ext cx="4622800" cy="828675"/>
          </a:xfrm>
          <a:prstGeom prst="roundRect">
            <a:avLst>
              <a:gd name="adj" fmla="val 6000"/>
            </a:avLst>
          </a:prstGeom>
          <a:solidFill>
            <a:schemeClr val="accent4"/>
          </a:solidFill>
          <a:ln w="12700">
            <a:solidFill>
              <a:schemeClr val="accent4"/>
            </a:solidFill>
          </a:ln>
          <a:effectLst>
            <a:outerShdw blurRad="76200" dist="19050" dir="5400000" algn="bl" rotWithShape="0">
              <a:srgbClr val="000000">
                <a:alpha val="12000"/>
              </a:srgbClr>
            </a:outerShdw>
          </a:effectLst>
        </p:spPr>
        <p:txBody>
          <a:bodyPr/>
          <a:lstStyle/>
          <a:p>
            <a:endParaRPr lang="en-US"/>
          </a:p>
        </p:txBody>
      </p:sp>
      <p:sp>
        <p:nvSpPr>
          <p:cNvPr id="49" name="Diligence circle">
            <a:extLst>
              <a:ext uri="{FF2B5EF4-FFF2-40B4-BE49-F238E27FC236}">
                <a16:creationId xmlns:a16="http://schemas.microsoft.com/office/drawing/2014/main" id="{BA7B634F-6A89-0440-525E-66F9AFB6A835}"/>
              </a:ext>
            </a:extLst>
          </p:cNvPr>
          <p:cNvSpPr/>
          <p:nvPr/>
        </p:nvSpPr>
        <p:spPr>
          <a:xfrm>
            <a:off x="4241800" y="4005263"/>
            <a:ext cx="457200" cy="457200"/>
          </a:xfrm>
          <a:prstGeom prst="ellipse">
            <a:avLst/>
          </a:prstGeom>
          <a:solidFill>
            <a:schemeClr val="accent1"/>
          </a:solidFill>
          <a:ln w="12700">
            <a:solidFill>
              <a:schemeClr val="accent1"/>
            </a:solidFill>
          </a:ln>
        </p:spPr>
        <p:txBody>
          <a:bodyPr/>
          <a:lstStyle/>
          <a:p>
            <a:endParaRPr lang="en-US"/>
          </a:p>
        </p:txBody>
      </p:sp>
      <p:sp>
        <p:nvSpPr>
          <p:cNvPr id="50" name="Diligence text">
            <a:extLst>
              <a:ext uri="{FF2B5EF4-FFF2-40B4-BE49-F238E27FC236}">
                <a16:creationId xmlns:a16="http://schemas.microsoft.com/office/drawing/2014/main" id="{5E21F47E-35F3-96AA-5B1E-A795030114F0}"/>
              </a:ext>
            </a:extLst>
          </p:cNvPr>
          <p:cNvSpPr txBox="1"/>
          <p:nvPr/>
        </p:nvSpPr>
        <p:spPr>
          <a:xfrm>
            <a:off x="4876800" y="3870325"/>
            <a:ext cx="3632200" cy="727075"/>
          </a:xfrm>
          <a:prstGeom prst="rect">
            <a:avLst/>
          </a:prstGeom>
          <a:noFill/>
        </p:spPr>
        <p:txBody>
          <a:bodyPr wrap="square" lIns="0" tIns="0" rIns="0" bIns="0" rtlCol="0" anchor="ctr"/>
          <a:lstStyle/>
          <a:p>
            <a:pPr marL="0" indent="0">
              <a:buNone/>
            </a:pPr>
            <a:r>
              <a:rPr lang="en-US" sz="1250" b="1" dirty="0">
                <a:solidFill>
                  <a:schemeClr val="tx2"/>
                </a:solidFill>
                <a:latin typeface="Calibri" pitchFamily="34" charset="0"/>
                <a:ea typeface="Calibri" pitchFamily="34" charset="-122"/>
                <a:cs typeface="Calibri" pitchFamily="34" charset="-120"/>
              </a:rPr>
              <a:t>Diligence: </a:t>
            </a:r>
            <a:r>
              <a:rPr lang="en-US" sz="1250" dirty="0">
                <a:solidFill>
                  <a:schemeClr val="tx1"/>
                </a:solidFill>
                <a:latin typeface="Calibri" pitchFamily="34" charset="0"/>
                <a:ea typeface="Calibri" pitchFamily="34" charset="-122"/>
                <a:cs typeface="Calibri" pitchFamily="34" charset="-120"/>
              </a:rPr>
              <a:t>I wrote guardrails that hold AI in a Reflector role, like a professor's feedback conversation: it asks, never rewrites or grades, and leaves next steps to the candidate.</a:t>
            </a:r>
          </a:p>
        </p:txBody>
      </p:sp>
      <p:pic>
        <p:nvPicPr>
          <p:cNvPr id="20" name="Diligence icon" descr="Diligence">
            <a:extLst>
              <a:ext uri="{FF2B5EF4-FFF2-40B4-BE49-F238E27FC236}">
                <a16:creationId xmlns:a16="http://schemas.microsoft.com/office/drawing/2014/main" id="{89E6D329-BC0A-125F-ABB5-B231B71BA525}"/>
              </a:ext>
            </a:extLst>
          </p:cNvPr>
          <p:cNvPicPr>
            <a:picLocks noChangeAspect="1"/>
          </p:cNvPicPr>
          <p:nvPr/>
        </p:nvPicPr>
        <p:blipFill>
          <a:blip r:embed="rId6"/>
          <a:stretch>
            <a:fillRect/>
          </a:stretch>
        </p:blipFill>
        <p:spPr>
          <a:xfrm>
            <a:off x="4343400" y="4106863"/>
            <a:ext cx="254000" cy="254000"/>
          </a:xfrm>
          <a:prstGeom prst="rect">
            <a:avLst/>
          </a:prstGeom>
        </p:spPr>
      </p:pic>
      <p:pic>
        <p:nvPicPr>
          <p:cNvPr id="51" name="Graphic 51" descr="Automation">
            <a:extLst>
              <a:ext uri="{FF2B5EF4-FFF2-40B4-BE49-F238E27FC236}">
                <a16:creationId xmlns:a16="http://schemas.microsoft.com/office/drawing/2014/main" id="{DF0C6E81-A515-D2F3-BCF8-EB4E3DD2C0B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36600" y="1498600"/>
            <a:ext cx="254000" cy="254000"/>
          </a:xfrm>
          <a:prstGeom prst="rect">
            <a:avLst/>
          </a:prstGeom>
        </p:spPr>
      </p:pic>
      <p:pic>
        <p:nvPicPr>
          <p:cNvPr id="52" name="Graphic 52" descr="Augmentation">
            <a:extLst>
              <a:ext uri="{FF2B5EF4-FFF2-40B4-BE49-F238E27FC236}">
                <a16:creationId xmlns:a16="http://schemas.microsoft.com/office/drawing/2014/main" id="{34E9B51B-63E9-24E0-7E92-1CCF56A3B57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36600" y="2730500"/>
            <a:ext cx="254000" cy="254000"/>
          </a:xfrm>
          <a:prstGeom prst="rect">
            <a:avLst/>
          </a:prstGeom>
        </p:spPr>
      </p:pic>
      <p:pic>
        <p:nvPicPr>
          <p:cNvPr id="53" name="Graphic 53" descr="Agency">
            <a:extLst>
              <a:ext uri="{FF2B5EF4-FFF2-40B4-BE49-F238E27FC236}">
                <a16:creationId xmlns:a16="http://schemas.microsoft.com/office/drawing/2014/main" id="{A45B96A8-ECC3-B806-309B-D1E672D0727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36600" y="3962400"/>
            <a:ext cx="254000" cy="254000"/>
          </a:xfrm>
          <a:prstGeom prst="rect">
            <a:avLst/>
          </a:prstGeom>
        </p:spPr>
      </p:pic>
    </p:spTree>
    <p:extLst>
      <p:ext uri="{BB962C8B-B14F-4D97-AF65-F5344CB8AC3E}">
        <p14:creationId xmlns:p14="http://schemas.microsoft.com/office/powerpoint/2010/main" val="40698725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a:extLst>
              <a:ext uri="{FF2B5EF4-FFF2-40B4-BE49-F238E27FC236}">
                <a16:creationId xmlns:a16="http://schemas.microsoft.com/office/drawing/2014/main" id="{2A754655-9B68-7226-F974-3A396F664AAE}"/>
              </a:ext>
            </a:extLst>
          </p:cNvPr>
          <p:cNvSpPr>
            <a:spLocks noGrp="1"/>
          </p:cNvSpPr>
          <p:nvPr>
            <p:ph type="sldNum" sz="quarter" idx="4294967295"/>
          </p:nvPr>
        </p:nvSpPr>
        <p:spPr>
          <a:xfrm>
            <a:off x="841248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3"/>
                </a:solidFill>
              </a:defRPr>
            </a:lvl1pPr>
          </a:lstStyle>
          <a:p>
            <a:pPr algn="r"/>
            <a:fld id="{F7021451-1387-4CA6-816F-3879F97B5CBC}" type="slidenum">
              <a:rPr lang="en-US" b="0"/>
              <a:t>28</a:t>
            </a:fld>
            <a:endParaRPr lang="en-US"/>
          </a:p>
        </p:txBody>
      </p:sp>
      <p:sp>
        <p:nvSpPr>
          <p:cNvPr id="2" name="Text 0">
            <a:extLst>
              <a:ext uri="{FF2B5EF4-FFF2-40B4-BE49-F238E27FC236}">
                <a16:creationId xmlns:a16="http://schemas.microsoft.com/office/drawing/2014/main" id="{C1DADC6E-9031-3DD6-7882-76A491A01245}"/>
              </a:ext>
            </a:extLst>
          </p:cNvPr>
          <p:cNvSpPr>
            <a:spLocks noGrp="1"/>
          </p:cNvSpPr>
          <p:nvPr>
            <p:ph type="title" idx="100" hasCustomPrompt="1"/>
          </p:nvPr>
        </p:nvSpPr>
        <p:spPr>
          <a:xfrm>
            <a:off x="457200" y="256032"/>
            <a:ext cx="8229600" cy="685800"/>
          </a:xfrm>
          <a:prstGeom prst="rect">
            <a:avLst/>
          </a:prstGeom>
          <a:noFill/>
          <a:ln/>
        </p:spPr>
        <p:txBody>
          <a:bodyPr wrap="square" lIns="0" tIns="0" rIns="0" bIns="0" rtlCol="0" anchor="ctr"/>
          <a:lstStyle/>
          <a:p>
            <a:pPr marL="0" indent="0" algn="ctr">
              <a:buNone/>
            </a:pPr>
            <a:r>
              <a:rPr lang="en-US" sz="3400" b="1" dirty="0">
                <a:solidFill>
                  <a:schemeClr val="tx2"/>
                </a:solidFill>
              </a:rPr>
              <a:t>From stress test to student interaction</a:t>
            </a:r>
            <a:endParaRPr lang="en-US" sz="3400" dirty="0"/>
          </a:p>
        </p:txBody>
      </p:sp>
      <p:sp>
        <p:nvSpPr>
          <p:cNvPr id="26" name="Step 1 card"/>
          <p:cNvSpPr/>
          <p:nvPr/>
        </p:nvSpPr>
        <p:spPr>
          <a:xfrm>
            <a:off x="457200" y="1234440"/>
            <a:ext cx="1554480" cy="2606040"/>
          </a:xfrm>
          <a:prstGeom prst="roundRect">
            <a:avLst>
              <a:gd name="adj" fmla="val 6000"/>
            </a:avLst>
          </a:prstGeom>
          <a:solidFill>
            <a:srgbClr val="E3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Step 1 circle"/>
          <p:cNvSpPr/>
          <p:nvPr/>
        </p:nvSpPr>
        <p:spPr>
          <a:xfrm>
            <a:off x="960120" y="1417320"/>
            <a:ext cx="548640" cy="548640"/>
          </a:xfrm>
          <a:prstGeom prst="ellipse">
            <a:avLst/>
          </a:prstGeom>
          <a:solidFill>
            <a:srgbClr val="1547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Step 1 number"/>
          <p:cNvSpPr txBox="1"/>
          <p:nvPr/>
        </p:nvSpPr>
        <p:spPr>
          <a:xfrm>
            <a:off x="960120" y="1417320"/>
            <a:ext cx="548640" cy="548640"/>
          </a:xfrm>
          <a:prstGeom prst="rect">
            <a:avLst/>
          </a:prstGeom>
          <a:noFill/>
        </p:spPr>
        <p:txBody>
          <a:bodyPr wrap="square" lIns="54864" rIns="54864" anchor="ctr">
            <a:spAutoFit/>
          </a:bodyPr>
          <a:lstStyle/>
          <a:p>
            <a:pPr algn="ctr"/>
            <a:r>
              <a:rPr sz="2000" b="1" i="0">
                <a:solidFill>
                  <a:srgbClr val="FFFFFF"/>
                </a:solidFill>
                <a:latin typeface="Calibri"/>
              </a:rPr>
              <a:t>1</a:t>
            </a:r>
          </a:p>
        </p:txBody>
      </p:sp>
      <p:sp>
        <p:nvSpPr>
          <p:cNvPr id="29" name="Step 1 label"/>
          <p:cNvSpPr txBox="1"/>
          <p:nvPr/>
        </p:nvSpPr>
        <p:spPr>
          <a:xfrm>
            <a:off x="457200" y="2103120"/>
            <a:ext cx="1554480" cy="502920"/>
          </a:xfrm>
          <a:prstGeom prst="rect">
            <a:avLst/>
          </a:prstGeom>
          <a:noFill/>
        </p:spPr>
        <p:txBody>
          <a:bodyPr wrap="square" lIns="54864" rIns="54864" anchor="ctr">
            <a:spAutoFit/>
          </a:bodyPr>
          <a:lstStyle/>
          <a:p>
            <a:pPr algn="ctr"/>
            <a:r>
              <a:rPr sz="1600" b="1" i="0">
                <a:solidFill>
                  <a:srgbClr val="154734"/>
                </a:solidFill>
                <a:latin typeface="Calibri"/>
              </a:rPr>
              <a:t>Stress test</a:t>
            </a:r>
          </a:p>
        </p:txBody>
      </p:sp>
      <p:sp>
        <p:nvSpPr>
          <p:cNvPr id="30" name="Step 1 text"/>
          <p:cNvSpPr txBox="1"/>
          <p:nvPr/>
        </p:nvSpPr>
        <p:spPr>
          <a:xfrm>
            <a:off x="502920" y="2651760"/>
            <a:ext cx="1463039" cy="1097280"/>
          </a:xfrm>
          <a:prstGeom prst="rect">
            <a:avLst/>
          </a:prstGeom>
          <a:noFill/>
        </p:spPr>
        <p:txBody>
          <a:bodyPr wrap="square" lIns="54864" rIns="54864" anchor="t">
            <a:spAutoFit/>
          </a:bodyPr>
          <a:lstStyle/>
          <a:p>
            <a:pPr algn="ctr"/>
            <a:r>
              <a:rPr sz="1250" b="0" i="0">
                <a:solidFill>
                  <a:srgbClr val="1A1A1A"/>
                </a:solidFill>
                <a:latin typeface="Calibri"/>
              </a:rPr>
              <a:t>Find the vulnerability</a:t>
            </a:r>
          </a:p>
        </p:txBody>
      </p:sp>
      <p:sp>
        <p:nvSpPr>
          <p:cNvPr id="31" name="Arrow 1"/>
          <p:cNvSpPr/>
          <p:nvPr/>
        </p:nvSpPr>
        <p:spPr>
          <a:xfrm>
            <a:off x="2029968" y="2464308"/>
            <a:ext cx="77724" cy="146304"/>
          </a:xfrm>
          <a:prstGeom prst="chevron">
            <a:avLst/>
          </a:prstGeom>
          <a:solidFill>
            <a:srgbClr val="C9C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Step 2 card"/>
          <p:cNvSpPr/>
          <p:nvPr/>
        </p:nvSpPr>
        <p:spPr>
          <a:xfrm>
            <a:off x="2125980" y="1234440"/>
            <a:ext cx="1554480" cy="2606040"/>
          </a:xfrm>
          <a:prstGeom prst="roundRect">
            <a:avLst>
              <a:gd name="adj" fmla="val 6000"/>
            </a:avLst>
          </a:prstGeom>
          <a:solidFill>
            <a:srgbClr val="E3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Step 2 circle"/>
          <p:cNvSpPr/>
          <p:nvPr/>
        </p:nvSpPr>
        <p:spPr>
          <a:xfrm>
            <a:off x="2628900" y="1417320"/>
            <a:ext cx="548640" cy="548640"/>
          </a:xfrm>
          <a:prstGeom prst="ellipse">
            <a:avLst/>
          </a:prstGeom>
          <a:solidFill>
            <a:srgbClr val="1547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Step 2 number"/>
          <p:cNvSpPr txBox="1"/>
          <p:nvPr/>
        </p:nvSpPr>
        <p:spPr>
          <a:xfrm>
            <a:off x="2628900" y="1417320"/>
            <a:ext cx="548640" cy="548640"/>
          </a:xfrm>
          <a:prstGeom prst="rect">
            <a:avLst/>
          </a:prstGeom>
          <a:noFill/>
        </p:spPr>
        <p:txBody>
          <a:bodyPr wrap="square" lIns="54864" rIns="54864" anchor="ctr">
            <a:spAutoFit/>
          </a:bodyPr>
          <a:lstStyle/>
          <a:p>
            <a:pPr algn="ctr"/>
            <a:r>
              <a:rPr sz="2000" b="1" i="0">
                <a:solidFill>
                  <a:srgbClr val="FFFFFF"/>
                </a:solidFill>
                <a:latin typeface="Calibri"/>
              </a:rPr>
              <a:t>2</a:t>
            </a:r>
          </a:p>
        </p:txBody>
      </p:sp>
      <p:sp>
        <p:nvSpPr>
          <p:cNvPr id="35" name="Step 2 label"/>
          <p:cNvSpPr txBox="1"/>
          <p:nvPr/>
        </p:nvSpPr>
        <p:spPr>
          <a:xfrm>
            <a:off x="2125980" y="2103120"/>
            <a:ext cx="1554480" cy="502920"/>
          </a:xfrm>
          <a:prstGeom prst="rect">
            <a:avLst/>
          </a:prstGeom>
          <a:noFill/>
        </p:spPr>
        <p:txBody>
          <a:bodyPr wrap="square" lIns="54864" rIns="54864" anchor="ctr">
            <a:spAutoFit/>
          </a:bodyPr>
          <a:lstStyle/>
          <a:p>
            <a:pPr algn="ctr"/>
            <a:r>
              <a:rPr sz="1600" b="1" i="0">
                <a:solidFill>
                  <a:srgbClr val="154734"/>
                </a:solidFill>
                <a:latin typeface="Calibri"/>
              </a:rPr>
              <a:t>Pick a role</a:t>
            </a:r>
          </a:p>
        </p:txBody>
      </p:sp>
      <p:sp>
        <p:nvSpPr>
          <p:cNvPr id="36" name="Step 2 text"/>
          <p:cNvSpPr txBox="1"/>
          <p:nvPr/>
        </p:nvSpPr>
        <p:spPr>
          <a:xfrm>
            <a:off x="2171700" y="2651760"/>
            <a:ext cx="1463039" cy="1097280"/>
          </a:xfrm>
          <a:prstGeom prst="rect">
            <a:avLst/>
          </a:prstGeom>
          <a:noFill/>
        </p:spPr>
        <p:txBody>
          <a:bodyPr wrap="square" lIns="54864" rIns="54864" anchor="t">
            <a:spAutoFit/>
          </a:bodyPr>
          <a:lstStyle/>
          <a:p>
            <a:pPr algn="ctr"/>
            <a:r>
              <a:rPr sz="1250" b="0" i="0">
                <a:solidFill>
                  <a:srgbClr val="1A1A1A"/>
                </a:solidFill>
                <a:latin typeface="Calibri"/>
              </a:rPr>
              <a:t>Opponent, Evidence, Reflector, Scaffold, or Executor</a:t>
            </a:r>
          </a:p>
        </p:txBody>
      </p:sp>
      <p:sp>
        <p:nvSpPr>
          <p:cNvPr id="37" name="Arrow 2"/>
          <p:cNvSpPr/>
          <p:nvPr/>
        </p:nvSpPr>
        <p:spPr>
          <a:xfrm>
            <a:off x="3698748" y="2464308"/>
            <a:ext cx="77724" cy="146304"/>
          </a:xfrm>
          <a:prstGeom prst="chevron">
            <a:avLst/>
          </a:prstGeom>
          <a:solidFill>
            <a:srgbClr val="C9C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Step 3 card"/>
          <p:cNvSpPr/>
          <p:nvPr/>
        </p:nvSpPr>
        <p:spPr>
          <a:xfrm>
            <a:off x="3794760" y="1234440"/>
            <a:ext cx="1554480" cy="2606040"/>
          </a:xfrm>
          <a:prstGeom prst="roundRect">
            <a:avLst>
              <a:gd name="adj" fmla="val 6000"/>
            </a:avLst>
          </a:prstGeom>
          <a:solidFill>
            <a:srgbClr val="E3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Step 3 circle"/>
          <p:cNvSpPr/>
          <p:nvPr/>
        </p:nvSpPr>
        <p:spPr>
          <a:xfrm>
            <a:off x="4297680" y="1417320"/>
            <a:ext cx="548640" cy="548640"/>
          </a:xfrm>
          <a:prstGeom prst="ellipse">
            <a:avLst/>
          </a:prstGeom>
          <a:solidFill>
            <a:srgbClr val="1547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Step 3 number"/>
          <p:cNvSpPr txBox="1"/>
          <p:nvPr/>
        </p:nvSpPr>
        <p:spPr>
          <a:xfrm>
            <a:off x="4297680" y="1417320"/>
            <a:ext cx="548640" cy="548640"/>
          </a:xfrm>
          <a:prstGeom prst="rect">
            <a:avLst/>
          </a:prstGeom>
          <a:noFill/>
        </p:spPr>
        <p:txBody>
          <a:bodyPr wrap="square" lIns="54864" rIns="54864" anchor="ctr">
            <a:spAutoFit/>
          </a:bodyPr>
          <a:lstStyle/>
          <a:p>
            <a:pPr algn="ctr"/>
            <a:r>
              <a:rPr sz="2000" b="1" i="0">
                <a:solidFill>
                  <a:srgbClr val="FFFFFF"/>
                </a:solidFill>
                <a:latin typeface="Calibri"/>
              </a:rPr>
              <a:t>3</a:t>
            </a:r>
          </a:p>
        </p:txBody>
      </p:sp>
      <p:sp>
        <p:nvSpPr>
          <p:cNvPr id="41" name="Step 3 label"/>
          <p:cNvSpPr txBox="1"/>
          <p:nvPr/>
        </p:nvSpPr>
        <p:spPr>
          <a:xfrm>
            <a:off x="3794760" y="2103120"/>
            <a:ext cx="1554480" cy="502920"/>
          </a:xfrm>
          <a:prstGeom prst="rect">
            <a:avLst/>
          </a:prstGeom>
          <a:noFill/>
        </p:spPr>
        <p:txBody>
          <a:bodyPr wrap="square" lIns="54864" rIns="54864" anchor="ctr">
            <a:spAutoFit/>
          </a:bodyPr>
          <a:lstStyle/>
          <a:p>
            <a:pPr algn="ctr"/>
            <a:r>
              <a:rPr sz="1600" b="1" i="0">
                <a:solidFill>
                  <a:srgbClr val="154734"/>
                </a:solidFill>
                <a:latin typeface="Calibri"/>
              </a:rPr>
              <a:t>Write the role</a:t>
            </a:r>
          </a:p>
        </p:txBody>
      </p:sp>
      <p:sp>
        <p:nvSpPr>
          <p:cNvPr id="42" name="Step 3 text"/>
          <p:cNvSpPr txBox="1"/>
          <p:nvPr/>
        </p:nvSpPr>
        <p:spPr>
          <a:xfrm>
            <a:off x="3840480" y="2651760"/>
            <a:ext cx="1463039" cy="1097280"/>
          </a:xfrm>
          <a:prstGeom prst="rect">
            <a:avLst/>
          </a:prstGeom>
          <a:noFill/>
        </p:spPr>
        <p:txBody>
          <a:bodyPr wrap="square" lIns="54864" rIns="54864" anchor="t">
            <a:spAutoFit/>
          </a:bodyPr>
          <a:lstStyle/>
          <a:p>
            <a:pPr algn="ctr"/>
            <a:r>
              <a:rPr sz="1250" b="0" i="0">
                <a:solidFill>
                  <a:srgbClr val="1A1A1A"/>
                </a:solidFill>
                <a:latin typeface="Calibri"/>
              </a:rPr>
              <a:t>Use the templates provided</a:t>
            </a:r>
          </a:p>
        </p:txBody>
      </p:sp>
      <p:sp>
        <p:nvSpPr>
          <p:cNvPr id="43" name="Arrow 3"/>
          <p:cNvSpPr/>
          <p:nvPr/>
        </p:nvSpPr>
        <p:spPr>
          <a:xfrm>
            <a:off x="5367528" y="2464308"/>
            <a:ext cx="77724" cy="146304"/>
          </a:xfrm>
          <a:prstGeom prst="chevron">
            <a:avLst/>
          </a:prstGeom>
          <a:solidFill>
            <a:srgbClr val="C9C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Step 4 card"/>
          <p:cNvSpPr/>
          <p:nvPr/>
        </p:nvSpPr>
        <p:spPr>
          <a:xfrm>
            <a:off x="5463540" y="1234440"/>
            <a:ext cx="1554480" cy="2606040"/>
          </a:xfrm>
          <a:prstGeom prst="roundRect">
            <a:avLst>
              <a:gd name="adj" fmla="val 6000"/>
            </a:avLst>
          </a:prstGeom>
          <a:solidFill>
            <a:srgbClr val="FFF3D6"/>
          </a:solidFill>
          <a:ln w="15875">
            <a:solidFill>
              <a:srgbClr val="FFB8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Step 4 circle"/>
          <p:cNvSpPr/>
          <p:nvPr/>
        </p:nvSpPr>
        <p:spPr>
          <a:xfrm>
            <a:off x="5966459" y="1417320"/>
            <a:ext cx="548640" cy="548640"/>
          </a:xfrm>
          <a:prstGeom prst="ellipse">
            <a:avLst/>
          </a:prstGeom>
          <a:solidFill>
            <a:srgbClr val="1547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Step 4 number"/>
          <p:cNvSpPr txBox="1"/>
          <p:nvPr/>
        </p:nvSpPr>
        <p:spPr>
          <a:xfrm>
            <a:off x="5966459" y="1417320"/>
            <a:ext cx="548640" cy="548640"/>
          </a:xfrm>
          <a:prstGeom prst="rect">
            <a:avLst/>
          </a:prstGeom>
          <a:noFill/>
        </p:spPr>
        <p:txBody>
          <a:bodyPr wrap="square" lIns="54864" rIns="54864" anchor="ctr">
            <a:spAutoFit/>
          </a:bodyPr>
          <a:lstStyle/>
          <a:p>
            <a:pPr algn="ctr"/>
            <a:r>
              <a:rPr sz="2000" b="1" i="0">
                <a:solidFill>
                  <a:srgbClr val="FFFFFF"/>
                </a:solidFill>
                <a:latin typeface="Calibri"/>
              </a:rPr>
              <a:t>4</a:t>
            </a:r>
          </a:p>
        </p:txBody>
      </p:sp>
      <p:sp>
        <p:nvSpPr>
          <p:cNvPr id="47" name="Step 4 label"/>
          <p:cNvSpPr txBox="1"/>
          <p:nvPr/>
        </p:nvSpPr>
        <p:spPr>
          <a:xfrm>
            <a:off x="5463540" y="2103120"/>
            <a:ext cx="1554480" cy="502920"/>
          </a:xfrm>
          <a:prstGeom prst="rect">
            <a:avLst/>
          </a:prstGeom>
          <a:noFill/>
        </p:spPr>
        <p:txBody>
          <a:bodyPr wrap="square" lIns="54864" rIns="54864" anchor="ctr">
            <a:spAutoFit/>
          </a:bodyPr>
          <a:lstStyle/>
          <a:p>
            <a:pPr algn="ctr"/>
            <a:r>
              <a:rPr sz="1600" b="1" i="0">
                <a:solidFill>
                  <a:srgbClr val="154734"/>
                </a:solidFill>
                <a:latin typeface="Calibri"/>
              </a:rPr>
              <a:t>Test, refine, repeat</a:t>
            </a:r>
          </a:p>
        </p:txBody>
      </p:sp>
      <p:sp>
        <p:nvSpPr>
          <p:cNvPr id="48" name="Step 4 text"/>
          <p:cNvSpPr txBox="1"/>
          <p:nvPr/>
        </p:nvSpPr>
        <p:spPr>
          <a:xfrm>
            <a:off x="5509259" y="2651760"/>
            <a:ext cx="1463039" cy="1097280"/>
          </a:xfrm>
          <a:prstGeom prst="rect">
            <a:avLst/>
          </a:prstGeom>
          <a:noFill/>
        </p:spPr>
        <p:txBody>
          <a:bodyPr wrap="square" lIns="54864" rIns="54864" anchor="t">
            <a:spAutoFit/>
          </a:bodyPr>
          <a:lstStyle/>
          <a:p>
            <a:pPr algn="ctr"/>
            <a:r>
              <a:rPr sz="1250" b="0" i="0">
                <a:solidFill>
                  <a:srgbClr val="1A1A1A"/>
                </a:solidFill>
                <a:latin typeface="Calibri"/>
              </a:rPr>
              <a:t>Test → refine → test → refine until you get the interaction you want students to have</a:t>
            </a:r>
          </a:p>
        </p:txBody>
      </p:sp>
      <p:sp>
        <p:nvSpPr>
          <p:cNvPr id="49" name="Arrow 4"/>
          <p:cNvSpPr/>
          <p:nvPr/>
        </p:nvSpPr>
        <p:spPr>
          <a:xfrm>
            <a:off x="7036307" y="2464308"/>
            <a:ext cx="77724" cy="146304"/>
          </a:xfrm>
          <a:prstGeom prst="chevron">
            <a:avLst/>
          </a:prstGeom>
          <a:solidFill>
            <a:srgbClr val="C9C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Step 5 card"/>
          <p:cNvSpPr/>
          <p:nvPr/>
        </p:nvSpPr>
        <p:spPr>
          <a:xfrm>
            <a:off x="7132320" y="1234440"/>
            <a:ext cx="1554480" cy="2606040"/>
          </a:xfrm>
          <a:prstGeom prst="roundRect">
            <a:avLst>
              <a:gd name="adj" fmla="val 6000"/>
            </a:avLst>
          </a:prstGeom>
          <a:solidFill>
            <a:srgbClr val="E3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Step 5 circle"/>
          <p:cNvSpPr/>
          <p:nvPr/>
        </p:nvSpPr>
        <p:spPr>
          <a:xfrm>
            <a:off x="7635240" y="1417320"/>
            <a:ext cx="548640" cy="548640"/>
          </a:xfrm>
          <a:prstGeom prst="ellipse">
            <a:avLst/>
          </a:prstGeom>
          <a:solidFill>
            <a:srgbClr val="1547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Step 5 number"/>
          <p:cNvSpPr txBox="1"/>
          <p:nvPr/>
        </p:nvSpPr>
        <p:spPr>
          <a:xfrm>
            <a:off x="7635240" y="1417320"/>
            <a:ext cx="548640" cy="548640"/>
          </a:xfrm>
          <a:prstGeom prst="rect">
            <a:avLst/>
          </a:prstGeom>
          <a:noFill/>
        </p:spPr>
        <p:txBody>
          <a:bodyPr wrap="square" lIns="54864" rIns="54864" anchor="ctr">
            <a:spAutoFit/>
          </a:bodyPr>
          <a:lstStyle/>
          <a:p>
            <a:pPr algn="ctr"/>
            <a:r>
              <a:rPr sz="2000" b="1" i="0">
                <a:solidFill>
                  <a:srgbClr val="FFFFFF"/>
                </a:solidFill>
                <a:latin typeface="Calibri"/>
              </a:rPr>
              <a:t>5</a:t>
            </a:r>
          </a:p>
        </p:txBody>
      </p:sp>
      <p:sp>
        <p:nvSpPr>
          <p:cNvPr id="53" name="Step 5 label"/>
          <p:cNvSpPr txBox="1"/>
          <p:nvPr/>
        </p:nvSpPr>
        <p:spPr>
          <a:xfrm>
            <a:off x="7132320" y="2103120"/>
            <a:ext cx="1554480" cy="502920"/>
          </a:xfrm>
          <a:prstGeom prst="rect">
            <a:avLst/>
          </a:prstGeom>
          <a:noFill/>
        </p:spPr>
        <p:txBody>
          <a:bodyPr wrap="square" lIns="54864" rIns="54864" anchor="ctr">
            <a:spAutoFit/>
          </a:bodyPr>
          <a:lstStyle/>
          <a:p>
            <a:pPr algn="ctr"/>
            <a:r>
              <a:rPr sz="1600" b="1" i="0">
                <a:solidFill>
                  <a:srgbClr val="154734"/>
                </a:solidFill>
                <a:latin typeface="Calibri"/>
              </a:rPr>
              <a:t>Try it in class</a:t>
            </a:r>
          </a:p>
        </p:txBody>
      </p:sp>
      <p:sp>
        <p:nvSpPr>
          <p:cNvPr id="54" name="Step 5 text"/>
          <p:cNvSpPr txBox="1"/>
          <p:nvPr/>
        </p:nvSpPr>
        <p:spPr>
          <a:xfrm>
            <a:off x="7178040" y="2651760"/>
            <a:ext cx="1463039" cy="1097280"/>
          </a:xfrm>
          <a:prstGeom prst="rect">
            <a:avLst/>
          </a:prstGeom>
          <a:noFill/>
        </p:spPr>
        <p:txBody>
          <a:bodyPr wrap="square" lIns="54864" rIns="54864" anchor="t">
            <a:spAutoFit/>
          </a:bodyPr>
          <a:lstStyle/>
          <a:p>
            <a:pPr algn="ctr"/>
            <a:r>
              <a:rPr sz="1250" b="0" i="0">
                <a:solidFill>
                  <a:srgbClr val="1A1A1A"/>
                </a:solidFill>
                <a:latin typeface="Calibri"/>
              </a:rPr>
              <a:t>Consider doing it in class</a:t>
            </a:r>
          </a:p>
        </p:txBody>
      </p:sp>
      <p:sp>
        <p:nvSpPr>
          <p:cNvPr id="55" name="Banner"/>
          <p:cNvSpPr/>
          <p:nvPr/>
        </p:nvSpPr>
        <p:spPr>
          <a:xfrm>
            <a:off x="457200" y="4069080"/>
            <a:ext cx="8229600" cy="475488"/>
          </a:xfrm>
          <a:prstGeom prst="roundRect">
            <a:avLst>
              <a:gd name="adj" fmla="val 15000"/>
            </a:avLst>
          </a:prstGeom>
          <a:solidFill>
            <a:srgbClr val="FFB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Banner text"/>
          <p:cNvSpPr txBox="1"/>
          <p:nvPr/>
        </p:nvSpPr>
        <p:spPr>
          <a:xfrm>
            <a:off x="548640" y="4069080"/>
            <a:ext cx="8046720" cy="475488"/>
          </a:xfrm>
          <a:prstGeom prst="rect">
            <a:avLst/>
          </a:prstGeom>
          <a:noFill/>
        </p:spPr>
        <p:txBody>
          <a:bodyPr wrap="square" lIns="54864" rIns="54864" anchor="ctr">
            <a:spAutoFit/>
          </a:bodyPr>
          <a:lstStyle/>
          <a:p>
            <a:pPr algn="ctr"/>
            <a:r>
              <a:rPr sz="1600" b="1" i="0">
                <a:solidFill>
                  <a:srgbClr val="154734"/>
                </a:solidFill>
                <a:latin typeface="Calibri"/>
              </a:rPr>
              <a:t>Next: my Bundle 1 coaching prompt, live</a:t>
            </a:r>
          </a:p>
        </p:txBody>
      </p:sp>
    </p:spTree>
    <p:extLst>
      <p:ext uri="{BB962C8B-B14F-4D97-AF65-F5344CB8AC3E}">
        <p14:creationId xmlns:p14="http://schemas.microsoft.com/office/powerpoint/2010/main" val="3975534208"/>
      </p:ext>
    </p:extLst>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a:extLst>
              <a:ext uri="{FF2B5EF4-FFF2-40B4-BE49-F238E27FC236}">
                <a16:creationId xmlns:a16="http://schemas.microsoft.com/office/drawing/2014/main" id="{2A754655-9B68-7226-F974-3A396F664AAE}"/>
              </a:ext>
            </a:extLst>
          </p:cNvPr>
          <p:cNvSpPr>
            <a:spLocks noGrp="1"/>
          </p:cNvSpPr>
          <p:nvPr>
            <p:ph type="sldNum" sz="quarter" idx="4294967295"/>
          </p:nvPr>
        </p:nvSpPr>
        <p:spPr>
          <a:xfrm>
            <a:off x="841248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3"/>
                </a:solidFill>
              </a:defRPr>
            </a:lvl1pPr>
          </a:lstStyle>
          <a:p>
            <a:pPr algn="r"/>
            <a:fld id="{F7021451-1387-4CA6-816F-3879F97B5CBC}" type="slidenum">
              <a:rPr lang="en-US" b="0"/>
              <a:t>29</a:t>
            </a:fld>
            <a:endParaRPr lang="en-US"/>
          </a:p>
        </p:txBody>
      </p:sp>
      <p:sp>
        <p:nvSpPr>
          <p:cNvPr id="2" name="Text 0">
            <a:extLst>
              <a:ext uri="{FF2B5EF4-FFF2-40B4-BE49-F238E27FC236}">
                <a16:creationId xmlns:a16="http://schemas.microsoft.com/office/drawing/2014/main" id="{C1DADC6E-9031-3DD6-7882-76A491A01245}"/>
              </a:ext>
            </a:extLst>
          </p:cNvPr>
          <p:cNvSpPr>
            <a:spLocks noGrp="1"/>
          </p:cNvSpPr>
          <p:nvPr>
            <p:ph type="title" idx="100" hasCustomPrompt="1"/>
          </p:nvPr>
        </p:nvSpPr>
        <p:spPr>
          <a:xfrm>
            <a:off x="457200" y="256032"/>
            <a:ext cx="8229600" cy="685800"/>
          </a:xfrm>
          <a:prstGeom prst="rect">
            <a:avLst/>
          </a:prstGeom>
          <a:noFill/>
          <a:ln/>
        </p:spPr>
        <p:txBody>
          <a:bodyPr wrap="square" lIns="0" tIns="0" rIns="0" bIns="0" rtlCol="0" anchor="ctr"/>
          <a:lstStyle/>
          <a:p>
            <a:pPr marL="0" indent="0" algn="ctr">
              <a:buNone/>
            </a:pPr>
            <a:r>
              <a:rPr lang="en-US" sz="3400" b="1" dirty="0">
                <a:solidFill>
                  <a:schemeClr val="tx2"/>
                </a:solidFill>
              </a:rPr>
              <a:t>One assignment, redesigned</a:t>
            </a:r>
            <a:endParaRPr lang="en-US" sz="3400" dirty="0"/>
          </a:p>
        </p:txBody>
      </p:sp>
      <p:sp>
        <p:nvSpPr>
          <p:cNvPr id="26" name="Subtitle"/>
          <p:cNvSpPr txBox="1"/>
          <p:nvPr/>
        </p:nvSpPr>
        <p:spPr>
          <a:xfrm>
            <a:off x="457200" y="914400"/>
            <a:ext cx="8229600" cy="292608"/>
          </a:xfrm>
          <a:prstGeom prst="rect">
            <a:avLst/>
          </a:prstGeom>
          <a:noFill/>
        </p:spPr>
        <p:txBody>
          <a:bodyPr wrap="square" lIns="36576" tIns="18288" rIns="36576" bIns="18288" anchor="ctr">
            <a:spAutoFit/>
          </a:bodyPr>
          <a:lstStyle/>
          <a:p>
            <a:pPr algn="ctr"/>
            <a:r>
              <a:rPr sz="1400" b="0" i="1">
                <a:solidFill>
                  <a:srgbClr val="5F6362"/>
                </a:solidFill>
                <a:latin typeface="Calibri"/>
              </a:rPr>
              <a:t>The original bundle</a:t>
            </a:r>
          </a:p>
        </p:txBody>
      </p:sp>
      <p:sp>
        <p:nvSpPr>
          <p:cNvPr id="27" name="Step 1"/>
          <p:cNvSpPr/>
          <p:nvPr/>
        </p:nvSpPr>
        <p:spPr>
          <a:xfrm>
            <a:off x="457200" y="1691640"/>
            <a:ext cx="822960" cy="822960"/>
          </a:xfrm>
          <a:prstGeom prst="roundRect">
            <a:avLst>
              <a:gd name="adj" fmla="val 8888"/>
            </a:avLst>
          </a:prstGeom>
          <a:solidFill>
            <a:srgbClr val="E3ECE6"/>
          </a:solidFill>
          <a:ln w="15875">
            <a:solidFill>
              <a:srgbClr val="C9CCC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Step 1 label"/>
          <p:cNvSpPr txBox="1"/>
          <p:nvPr/>
        </p:nvSpPr>
        <p:spPr>
          <a:xfrm>
            <a:off x="457200" y="1691640"/>
            <a:ext cx="822960" cy="822960"/>
          </a:xfrm>
          <a:prstGeom prst="rect">
            <a:avLst/>
          </a:prstGeom>
          <a:noFill/>
        </p:spPr>
        <p:txBody>
          <a:bodyPr wrap="square" lIns="36576" tIns="18288" rIns="36576" bIns="18288" anchor="ctr">
            <a:spAutoFit/>
          </a:bodyPr>
          <a:lstStyle/>
          <a:p>
            <a:pPr algn="ctr"/>
            <a:r>
              <a:rPr sz="1300" b="0" i="0">
                <a:solidFill>
                  <a:srgbClr val="1A1A1A"/>
                </a:solidFill>
                <a:latin typeface="Calibri"/>
              </a:rPr>
              <a:t>Class context</a:t>
            </a:r>
          </a:p>
        </p:txBody>
      </p:sp>
      <p:sp>
        <p:nvSpPr>
          <p:cNvPr id="29" name="Arrow 1"/>
          <p:cNvSpPr/>
          <p:nvPr/>
        </p:nvSpPr>
        <p:spPr>
          <a:xfrm>
            <a:off x="1298448" y="2039112"/>
            <a:ext cx="68580" cy="128016"/>
          </a:xfrm>
          <a:prstGeom prst="chevron">
            <a:avLst/>
          </a:prstGeom>
          <a:solidFill>
            <a:srgbClr val="C9C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Step 2"/>
          <p:cNvSpPr/>
          <p:nvPr/>
        </p:nvSpPr>
        <p:spPr>
          <a:xfrm>
            <a:off x="1383030" y="1691640"/>
            <a:ext cx="822960" cy="822960"/>
          </a:xfrm>
          <a:prstGeom prst="roundRect">
            <a:avLst>
              <a:gd name="adj" fmla="val 8888"/>
            </a:avLst>
          </a:prstGeom>
          <a:solidFill>
            <a:srgbClr val="E3ECE6"/>
          </a:solidFill>
          <a:ln w="15875">
            <a:solidFill>
              <a:srgbClr val="C9CCC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Step 2 label"/>
          <p:cNvSpPr txBox="1"/>
          <p:nvPr/>
        </p:nvSpPr>
        <p:spPr>
          <a:xfrm>
            <a:off x="1383030" y="1691640"/>
            <a:ext cx="822960" cy="822960"/>
          </a:xfrm>
          <a:prstGeom prst="rect">
            <a:avLst/>
          </a:prstGeom>
          <a:noFill/>
        </p:spPr>
        <p:txBody>
          <a:bodyPr wrap="square" lIns="36576" tIns="18288" rIns="36576" bIns="18288" anchor="ctr">
            <a:spAutoFit/>
          </a:bodyPr>
          <a:lstStyle/>
          <a:p>
            <a:pPr algn="ctr"/>
            <a:r>
              <a:rPr sz="1300" b="0" i="0">
                <a:solidFill>
                  <a:srgbClr val="1A1A1A"/>
                </a:solidFill>
                <a:latin typeface="Calibri"/>
              </a:rPr>
              <a:t>Lesson plan</a:t>
            </a:r>
          </a:p>
        </p:txBody>
      </p:sp>
      <p:sp>
        <p:nvSpPr>
          <p:cNvPr id="32" name="Arrow 2"/>
          <p:cNvSpPr/>
          <p:nvPr/>
        </p:nvSpPr>
        <p:spPr>
          <a:xfrm>
            <a:off x="2224278" y="2039112"/>
            <a:ext cx="68580" cy="128016"/>
          </a:xfrm>
          <a:prstGeom prst="chevron">
            <a:avLst/>
          </a:prstGeom>
          <a:solidFill>
            <a:srgbClr val="C9C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Step 3 (empty)"/>
          <p:cNvSpPr/>
          <p:nvPr/>
        </p:nvSpPr>
        <p:spPr>
          <a:xfrm>
            <a:off x="2308860" y="1691640"/>
            <a:ext cx="822960" cy="822960"/>
          </a:xfrm>
          <a:prstGeom prst="roundRect">
            <a:avLst>
              <a:gd name="adj" fmla="val 8888"/>
            </a:avLst>
          </a:prstGeom>
          <a:noFill/>
          <a:ln w="15875">
            <a:solidFill>
              <a:srgbClr val="C9CCC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Arrow 3"/>
          <p:cNvSpPr/>
          <p:nvPr/>
        </p:nvSpPr>
        <p:spPr>
          <a:xfrm>
            <a:off x="3150108" y="2039112"/>
            <a:ext cx="68580" cy="128016"/>
          </a:xfrm>
          <a:prstGeom prst="chevron">
            <a:avLst/>
          </a:prstGeom>
          <a:solidFill>
            <a:srgbClr val="C9C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Step 4 (empty)"/>
          <p:cNvSpPr/>
          <p:nvPr/>
        </p:nvSpPr>
        <p:spPr>
          <a:xfrm>
            <a:off x="3234689" y="1691640"/>
            <a:ext cx="822960" cy="822960"/>
          </a:xfrm>
          <a:prstGeom prst="roundRect">
            <a:avLst>
              <a:gd name="adj" fmla="val 8888"/>
            </a:avLst>
          </a:prstGeom>
          <a:noFill/>
          <a:ln w="15875">
            <a:solidFill>
              <a:srgbClr val="C9CCC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Arrow 4"/>
          <p:cNvSpPr/>
          <p:nvPr/>
        </p:nvSpPr>
        <p:spPr>
          <a:xfrm>
            <a:off x="4075937" y="2039112"/>
            <a:ext cx="68580" cy="128016"/>
          </a:xfrm>
          <a:prstGeom prst="chevron">
            <a:avLst/>
          </a:prstGeom>
          <a:solidFill>
            <a:srgbClr val="C9C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Step 5 (empty)"/>
          <p:cNvSpPr/>
          <p:nvPr/>
        </p:nvSpPr>
        <p:spPr>
          <a:xfrm>
            <a:off x="4160520" y="1691640"/>
            <a:ext cx="822960" cy="822960"/>
          </a:xfrm>
          <a:prstGeom prst="roundRect">
            <a:avLst>
              <a:gd name="adj" fmla="val 8888"/>
            </a:avLst>
          </a:prstGeom>
          <a:noFill/>
          <a:ln w="15875">
            <a:solidFill>
              <a:srgbClr val="C9CCC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Arrow 5"/>
          <p:cNvSpPr/>
          <p:nvPr/>
        </p:nvSpPr>
        <p:spPr>
          <a:xfrm>
            <a:off x="5001768" y="2039112"/>
            <a:ext cx="68580" cy="128016"/>
          </a:xfrm>
          <a:prstGeom prst="chevron">
            <a:avLst/>
          </a:prstGeom>
          <a:solidFill>
            <a:srgbClr val="C9C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Step 6 (empty)"/>
          <p:cNvSpPr/>
          <p:nvPr/>
        </p:nvSpPr>
        <p:spPr>
          <a:xfrm>
            <a:off x="5086350" y="1691640"/>
            <a:ext cx="822960" cy="822960"/>
          </a:xfrm>
          <a:prstGeom prst="roundRect">
            <a:avLst>
              <a:gd name="adj" fmla="val 8888"/>
            </a:avLst>
          </a:prstGeom>
          <a:noFill/>
          <a:ln w="15875">
            <a:solidFill>
              <a:srgbClr val="C9CCC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Arrow 6"/>
          <p:cNvSpPr/>
          <p:nvPr/>
        </p:nvSpPr>
        <p:spPr>
          <a:xfrm>
            <a:off x="5927598" y="2039112"/>
            <a:ext cx="68580" cy="128016"/>
          </a:xfrm>
          <a:prstGeom prst="chevron">
            <a:avLst/>
          </a:prstGeom>
          <a:solidFill>
            <a:srgbClr val="C9C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Step 7"/>
          <p:cNvSpPr/>
          <p:nvPr/>
        </p:nvSpPr>
        <p:spPr>
          <a:xfrm>
            <a:off x="6012179" y="1691640"/>
            <a:ext cx="822960" cy="822960"/>
          </a:xfrm>
          <a:prstGeom prst="roundRect">
            <a:avLst>
              <a:gd name="adj" fmla="val 8888"/>
            </a:avLst>
          </a:prstGeom>
          <a:solidFill>
            <a:srgbClr val="E3ECE6"/>
          </a:solidFill>
          <a:ln w="15875">
            <a:solidFill>
              <a:srgbClr val="C9CCC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Step 7 label"/>
          <p:cNvSpPr txBox="1"/>
          <p:nvPr/>
        </p:nvSpPr>
        <p:spPr>
          <a:xfrm>
            <a:off x="6012179" y="1691640"/>
            <a:ext cx="822960" cy="822960"/>
          </a:xfrm>
          <a:prstGeom prst="rect">
            <a:avLst/>
          </a:prstGeom>
          <a:noFill/>
        </p:spPr>
        <p:txBody>
          <a:bodyPr wrap="square" lIns="36576" tIns="18288" rIns="36576" bIns="18288" anchor="ctr">
            <a:spAutoFit/>
          </a:bodyPr>
          <a:lstStyle/>
          <a:p>
            <a:pPr algn="ctr"/>
            <a:r>
              <a:rPr sz="1300" b="0" i="0">
                <a:solidFill>
                  <a:srgbClr val="1A1A1A"/>
                </a:solidFill>
                <a:latin typeface="Calibri"/>
              </a:rPr>
              <a:t>Rationale</a:t>
            </a:r>
          </a:p>
        </p:txBody>
      </p:sp>
      <p:sp>
        <p:nvSpPr>
          <p:cNvPr id="43" name="Arrow 7"/>
          <p:cNvSpPr/>
          <p:nvPr/>
        </p:nvSpPr>
        <p:spPr>
          <a:xfrm>
            <a:off x="6853427" y="2039112"/>
            <a:ext cx="68580" cy="128016"/>
          </a:xfrm>
          <a:prstGeom prst="chevron">
            <a:avLst/>
          </a:prstGeom>
          <a:solidFill>
            <a:srgbClr val="C9C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Step 8"/>
          <p:cNvSpPr/>
          <p:nvPr/>
        </p:nvSpPr>
        <p:spPr>
          <a:xfrm>
            <a:off x="6938009" y="1691640"/>
            <a:ext cx="822960" cy="822960"/>
          </a:xfrm>
          <a:prstGeom prst="roundRect">
            <a:avLst>
              <a:gd name="adj" fmla="val 8888"/>
            </a:avLst>
          </a:prstGeom>
          <a:solidFill>
            <a:srgbClr val="E3ECE6"/>
          </a:solidFill>
          <a:ln w="15875">
            <a:solidFill>
              <a:srgbClr val="C9CCC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Step 8 label"/>
          <p:cNvSpPr txBox="1"/>
          <p:nvPr/>
        </p:nvSpPr>
        <p:spPr>
          <a:xfrm>
            <a:off x="6938009" y="1691640"/>
            <a:ext cx="822960" cy="822960"/>
          </a:xfrm>
          <a:prstGeom prst="rect">
            <a:avLst/>
          </a:prstGeom>
          <a:noFill/>
        </p:spPr>
        <p:txBody>
          <a:bodyPr wrap="square" lIns="36576" tIns="18288" rIns="36576" bIns="18288" anchor="ctr">
            <a:spAutoFit/>
          </a:bodyPr>
          <a:lstStyle/>
          <a:p>
            <a:pPr algn="ctr"/>
            <a:r>
              <a:rPr sz="1300" b="0" i="0">
                <a:solidFill>
                  <a:srgbClr val="1A1A1A"/>
                </a:solidFill>
                <a:latin typeface="Calibri"/>
              </a:rPr>
              <a:t>Teacher resource</a:t>
            </a:r>
          </a:p>
        </p:txBody>
      </p:sp>
      <p:sp>
        <p:nvSpPr>
          <p:cNvPr id="46" name="Arrow 8"/>
          <p:cNvSpPr/>
          <p:nvPr/>
        </p:nvSpPr>
        <p:spPr>
          <a:xfrm>
            <a:off x="7779257" y="2039112"/>
            <a:ext cx="68580" cy="128016"/>
          </a:xfrm>
          <a:prstGeom prst="chevron">
            <a:avLst/>
          </a:prstGeom>
          <a:solidFill>
            <a:srgbClr val="C9C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Step 9"/>
          <p:cNvSpPr/>
          <p:nvPr/>
        </p:nvSpPr>
        <p:spPr>
          <a:xfrm>
            <a:off x="7863840" y="1691640"/>
            <a:ext cx="822960" cy="822960"/>
          </a:xfrm>
          <a:prstGeom prst="roundRect">
            <a:avLst>
              <a:gd name="adj" fmla="val 8888"/>
            </a:avLst>
          </a:prstGeom>
          <a:solidFill>
            <a:srgbClr val="E3ECE6"/>
          </a:solidFill>
          <a:ln w="15875">
            <a:solidFill>
              <a:srgbClr val="C9CCC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Step 9 label"/>
          <p:cNvSpPr txBox="1"/>
          <p:nvPr/>
        </p:nvSpPr>
        <p:spPr>
          <a:xfrm>
            <a:off x="7863840" y="1691640"/>
            <a:ext cx="822960" cy="822960"/>
          </a:xfrm>
          <a:prstGeom prst="rect">
            <a:avLst/>
          </a:prstGeom>
          <a:noFill/>
        </p:spPr>
        <p:txBody>
          <a:bodyPr wrap="square" lIns="36576" tIns="18288" rIns="36576" bIns="18288" anchor="ctr">
            <a:spAutoFit/>
          </a:bodyPr>
          <a:lstStyle/>
          <a:p>
            <a:pPr algn="ctr"/>
            <a:r>
              <a:rPr sz="1300" b="0" i="0">
                <a:solidFill>
                  <a:srgbClr val="1A1A1A"/>
                </a:solidFill>
                <a:latin typeface="Calibri"/>
              </a:rPr>
              <a:t>Strategy Book entry</a:t>
            </a:r>
          </a:p>
        </p:txBody>
      </p:sp>
      <p:sp>
        <p:nvSpPr>
          <p:cNvPr id="49" name="Caption"/>
          <p:cNvSpPr txBox="1"/>
          <p:nvPr/>
        </p:nvSpPr>
        <p:spPr>
          <a:xfrm>
            <a:off x="457200" y="3017520"/>
            <a:ext cx="8229600" cy="457200"/>
          </a:xfrm>
          <a:prstGeom prst="rect">
            <a:avLst/>
          </a:prstGeom>
          <a:noFill/>
        </p:spPr>
        <p:txBody>
          <a:bodyPr wrap="square" lIns="36576" tIns="18288" rIns="36576" bIns="18288" anchor="ctr">
            <a:spAutoFit/>
          </a:bodyPr>
          <a:lstStyle/>
          <a:p>
            <a:pPr algn="ctr"/>
            <a:r>
              <a:rPr sz="1800" b="0" i="0">
                <a:solidFill>
                  <a:srgbClr val="5F6362"/>
                </a:solidFill>
                <a:latin typeface="Calibri"/>
              </a:rPr>
              <a:t>A lesson plan written once, then justified.</a:t>
            </a:r>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a:extLst>
              <a:ext uri="{FF2B5EF4-FFF2-40B4-BE49-F238E27FC236}">
                <a16:creationId xmlns:a16="http://schemas.microsoft.com/office/drawing/2014/main" id="{2A754655-9B68-7226-F974-3A396F664AAE}"/>
              </a:ext>
            </a:extLst>
          </p:cNvPr>
          <p:cNvSpPr>
            <a:spLocks noGrp="1"/>
          </p:cNvSpPr>
          <p:nvPr>
            <p:ph type="sldNum" sz="quarter" idx="4294967295"/>
          </p:nvPr>
        </p:nvSpPr>
        <p:spPr>
          <a:xfrm>
            <a:off x="841248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3"/>
                </a:solidFill>
              </a:defRPr>
            </a:lvl1pPr>
          </a:lstStyle>
          <a:p>
            <a:pPr algn="r"/>
            <a:fld id="{F7021451-1387-4CA6-816F-3879F97B5CBC}" type="slidenum">
              <a:rPr lang="en-US" b="0"/>
              <a:t>30</a:t>
            </a:fld>
            <a:endParaRPr lang="en-US"/>
          </a:p>
        </p:txBody>
      </p:sp>
      <p:sp>
        <p:nvSpPr>
          <p:cNvPr id="2" name="Text 0">
            <a:extLst>
              <a:ext uri="{FF2B5EF4-FFF2-40B4-BE49-F238E27FC236}">
                <a16:creationId xmlns:a16="http://schemas.microsoft.com/office/drawing/2014/main" id="{C1DADC6E-9031-3DD6-7882-76A491A01245}"/>
              </a:ext>
            </a:extLst>
          </p:cNvPr>
          <p:cNvSpPr>
            <a:spLocks noGrp="1"/>
          </p:cNvSpPr>
          <p:nvPr>
            <p:ph type="title" idx="100" hasCustomPrompt="1"/>
          </p:nvPr>
        </p:nvSpPr>
        <p:spPr>
          <a:xfrm>
            <a:off x="457200" y="256032"/>
            <a:ext cx="8229600" cy="685800"/>
          </a:xfrm>
          <a:prstGeom prst="rect">
            <a:avLst/>
          </a:prstGeom>
          <a:noFill/>
          <a:ln/>
        </p:spPr>
        <p:txBody>
          <a:bodyPr wrap="square" lIns="0" tIns="0" rIns="0" bIns="0" rtlCol="0" anchor="ctr"/>
          <a:lstStyle/>
          <a:p>
            <a:pPr marL="0" indent="0" algn="ctr">
              <a:buNone/>
            </a:pPr>
            <a:r>
              <a:rPr lang="en-US" sz="3400" b="1" dirty="0">
                <a:solidFill>
                  <a:schemeClr val="tx2"/>
                </a:solidFill>
              </a:rPr>
              <a:t>One assignment, redesigned</a:t>
            </a:r>
            <a:endParaRPr lang="en-US" sz="3400" dirty="0"/>
          </a:p>
        </p:txBody>
      </p:sp>
      <p:sp>
        <p:nvSpPr>
          <p:cNvPr id="26" name="Subtitle"/>
          <p:cNvSpPr txBox="1"/>
          <p:nvPr/>
        </p:nvSpPr>
        <p:spPr>
          <a:xfrm>
            <a:off x="457200" y="914400"/>
            <a:ext cx="8229600" cy="292608"/>
          </a:xfrm>
          <a:prstGeom prst="rect">
            <a:avLst/>
          </a:prstGeom>
          <a:noFill/>
        </p:spPr>
        <p:txBody>
          <a:bodyPr wrap="square" lIns="36576" tIns="18288" rIns="36576" bIns="18288" anchor="ctr">
            <a:spAutoFit/>
          </a:bodyPr>
          <a:lstStyle/>
          <a:p>
            <a:pPr algn="ctr"/>
            <a:r>
              <a:rPr sz="1400" b="0" i="1">
                <a:solidFill>
                  <a:srgbClr val="5F6362"/>
                </a:solidFill>
                <a:latin typeface="Calibri"/>
              </a:rPr>
              <a:t>What I added: drafts, coaching, and reflection on the thinking</a:t>
            </a:r>
          </a:p>
        </p:txBody>
      </p:sp>
      <p:sp>
        <p:nvSpPr>
          <p:cNvPr id="27" name="Step 1"/>
          <p:cNvSpPr/>
          <p:nvPr/>
        </p:nvSpPr>
        <p:spPr>
          <a:xfrm>
            <a:off x="457200" y="1691640"/>
            <a:ext cx="822960" cy="822960"/>
          </a:xfrm>
          <a:prstGeom prst="roundRect">
            <a:avLst>
              <a:gd name="adj" fmla="val 8888"/>
            </a:avLst>
          </a:prstGeom>
          <a:solidFill>
            <a:srgbClr val="E3ECE6"/>
          </a:solidFill>
          <a:ln w="15875">
            <a:solidFill>
              <a:srgbClr val="C9CCC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Step 1 label"/>
          <p:cNvSpPr txBox="1"/>
          <p:nvPr/>
        </p:nvSpPr>
        <p:spPr>
          <a:xfrm>
            <a:off x="457200" y="1691640"/>
            <a:ext cx="822960" cy="822960"/>
          </a:xfrm>
          <a:prstGeom prst="rect">
            <a:avLst/>
          </a:prstGeom>
          <a:noFill/>
        </p:spPr>
        <p:txBody>
          <a:bodyPr wrap="square" lIns="36576" tIns="18288" rIns="36576" bIns="18288" anchor="ctr">
            <a:spAutoFit/>
          </a:bodyPr>
          <a:lstStyle/>
          <a:p>
            <a:pPr algn="ctr"/>
            <a:r>
              <a:rPr sz="1200" b="0" i="0">
                <a:solidFill>
                  <a:srgbClr val="1A1A1A"/>
                </a:solidFill>
                <a:latin typeface="Calibri"/>
              </a:rPr>
              <a:t>Class context</a:t>
            </a:r>
          </a:p>
        </p:txBody>
      </p:sp>
      <p:sp>
        <p:nvSpPr>
          <p:cNvPr id="29" name="Arrow 1"/>
          <p:cNvSpPr/>
          <p:nvPr/>
        </p:nvSpPr>
        <p:spPr>
          <a:xfrm>
            <a:off x="1298448" y="2039112"/>
            <a:ext cx="68580" cy="128016"/>
          </a:xfrm>
          <a:prstGeom prst="chevron">
            <a:avLst/>
          </a:prstGeom>
          <a:solidFill>
            <a:srgbClr val="C9C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Step 2"/>
          <p:cNvSpPr/>
          <p:nvPr/>
        </p:nvSpPr>
        <p:spPr>
          <a:xfrm>
            <a:off x="1383030" y="1691640"/>
            <a:ext cx="822960" cy="822960"/>
          </a:xfrm>
          <a:prstGeom prst="roundRect">
            <a:avLst>
              <a:gd name="adj" fmla="val 8888"/>
            </a:avLst>
          </a:prstGeom>
          <a:solidFill>
            <a:srgbClr val="FFB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Step 2 label"/>
          <p:cNvSpPr txBox="1"/>
          <p:nvPr/>
        </p:nvSpPr>
        <p:spPr>
          <a:xfrm>
            <a:off x="1383030" y="1691640"/>
            <a:ext cx="822960" cy="822960"/>
          </a:xfrm>
          <a:prstGeom prst="rect">
            <a:avLst/>
          </a:prstGeom>
          <a:noFill/>
        </p:spPr>
        <p:txBody>
          <a:bodyPr wrap="square" lIns="36576" tIns="18288" rIns="36576" bIns="18288" anchor="ctr">
            <a:spAutoFit/>
          </a:bodyPr>
          <a:lstStyle/>
          <a:p>
            <a:pPr algn="ctr"/>
            <a:r>
              <a:rPr sz="1200" b="1" i="0">
                <a:solidFill>
                  <a:srgbClr val="154734"/>
                </a:solidFill>
                <a:latin typeface="Calibri"/>
              </a:rPr>
              <a:t>Draft 1 + self-check</a:t>
            </a:r>
          </a:p>
        </p:txBody>
      </p:sp>
      <p:sp>
        <p:nvSpPr>
          <p:cNvPr id="32" name="Arrow 2"/>
          <p:cNvSpPr/>
          <p:nvPr/>
        </p:nvSpPr>
        <p:spPr>
          <a:xfrm>
            <a:off x="2224278" y="2039112"/>
            <a:ext cx="68580" cy="128016"/>
          </a:xfrm>
          <a:prstGeom prst="chevron">
            <a:avLst/>
          </a:prstGeom>
          <a:solidFill>
            <a:srgbClr val="C9C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Step 3"/>
          <p:cNvSpPr/>
          <p:nvPr/>
        </p:nvSpPr>
        <p:spPr>
          <a:xfrm>
            <a:off x="2308860" y="1691640"/>
            <a:ext cx="822960" cy="822960"/>
          </a:xfrm>
          <a:prstGeom prst="roundRect">
            <a:avLst>
              <a:gd name="adj" fmla="val 8888"/>
            </a:avLst>
          </a:prstGeom>
          <a:solidFill>
            <a:srgbClr val="FFB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Step 3 label"/>
          <p:cNvSpPr txBox="1"/>
          <p:nvPr/>
        </p:nvSpPr>
        <p:spPr>
          <a:xfrm>
            <a:off x="2308860" y="1691640"/>
            <a:ext cx="822960" cy="822960"/>
          </a:xfrm>
          <a:prstGeom prst="rect">
            <a:avLst/>
          </a:prstGeom>
          <a:noFill/>
        </p:spPr>
        <p:txBody>
          <a:bodyPr wrap="square" lIns="36576" tIns="18288" rIns="36576" bIns="18288" anchor="ctr">
            <a:spAutoFit/>
          </a:bodyPr>
          <a:lstStyle/>
          <a:p>
            <a:pPr algn="ctr"/>
            <a:r>
              <a:rPr sz="1200" b="1" i="0">
                <a:solidFill>
                  <a:srgbClr val="154734"/>
                </a:solidFill>
                <a:latin typeface="Calibri"/>
              </a:rPr>
              <a:t>Coach: alignment</a:t>
            </a:r>
          </a:p>
        </p:txBody>
      </p:sp>
      <p:sp>
        <p:nvSpPr>
          <p:cNvPr id="35" name="Arrow 3"/>
          <p:cNvSpPr/>
          <p:nvPr/>
        </p:nvSpPr>
        <p:spPr>
          <a:xfrm>
            <a:off x="3150108" y="2039112"/>
            <a:ext cx="68580" cy="128016"/>
          </a:xfrm>
          <a:prstGeom prst="chevron">
            <a:avLst/>
          </a:prstGeom>
          <a:solidFill>
            <a:srgbClr val="C9C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Step 4"/>
          <p:cNvSpPr/>
          <p:nvPr/>
        </p:nvSpPr>
        <p:spPr>
          <a:xfrm>
            <a:off x="3234689" y="1691640"/>
            <a:ext cx="822960" cy="822960"/>
          </a:xfrm>
          <a:prstGeom prst="roundRect">
            <a:avLst>
              <a:gd name="adj" fmla="val 8888"/>
            </a:avLst>
          </a:prstGeom>
          <a:solidFill>
            <a:srgbClr val="FFB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Step 4 label"/>
          <p:cNvSpPr txBox="1"/>
          <p:nvPr/>
        </p:nvSpPr>
        <p:spPr>
          <a:xfrm>
            <a:off x="3234689" y="1691640"/>
            <a:ext cx="822960" cy="822960"/>
          </a:xfrm>
          <a:prstGeom prst="rect">
            <a:avLst/>
          </a:prstGeom>
          <a:noFill/>
        </p:spPr>
        <p:txBody>
          <a:bodyPr wrap="square" lIns="36576" tIns="18288" rIns="36576" bIns="18288" anchor="ctr">
            <a:spAutoFit/>
          </a:bodyPr>
          <a:lstStyle/>
          <a:p>
            <a:pPr algn="ctr"/>
            <a:r>
              <a:rPr sz="1200" b="1" i="0">
                <a:solidFill>
                  <a:srgbClr val="154734"/>
                </a:solidFill>
                <a:latin typeface="Calibri"/>
              </a:rPr>
              <a:t>Revise + reflect</a:t>
            </a:r>
          </a:p>
        </p:txBody>
      </p:sp>
      <p:sp>
        <p:nvSpPr>
          <p:cNvPr id="38" name="Arrow 4"/>
          <p:cNvSpPr/>
          <p:nvPr/>
        </p:nvSpPr>
        <p:spPr>
          <a:xfrm>
            <a:off x="4075937" y="2039112"/>
            <a:ext cx="68580" cy="128016"/>
          </a:xfrm>
          <a:prstGeom prst="chevron">
            <a:avLst/>
          </a:prstGeom>
          <a:solidFill>
            <a:srgbClr val="C9C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Step 5"/>
          <p:cNvSpPr/>
          <p:nvPr/>
        </p:nvSpPr>
        <p:spPr>
          <a:xfrm>
            <a:off x="4160520" y="1691640"/>
            <a:ext cx="822960" cy="822960"/>
          </a:xfrm>
          <a:prstGeom prst="roundRect">
            <a:avLst>
              <a:gd name="adj" fmla="val 8888"/>
            </a:avLst>
          </a:prstGeom>
          <a:solidFill>
            <a:srgbClr val="FFB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Step 5 label"/>
          <p:cNvSpPr txBox="1"/>
          <p:nvPr/>
        </p:nvSpPr>
        <p:spPr>
          <a:xfrm>
            <a:off x="4160520" y="1691640"/>
            <a:ext cx="822960" cy="822960"/>
          </a:xfrm>
          <a:prstGeom prst="rect">
            <a:avLst/>
          </a:prstGeom>
          <a:noFill/>
        </p:spPr>
        <p:txBody>
          <a:bodyPr wrap="square" lIns="36576" tIns="18288" rIns="36576" bIns="18288" anchor="ctr">
            <a:spAutoFit/>
          </a:bodyPr>
          <a:lstStyle/>
          <a:p>
            <a:pPr algn="ctr"/>
            <a:r>
              <a:rPr sz="1200" b="1" i="0">
                <a:solidFill>
                  <a:srgbClr val="154734"/>
                </a:solidFill>
                <a:latin typeface="Calibri"/>
              </a:rPr>
              <a:t>Coach: sequencing</a:t>
            </a:r>
          </a:p>
        </p:txBody>
      </p:sp>
      <p:sp>
        <p:nvSpPr>
          <p:cNvPr id="41" name="Arrow 5"/>
          <p:cNvSpPr/>
          <p:nvPr/>
        </p:nvSpPr>
        <p:spPr>
          <a:xfrm>
            <a:off x="5001768" y="2039112"/>
            <a:ext cx="68580" cy="128016"/>
          </a:xfrm>
          <a:prstGeom prst="chevron">
            <a:avLst/>
          </a:prstGeom>
          <a:solidFill>
            <a:srgbClr val="C9C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Step 6"/>
          <p:cNvSpPr/>
          <p:nvPr/>
        </p:nvSpPr>
        <p:spPr>
          <a:xfrm>
            <a:off x="5086350" y="1691640"/>
            <a:ext cx="822960" cy="822960"/>
          </a:xfrm>
          <a:prstGeom prst="roundRect">
            <a:avLst>
              <a:gd name="adj" fmla="val 8888"/>
            </a:avLst>
          </a:prstGeom>
          <a:solidFill>
            <a:srgbClr val="FFB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Step 6 label"/>
          <p:cNvSpPr txBox="1"/>
          <p:nvPr/>
        </p:nvSpPr>
        <p:spPr>
          <a:xfrm>
            <a:off x="5086350" y="1691640"/>
            <a:ext cx="822960" cy="822960"/>
          </a:xfrm>
          <a:prstGeom prst="rect">
            <a:avLst/>
          </a:prstGeom>
          <a:noFill/>
        </p:spPr>
        <p:txBody>
          <a:bodyPr wrap="square" lIns="36576" tIns="18288" rIns="36576" bIns="18288" anchor="ctr">
            <a:spAutoFit/>
          </a:bodyPr>
          <a:lstStyle/>
          <a:p>
            <a:pPr algn="ctr"/>
            <a:r>
              <a:rPr sz="1200" b="1" i="0">
                <a:solidFill>
                  <a:srgbClr val="154734"/>
                </a:solidFill>
                <a:latin typeface="Calibri"/>
              </a:rPr>
              <a:t>Revise + reflect</a:t>
            </a:r>
          </a:p>
        </p:txBody>
      </p:sp>
      <p:sp>
        <p:nvSpPr>
          <p:cNvPr id="44" name="Arrow 6"/>
          <p:cNvSpPr/>
          <p:nvPr/>
        </p:nvSpPr>
        <p:spPr>
          <a:xfrm>
            <a:off x="5927598" y="2039112"/>
            <a:ext cx="68580" cy="128016"/>
          </a:xfrm>
          <a:prstGeom prst="chevron">
            <a:avLst/>
          </a:prstGeom>
          <a:solidFill>
            <a:srgbClr val="C9C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Step 7"/>
          <p:cNvSpPr/>
          <p:nvPr/>
        </p:nvSpPr>
        <p:spPr>
          <a:xfrm>
            <a:off x="6012179" y="1691640"/>
            <a:ext cx="822960" cy="822960"/>
          </a:xfrm>
          <a:prstGeom prst="roundRect">
            <a:avLst>
              <a:gd name="adj" fmla="val 8888"/>
            </a:avLst>
          </a:prstGeom>
          <a:solidFill>
            <a:srgbClr val="FFB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Step 7 label"/>
          <p:cNvSpPr txBox="1"/>
          <p:nvPr/>
        </p:nvSpPr>
        <p:spPr>
          <a:xfrm>
            <a:off x="6012179" y="1691640"/>
            <a:ext cx="822960" cy="822960"/>
          </a:xfrm>
          <a:prstGeom prst="rect">
            <a:avLst/>
          </a:prstGeom>
          <a:noFill/>
        </p:spPr>
        <p:txBody>
          <a:bodyPr wrap="square" lIns="36576" tIns="18288" rIns="36576" bIns="18288" anchor="ctr">
            <a:spAutoFit/>
          </a:bodyPr>
          <a:lstStyle/>
          <a:p>
            <a:pPr algn="ctr"/>
            <a:r>
              <a:rPr sz="1200" b="1" i="0">
                <a:solidFill>
                  <a:srgbClr val="154734"/>
                </a:solidFill>
                <a:latin typeface="Calibri"/>
              </a:rPr>
              <a:t>Peer discussion</a:t>
            </a:r>
          </a:p>
        </p:txBody>
      </p:sp>
      <p:sp>
        <p:nvSpPr>
          <p:cNvPr id="47" name="Arrow 7"/>
          <p:cNvSpPr/>
          <p:nvPr/>
        </p:nvSpPr>
        <p:spPr>
          <a:xfrm>
            <a:off x="6853427" y="2039112"/>
            <a:ext cx="68580" cy="128016"/>
          </a:xfrm>
          <a:prstGeom prst="chevron">
            <a:avLst/>
          </a:prstGeom>
          <a:solidFill>
            <a:srgbClr val="C9C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Step 8"/>
          <p:cNvSpPr/>
          <p:nvPr/>
        </p:nvSpPr>
        <p:spPr>
          <a:xfrm>
            <a:off x="6938009" y="1691640"/>
            <a:ext cx="822960" cy="822960"/>
          </a:xfrm>
          <a:prstGeom prst="roundRect">
            <a:avLst>
              <a:gd name="adj" fmla="val 8888"/>
            </a:avLst>
          </a:prstGeom>
          <a:solidFill>
            <a:srgbClr val="E3ECE6"/>
          </a:solidFill>
          <a:ln w="15875">
            <a:solidFill>
              <a:srgbClr val="C9CCC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Step 8 label"/>
          <p:cNvSpPr txBox="1"/>
          <p:nvPr/>
        </p:nvSpPr>
        <p:spPr>
          <a:xfrm>
            <a:off x="6938009" y="1691640"/>
            <a:ext cx="822960" cy="822960"/>
          </a:xfrm>
          <a:prstGeom prst="rect">
            <a:avLst/>
          </a:prstGeom>
          <a:noFill/>
        </p:spPr>
        <p:txBody>
          <a:bodyPr wrap="square" lIns="36576" tIns="18288" rIns="36576" bIns="18288" anchor="ctr">
            <a:spAutoFit/>
          </a:bodyPr>
          <a:lstStyle/>
          <a:p>
            <a:pPr algn="ctr"/>
            <a:r>
              <a:rPr sz="1200" b="0" i="0">
                <a:solidFill>
                  <a:srgbClr val="1A1A1A"/>
                </a:solidFill>
                <a:latin typeface="Calibri"/>
              </a:rPr>
              <a:t>Draft 2 + rationale</a:t>
            </a:r>
          </a:p>
        </p:txBody>
      </p:sp>
      <p:sp>
        <p:nvSpPr>
          <p:cNvPr id="50" name="Arrow 8"/>
          <p:cNvSpPr/>
          <p:nvPr/>
        </p:nvSpPr>
        <p:spPr>
          <a:xfrm>
            <a:off x="7779257" y="2039112"/>
            <a:ext cx="68580" cy="128016"/>
          </a:xfrm>
          <a:prstGeom prst="chevron">
            <a:avLst/>
          </a:prstGeom>
          <a:solidFill>
            <a:srgbClr val="C9C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Step 9"/>
          <p:cNvSpPr/>
          <p:nvPr/>
        </p:nvSpPr>
        <p:spPr>
          <a:xfrm>
            <a:off x="7863840" y="1691640"/>
            <a:ext cx="822960" cy="822960"/>
          </a:xfrm>
          <a:prstGeom prst="roundRect">
            <a:avLst>
              <a:gd name="adj" fmla="val 8888"/>
            </a:avLst>
          </a:prstGeom>
          <a:solidFill>
            <a:srgbClr val="FFB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Step 9 label"/>
          <p:cNvSpPr txBox="1"/>
          <p:nvPr/>
        </p:nvSpPr>
        <p:spPr>
          <a:xfrm>
            <a:off x="7863840" y="1691640"/>
            <a:ext cx="822960" cy="822960"/>
          </a:xfrm>
          <a:prstGeom prst="rect">
            <a:avLst/>
          </a:prstGeom>
          <a:noFill/>
        </p:spPr>
        <p:txBody>
          <a:bodyPr wrap="square" lIns="36576" tIns="18288" rIns="36576" bIns="18288" anchor="ctr">
            <a:spAutoFit/>
          </a:bodyPr>
          <a:lstStyle/>
          <a:p>
            <a:pPr algn="ctr"/>
            <a:r>
              <a:rPr sz="1200" b="1" i="0">
                <a:solidFill>
                  <a:srgbClr val="154734"/>
                </a:solidFill>
                <a:latin typeface="Calibri"/>
              </a:rPr>
              <a:t>Disclose &amp; reflect</a:t>
            </a:r>
          </a:p>
        </p:txBody>
      </p:sp>
      <p:sp>
        <p:nvSpPr>
          <p:cNvPr id="53" name="Cut note"/>
          <p:cNvSpPr txBox="1"/>
          <p:nvPr/>
        </p:nvSpPr>
        <p:spPr>
          <a:xfrm>
            <a:off x="457200" y="2578608"/>
            <a:ext cx="8229600" cy="274320"/>
          </a:xfrm>
          <a:prstGeom prst="rect">
            <a:avLst/>
          </a:prstGeom>
          <a:noFill/>
        </p:spPr>
        <p:txBody>
          <a:bodyPr wrap="square" lIns="36576" tIns="18288" rIns="36576" bIns="18288" anchor="ctr">
            <a:spAutoFit/>
          </a:bodyPr>
          <a:lstStyle/>
          <a:p>
            <a:pPr algn="r"/>
            <a:r>
              <a:rPr sz="1200" b="1" i="0">
                <a:solidFill>
                  <a:srgbClr val="5F6362"/>
                </a:solidFill>
                <a:latin typeface="Calibri"/>
              </a:rPr>
              <a:t>Cut: </a:t>
            </a:r>
            <a:r>
              <a:rPr sz="1200" b="0" i="0">
                <a:solidFill>
                  <a:srgbClr val="5F6362"/>
                </a:solidFill>
                <a:latin typeface="Calibri"/>
              </a:rPr>
              <a:t>Teacher resource, Strategy Book entry</a:t>
            </a:r>
          </a:p>
        </p:txBody>
      </p:sp>
      <p:sp>
        <p:nvSpPr>
          <p:cNvPr id="54" name="Banner"/>
          <p:cNvSpPr/>
          <p:nvPr/>
        </p:nvSpPr>
        <p:spPr>
          <a:xfrm>
            <a:off x="457200" y="3154680"/>
            <a:ext cx="8229600" cy="475488"/>
          </a:xfrm>
          <a:prstGeom prst="roundRect">
            <a:avLst>
              <a:gd name="adj" fmla="val 15384"/>
            </a:avLst>
          </a:prstGeom>
          <a:solidFill>
            <a:srgbClr val="FFB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Banner text"/>
          <p:cNvSpPr txBox="1"/>
          <p:nvPr/>
        </p:nvSpPr>
        <p:spPr>
          <a:xfrm>
            <a:off x="548640" y="3154680"/>
            <a:ext cx="8046720" cy="475488"/>
          </a:xfrm>
          <a:prstGeom prst="rect">
            <a:avLst/>
          </a:prstGeom>
          <a:noFill/>
        </p:spPr>
        <p:txBody>
          <a:bodyPr wrap="square" lIns="36576" tIns="18288" rIns="36576" bIns="18288" anchor="ctr">
            <a:spAutoFit/>
          </a:bodyPr>
          <a:lstStyle/>
          <a:p>
            <a:pPr algn="ctr"/>
            <a:r>
              <a:rPr sz="1600" b="1" i="0">
                <a:solidFill>
                  <a:srgbClr val="154734"/>
                </a:solidFill>
                <a:latin typeface="Calibri"/>
              </a:rPr>
              <a:t>The lesson plan stopped being the evidence and became the material.</a:t>
            </a:r>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a:extLst>
              <a:ext uri="{FF2B5EF4-FFF2-40B4-BE49-F238E27FC236}">
                <a16:creationId xmlns:a16="http://schemas.microsoft.com/office/drawing/2014/main" id="{2A754655-9B68-7226-F974-3A396F664AAE}"/>
              </a:ext>
            </a:extLst>
          </p:cNvPr>
          <p:cNvSpPr>
            <a:spLocks noGrp="1"/>
          </p:cNvSpPr>
          <p:nvPr>
            <p:ph type="sldNum" sz="quarter" idx="4294967295"/>
          </p:nvPr>
        </p:nvSpPr>
        <p:spPr>
          <a:xfrm>
            <a:off x="841248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3"/>
                </a:solidFill>
              </a:defRPr>
            </a:lvl1pPr>
          </a:lstStyle>
          <a:p>
            <a:pPr algn="r"/>
            <a:fld id="{F7021451-1387-4CA6-816F-3879F97B5CBC}" type="slidenum">
              <a:rPr lang="en-US" b="0"/>
              <a:t>31</a:t>
            </a:fld>
            <a:endParaRPr lang="en-US"/>
          </a:p>
        </p:txBody>
      </p:sp>
      <p:sp>
        <p:nvSpPr>
          <p:cNvPr id="2" name="Text 0">
            <a:extLst>
              <a:ext uri="{FF2B5EF4-FFF2-40B4-BE49-F238E27FC236}">
                <a16:creationId xmlns:a16="http://schemas.microsoft.com/office/drawing/2014/main" id="{C1DADC6E-9031-3DD6-7882-76A491A01245}"/>
              </a:ext>
            </a:extLst>
          </p:cNvPr>
          <p:cNvSpPr>
            <a:spLocks noGrp="1"/>
          </p:cNvSpPr>
          <p:nvPr>
            <p:ph type="title" idx="100" hasCustomPrompt="1"/>
          </p:nvPr>
        </p:nvSpPr>
        <p:spPr>
          <a:xfrm>
            <a:off x="457200" y="256032"/>
            <a:ext cx="8229600" cy="685800"/>
          </a:xfrm>
          <a:prstGeom prst="rect">
            <a:avLst/>
          </a:prstGeom>
          <a:noFill/>
          <a:ln/>
        </p:spPr>
        <p:txBody>
          <a:bodyPr wrap="square" lIns="0" tIns="0" rIns="0" bIns="0" rtlCol="0" anchor="ctr"/>
          <a:lstStyle/>
          <a:p>
            <a:pPr marL="0" indent="0" algn="ctr">
              <a:buNone/>
            </a:pPr>
            <a:r>
              <a:rPr lang="en-US" sz="3400" b="1" dirty="0">
                <a:solidFill>
                  <a:schemeClr val="tx2"/>
                </a:solidFill>
              </a:rPr>
              <a:t>One assignment, redesigned</a:t>
            </a:r>
            <a:endParaRPr lang="en-US" sz="3400" dirty="0"/>
          </a:p>
        </p:txBody>
      </p:sp>
      <p:sp>
        <p:nvSpPr>
          <p:cNvPr id="26" name="Subtitle"/>
          <p:cNvSpPr txBox="1"/>
          <p:nvPr/>
        </p:nvSpPr>
        <p:spPr>
          <a:xfrm>
            <a:off x="457200" y="914400"/>
            <a:ext cx="8229600" cy="292608"/>
          </a:xfrm>
          <a:prstGeom prst="rect">
            <a:avLst/>
          </a:prstGeom>
          <a:noFill/>
        </p:spPr>
        <p:txBody>
          <a:bodyPr wrap="square" lIns="36576" tIns="18288" rIns="36576" bIns="18288" anchor="ctr">
            <a:spAutoFit/>
          </a:bodyPr>
          <a:lstStyle/>
          <a:p>
            <a:pPr algn="ctr"/>
            <a:r>
              <a:rPr sz="1400" b="0" i="1">
                <a:solidFill>
                  <a:srgbClr val="5F6362"/>
                </a:solidFill>
                <a:latin typeface="Calibri"/>
              </a:rPr>
              <a:t>Where AI comes in</a:t>
            </a:r>
          </a:p>
        </p:txBody>
      </p:sp>
      <p:sp>
        <p:nvSpPr>
          <p:cNvPr id="27" name="Step 1"/>
          <p:cNvSpPr/>
          <p:nvPr/>
        </p:nvSpPr>
        <p:spPr>
          <a:xfrm>
            <a:off x="457200" y="1325880"/>
            <a:ext cx="822960" cy="731520"/>
          </a:xfrm>
          <a:prstGeom prst="roundRect">
            <a:avLst>
              <a:gd name="adj" fmla="val 10000"/>
            </a:avLst>
          </a:prstGeom>
          <a:solidFill>
            <a:srgbClr val="E3ECE6"/>
          </a:solidFill>
          <a:ln w="15875">
            <a:solidFill>
              <a:srgbClr val="C9CCC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Step 1 label"/>
          <p:cNvSpPr txBox="1"/>
          <p:nvPr/>
        </p:nvSpPr>
        <p:spPr>
          <a:xfrm>
            <a:off x="457200" y="1325880"/>
            <a:ext cx="822960" cy="731520"/>
          </a:xfrm>
          <a:prstGeom prst="rect">
            <a:avLst/>
          </a:prstGeom>
          <a:noFill/>
        </p:spPr>
        <p:txBody>
          <a:bodyPr wrap="square" lIns="36576" tIns="18288" rIns="36576" bIns="18288" anchor="ctr">
            <a:spAutoFit/>
          </a:bodyPr>
          <a:lstStyle/>
          <a:p>
            <a:pPr algn="ctr"/>
            <a:r>
              <a:rPr sz="1200" b="0" i="0">
                <a:solidFill>
                  <a:srgbClr val="1A1A1A"/>
                </a:solidFill>
                <a:latin typeface="Calibri"/>
              </a:rPr>
              <a:t>Class context</a:t>
            </a:r>
          </a:p>
        </p:txBody>
      </p:sp>
      <p:sp>
        <p:nvSpPr>
          <p:cNvPr id="29" name="Arrow 1"/>
          <p:cNvSpPr/>
          <p:nvPr/>
        </p:nvSpPr>
        <p:spPr>
          <a:xfrm>
            <a:off x="1298448" y="1627632"/>
            <a:ext cx="68580" cy="128016"/>
          </a:xfrm>
          <a:prstGeom prst="chevron">
            <a:avLst/>
          </a:prstGeom>
          <a:solidFill>
            <a:srgbClr val="C9C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Step 2"/>
          <p:cNvSpPr/>
          <p:nvPr/>
        </p:nvSpPr>
        <p:spPr>
          <a:xfrm>
            <a:off x="1383030" y="1325880"/>
            <a:ext cx="822960" cy="731520"/>
          </a:xfrm>
          <a:prstGeom prst="roundRect">
            <a:avLst>
              <a:gd name="adj" fmla="val 10000"/>
            </a:avLst>
          </a:prstGeom>
          <a:solidFill>
            <a:srgbClr val="FFB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Step 2 label"/>
          <p:cNvSpPr txBox="1"/>
          <p:nvPr/>
        </p:nvSpPr>
        <p:spPr>
          <a:xfrm>
            <a:off x="1383030" y="1325880"/>
            <a:ext cx="822960" cy="731520"/>
          </a:xfrm>
          <a:prstGeom prst="rect">
            <a:avLst/>
          </a:prstGeom>
          <a:noFill/>
        </p:spPr>
        <p:txBody>
          <a:bodyPr wrap="square" lIns="36576" tIns="18288" rIns="36576" bIns="18288" anchor="ctr">
            <a:spAutoFit/>
          </a:bodyPr>
          <a:lstStyle/>
          <a:p>
            <a:pPr algn="ctr"/>
            <a:r>
              <a:rPr sz="1200" b="1" i="0">
                <a:solidFill>
                  <a:srgbClr val="154734"/>
                </a:solidFill>
                <a:latin typeface="Calibri"/>
              </a:rPr>
              <a:t>Draft 1 + self-check</a:t>
            </a:r>
          </a:p>
        </p:txBody>
      </p:sp>
      <p:sp>
        <p:nvSpPr>
          <p:cNvPr id="32" name="Arrow 2"/>
          <p:cNvSpPr/>
          <p:nvPr/>
        </p:nvSpPr>
        <p:spPr>
          <a:xfrm>
            <a:off x="2224278" y="1627632"/>
            <a:ext cx="68580" cy="128016"/>
          </a:xfrm>
          <a:prstGeom prst="chevron">
            <a:avLst/>
          </a:prstGeom>
          <a:solidFill>
            <a:srgbClr val="C9C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Step 3"/>
          <p:cNvSpPr/>
          <p:nvPr/>
        </p:nvSpPr>
        <p:spPr>
          <a:xfrm>
            <a:off x="2308860" y="1325880"/>
            <a:ext cx="822960" cy="731520"/>
          </a:xfrm>
          <a:prstGeom prst="roundRect">
            <a:avLst>
              <a:gd name="adj" fmla="val 10000"/>
            </a:avLst>
          </a:prstGeom>
          <a:solidFill>
            <a:srgbClr val="FFB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Step 3 label"/>
          <p:cNvSpPr txBox="1"/>
          <p:nvPr/>
        </p:nvSpPr>
        <p:spPr>
          <a:xfrm>
            <a:off x="2308860" y="1325880"/>
            <a:ext cx="822960" cy="731520"/>
          </a:xfrm>
          <a:prstGeom prst="rect">
            <a:avLst/>
          </a:prstGeom>
          <a:noFill/>
        </p:spPr>
        <p:txBody>
          <a:bodyPr wrap="square" lIns="36576" tIns="18288" rIns="36576" bIns="18288" anchor="ctr">
            <a:spAutoFit/>
          </a:bodyPr>
          <a:lstStyle/>
          <a:p>
            <a:pPr algn="ctr"/>
            <a:r>
              <a:rPr sz="1200" b="1" i="0">
                <a:solidFill>
                  <a:srgbClr val="154734"/>
                </a:solidFill>
                <a:latin typeface="Calibri"/>
              </a:rPr>
              <a:t>Coach: alignment</a:t>
            </a:r>
          </a:p>
        </p:txBody>
      </p:sp>
      <p:sp>
        <p:nvSpPr>
          <p:cNvPr id="35" name="Arrow 3"/>
          <p:cNvSpPr/>
          <p:nvPr/>
        </p:nvSpPr>
        <p:spPr>
          <a:xfrm>
            <a:off x="3150108" y="1627632"/>
            <a:ext cx="68580" cy="128016"/>
          </a:xfrm>
          <a:prstGeom prst="chevron">
            <a:avLst/>
          </a:prstGeom>
          <a:solidFill>
            <a:srgbClr val="C9C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Step 4"/>
          <p:cNvSpPr/>
          <p:nvPr/>
        </p:nvSpPr>
        <p:spPr>
          <a:xfrm>
            <a:off x="3234689" y="1325880"/>
            <a:ext cx="822960" cy="731520"/>
          </a:xfrm>
          <a:prstGeom prst="roundRect">
            <a:avLst>
              <a:gd name="adj" fmla="val 10000"/>
            </a:avLst>
          </a:prstGeom>
          <a:solidFill>
            <a:srgbClr val="FFB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Step 4 label"/>
          <p:cNvSpPr txBox="1"/>
          <p:nvPr/>
        </p:nvSpPr>
        <p:spPr>
          <a:xfrm>
            <a:off x="3234689" y="1325880"/>
            <a:ext cx="822960" cy="731520"/>
          </a:xfrm>
          <a:prstGeom prst="rect">
            <a:avLst/>
          </a:prstGeom>
          <a:noFill/>
        </p:spPr>
        <p:txBody>
          <a:bodyPr wrap="square" lIns="36576" tIns="18288" rIns="36576" bIns="18288" anchor="ctr">
            <a:spAutoFit/>
          </a:bodyPr>
          <a:lstStyle/>
          <a:p>
            <a:pPr algn="ctr"/>
            <a:r>
              <a:rPr sz="1200" b="1" i="0">
                <a:solidFill>
                  <a:srgbClr val="154734"/>
                </a:solidFill>
                <a:latin typeface="Calibri"/>
              </a:rPr>
              <a:t>Revise + reflect</a:t>
            </a:r>
          </a:p>
        </p:txBody>
      </p:sp>
      <p:sp>
        <p:nvSpPr>
          <p:cNvPr id="38" name="Arrow 4"/>
          <p:cNvSpPr/>
          <p:nvPr/>
        </p:nvSpPr>
        <p:spPr>
          <a:xfrm>
            <a:off x="4075937" y="1627632"/>
            <a:ext cx="68580" cy="128016"/>
          </a:xfrm>
          <a:prstGeom prst="chevron">
            <a:avLst/>
          </a:prstGeom>
          <a:solidFill>
            <a:srgbClr val="C9C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Step 5"/>
          <p:cNvSpPr/>
          <p:nvPr/>
        </p:nvSpPr>
        <p:spPr>
          <a:xfrm>
            <a:off x="4160520" y="1325880"/>
            <a:ext cx="822960" cy="731520"/>
          </a:xfrm>
          <a:prstGeom prst="roundRect">
            <a:avLst>
              <a:gd name="adj" fmla="val 10000"/>
            </a:avLst>
          </a:prstGeom>
          <a:solidFill>
            <a:srgbClr val="FFB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Step 5 label"/>
          <p:cNvSpPr txBox="1"/>
          <p:nvPr/>
        </p:nvSpPr>
        <p:spPr>
          <a:xfrm>
            <a:off x="4160520" y="1325880"/>
            <a:ext cx="822960" cy="731520"/>
          </a:xfrm>
          <a:prstGeom prst="rect">
            <a:avLst/>
          </a:prstGeom>
          <a:noFill/>
        </p:spPr>
        <p:txBody>
          <a:bodyPr wrap="square" lIns="36576" tIns="18288" rIns="36576" bIns="18288" anchor="ctr">
            <a:spAutoFit/>
          </a:bodyPr>
          <a:lstStyle/>
          <a:p>
            <a:pPr algn="ctr"/>
            <a:r>
              <a:rPr sz="1200" b="1" i="0">
                <a:solidFill>
                  <a:srgbClr val="154734"/>
                </a:solidFill>
                <a:latin typeface="Calibri"/>
              </a:rPr>
              <a:t>Coach: sequencing</a:t>
            </a:r>
          </a:p>
        </p:txBody>
      </p:sp>
      <p:sp>
        <p:nvSpPr>
          <p:cNvPr id="41" name="Arrow 5"/>
          <p:cNvSpPr/>
          <p:nvPr/>
        </p:nvSpPr>
        <p:spPr>
          <a:xfrm>
            <a:off x="5001768" y="1627632"/>
            <a:ext cx="68580" cy="128016"/>
          </a:xfrm>
          <a:prstGeom prst="chevron">
            <a:avLst/>
          </a:prstGeom>
          <a:solidFill>
            <a:srgbClr val="C9C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Step 6"/>
          <p:cNvSpPr/>
          <p:nvPr/>
        </p:nvSpPr>
        <p:spPr>
          <a:xfrm>
            <a:off x="5086350" y="1325880"/>
            <a:ext cx="822960" cy="731520"/>
          </a:xfrm>
          <a:prstGeom prst="roundRect">
            <a:avLst>
              <a:gd name="adj" fmla="val 10000"/>
            </a:avLst>
          </a:prstGeom>
          <a:solidFill>
            <a:srgbClr val="FFB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Step 6 label"/>
          <p:cNvSpPr txBox="1"/>
          <p:nvPr/>
        </p:nvSpPr>
        <p:spPr>
          <a:xfrm>
            <a:off x="5086350" y="1325880"/>
            <a:ext cx="822960" cy="731520"/>
          </a:xfrm>
          <a:prstGeom prst="rect">
            <a:avLst/>
          </a:prstGeom>
          <a:noFill/>
        </p:spPr>
        <p:txBody>
          <a:bodyPr wrap="square" lIns="36576" tIns="18288" rIns="36576" bIns="18288" anchor="ctr">
            <a:spAutoFit/>
          </a:bodyPr>
          <a:lstStyle/>
          <a:p>
            <a:pPr algn="ctr"/>
            <a:r>
              <a:rPr sz="1200" b="1" i="0">
                <a:solidFill>
                  <a:srgbClr val="154734"/>
                </a:solidFill>
                <a:latin typeface="Calibri"/>
              </a:rPr>
              <a:t>Revise + reflect</a:t>
            </a:r>
          </a:p>
        </p:txBody>
      </p:sp>
      <p:sp>
        <p:nvSpPr>
          <p:cNvPr id="44" name="Arrow 6"/>
          <p:cNvSpPr/>
          <p:nvPr/>
        </p:nvSpPr>
        <p:spPr>
          <a:xfrm>
            <a:off x="5927598" y="1627632"/>
            <a:ext cx="68580" cy="128016"/>
          </a:xfrm>
          <a:prstGeom prst="chevron">
            <a:avLst/>
          </a:prstGeom>
          <a:solidFill>
            <a:srgbClr val="C9C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Step 7"/>
          <p:cNvSpPr/>
          <p:nvPr/>
        </p:nvSpPr>
        <p:spPr>
          <a:xfrm>
            <a:off x="6012179" y="1325880"/>
            <a:ext cx="822960" cy="731520"/>
          </a:xfrm>
          <a:prstGeom prst="roundRect">
            <a:avLst>
              <a:gd name="adj" fmla="val 10000"/>
            </a:avLst>
          </a:prstGeom>
          <a:solidFill>
            <a:srgbClr val="FFB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Step 7 label"/>
          <p:cNvSpPr txBox="1"/>
          <p:nvPr/>
        </p:nvSpPr>
        <p:spPr>
          <a:xfrm>
            <a:off x="6012179" y="1325880"/>
            <a:ext cx="822960" cy="731520"/>
          </a:xfrm>
          <a:prstGeom prst="rect">
            <a:avLst/>
          </a:prstGeom>
          <a:noFill/>
        </p:spPr>
        <p:txBody>
          <a:bodyPr wrap="square" lIns="36576" tIns="18288" rIns="36576" bIns="18288" anchor="ctr">
            <a:spAutoFit/>
          </a:bodyPr>
          <a:lstStyle/>
          <a:p>
            <a:pPr algn="ctr"/>
            <a:r>
              <a:rPr sz="1200" b="1" i="0">
                <a:solidFill>
                  <a:srgbClr val="154734"/>
                </a:solidFill>
                <a:latin typeface="Calibri"/>
              </a:rPr>
              <a:t>Peer discussion</a:t>
            </a:r>
          </a:p>
        </p:txBody>
      </p:sp>
      <p:sp>
        <p:nvSpPr>
          <p:cNvPr id="47" name="Arrow 7"/>
          <p:cNvSpPr/>
          <p:nvPr/>
        </p:nvSpPr>
        <p:spPr>
          <a:xfrm>
            <a:off x="6853427" y="1627632"/>
            <a:ext cx="68580" cy="128016"/>
          </a:xfrm>
          <a:prstGeom prst="chevron">
            <a:avLst/>
          </a:prstGeom>
          <a:solidFill>
            <a:srgbClr val="C9C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Step 8"/>
          <p:cNvSpPr/>
          <p:nvPr/>
        </p:nvSpPr>
        <p:spPr>
          <a:xfrm>
            <a:off x="6938009" y="1325880"/>
            <a:ext cx="822960" cy="731520"/>
          </a:xfrm>
          <a:prstGeom prst="roundRect">
            <a:avLst>
              <a:gd name="adj" fmla="val 10000"/>
            </a:avLst>
          </a:prstGeom>
          <a:solidFill>
            <a:srgbClr val="E3ECE6"/>
          </a:solidFill>
          <a:ln w="15875">
            <a:solidFill>
              <a:srgbClr val="C9CCC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Step 8 label"/>
          <p:cNvSpPr txBox="1"/>
          <p:nvPr/>
        </p:nvSpPr>
        <p:spPr>
          <a:xfrm>
            <a:off x="6938009" y="1325880"/>
            <a:ext cx="822960" cy="731520"/>
          </a:xfrm>
          <a:prstGeom prst="rect">
            <a:avLst/>
          </a:prstGeom>
          <a:noFill/>
        </p:spPr>
        <p:txBody>
          <a:bodyPr wrap="square" lIns="36576" tIns="18288" rIns="36576" bIns="18288" anchor="ctr">
            <a:spAutoFit/>
          </a:bodyPr>
          <a:lstStyle/>
          <a:p>
            <a:pPr algn="ctr"/>
            <a:r>
              <a:rPr sz="1200" b="0" i="0">
                <a:solidFill>
                  <a:srgbClr val="1A1A1A"/>
                </a:solidFill>
                <a:latin typeface="Calibri"/>
              </a:rPr>
              <a:t>Draft 2 + rationale</a:t>
            </a:r>
          </a:p>
        </p:txBody>
      </p:sp>
      <p:sp>
        <p:nvSpPr>
          <p:cNvPr id="50" name="Arrow 8"/>
          <p:cNvSpPr/>
          <p:nvPr/>
        </p:nvSpPr>
        <p:spPr>
          <a:xfrm>
            <a:off x="7779257" y="1627632"/>
            <a:ext cx="68580" cy="128016"/>
          </a:xfrm>
          <a:prstGeom prst="chevron">
            <a:avLst/>
          </a:prstGeom>
          <a:solidFill>
            <a:srgbClr val="C9C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Step 9"/>
          <p:cNvSpPr/>
          <p:nvPr/>
        </p:nvSpPr>
        <p:spPr>
          <a:xfrm>
            <a:off x="7863840" y="1325880"/>
            <a:ext cx="822960" cy="731520"/>
          </a:xfrm>
          <a:prstGeom prst="roundRect">
            <a:avLst>
              <a:gd name="adj" fmla="val 10000"/>
            </a:avLst>
          </a:prstGeom>
          <a:solidFill>
            <a:srgbClr val="FFB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Step 9 label"/>
          <p:cNvSpPr txBox="1"/>
          <p:nvPr/>
        </p:nvSpPr>
        <p:spPr>
          <a:xfrm>
            <a:off x="7863840" y="1325880"/>
            <a:ext cx="822960" cy="731520"/>
          </a:xfrm>
          <a:prstGeom prst="rect">
            <a:avLst/>
          </a:prstGeom>
          <a:noFill/>
        </p:spPr>
        <p:txBody>
          <a:bodyPr wrap="square" lIns="36576" tIns="18288" rIns="36576" bIns="18288" anchor="ctr">
            <a:spAutoFit/>
          </a:bodyPr>
          <a:lstStyle/>
          <a:p>
            <a:pPr algn="ctr"/>
            <a:r>
              <a:rPr sz="1200" b="1" i="0">
                <a:solidFill>
                  <a:srgbClr val="154734"/>
                </a:solidFill>
                <a:latin typeface="Calibri"/>
              </a:rPr>
              <a:t>Disclose &amp; reflect</a:t>
            </a:r>
          </a:p>
        </p:txBody>
      </p:sp>
      <p:sp>
        <p:nvSpPr>
          <p:cNvPr id="53" name="PLAN ALONE phase"/>
          <p:cNvSpPr/>
          <p:nvPr/>
        </p:nvSpPr>
        <p:spPr>
          <a:xfrm>
            <a:off x="457200" y="2212848"/>
            <a:ext cx="1748790" cy="1097280"/>
          </a:xfrm>
          <a:prstGeom prst="roundRect">
            <a:avLst>
              <a:gd name="adj" fmla="val 6666"/>
            </a:avLst>
          </a:prstGeom>
          <a:solidFill>
            <a:srgbClr val="FFFFFF"/>
          </a:solidFill>
          <a:ln w="15875">
            <a:solidFill>
              <a:srgbClr val="C9CCC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PLAN ALONE label"/>
          <p:cNvSpPr txBox="1"/>
          <p:nvPr/>
        </p:nvSpPr>
        <p:spPr>
          <a:xfrm>
            <a:off x="493776" y="2267712"/>
            <a:ext cx="1675638" cy="274320"/>
          </a:xfrm>
          <a:prstGeom prst="rect">
            <a:avLst/>
          </a:prstGeom>
          <a:noFill/>
        </p:spPr>
        <p:txBody>
          <a:bodyPr wrap="square" lIns="36576" tIns="18288" rIns="36576" bIns="18288" anchor="ctr">
            <a:spAutoFit/>
          </a:bodyPr>
          <a:lstStyle/>
          <a:p>
            <a:pPr algn="ctr"/>
            <a:r>
              <a:rPr sz="1200" b="1" i="0">
                <a:solidFill>
                  <a:srgbClr val="154734"/>
                </a:solidFill>
                <a:latin typeface="Calibri"/>
              </a:rPr>
              <a:t>PLAN ALONE</a:t>
            </a:r>
          </a:p>
        </p:txBody>
      </p:sp>
      <p:sp>
        <p:nvSpPr>
          <p:cNvPr id="55" name="PLAN ALONE detail"/>
          <p:cNvSpPr txBox="1"/>
          <p:nvPr/>
        </p:nvSpPr>
        <p:spPr>
          <a:xfrm>
            <a:off x="493776" y="2542032"/>
            <a:ext cx="1675638" cy="731520"/>
          </a:xfrm>
          <a:prstGeom prst="rect">
            <a:avLst/>
          </a:prstGeom>
          <a:noFill/>
        </p:spPr>
        <p:txBody>
          <a:bodyPr wrap="square" lIns="36576" tIns="18288" rIns="36576" bIns="18288" anchor="t">
            <a:spAutoFit/>
          </a:bodyPr>
          <a:lstStyle/>
          <a:p>
            <a:pPr algn="ctr"/>
            <a:r>
              <a:rPr sz="1150" b="0" i="0">
                <a:solidFill>
                  <a:srgbClr val="1A1A1A"/>
                </a:solidFill>
                <a:latin typeface="Calibri"/>
              </a:rPr>
              <a:t>No AI. The thinking starts with the candidate.</a:t>
            </a:r>
          </a:p>
        </p:txBody>
      </p:sp>
      <p:sp>
        <p:nvSpPr>
          <p:cNvPr id="56" name="COACHED REVISION phase"/>
          <p:cNvSpPr/>
          <p:nvPr/>
        </p:nvSpPr>
        <p:spPr>
          <a:xfrm>
            <a:off x="2308860" y="2212848"/>
            <a:ext cx="3600450" cy="1097280"/>
          </a:xfrm>
          <a:prstGeom prst="roundRect">
            <a:avLst>
              <a:gd name="adj" fmla="val 6666"/>
            </a:avLst>
          </a:prstGeom>
          <a:solidFill>
            <a:srgbClr val="FFFFFF"/>
          </a:solidFill>
          <a:ln w="15875">
            <a:solidFill>
              <a:srgbClr val="C9CCC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COACHED REVISION label"/>
          <p:cNvSpPr txBox="1"/>
          <p:nvPr/>
        </p:nvSpPr>
        <p:spPr>
          <a:xfrm>
            <a:off x="2345436" y="2267712"/>
            <a:ext cx="3527298" cy="274320"/>
          </a:xfrm>
          <a:prstGeom prst="rect">
            <a:avLst/>
          </a:prstGeom>
          <a:noFill/>
        </p:spPr>
        <p:txBody>
          <a:bodyPr wrap="square" lIns="36576" tIns="18288" rIns="36576" bIns="18288" anchor="ctr">
            <a:spAutoFit/>
          </a:bodyPr>
          <a:lstStyle/>
          <a:p>
            <a:pPr algn="ctr"/>
            <a:r>
              <a:rPr sz="1200" b="1" i="0">
                <a:solidFill>
                  <a:srgbClr val="154734"/>
                </a:solidFill>
                <a:latin typeface="Calibri"/>
              </a:rPr>
              <a:t>COACHED REVISION</a:t>
            </a:r>
          </a:p>
        </p:txBody>
      </p:sp>
      <p:sp>
        <p:nvSpPr>
          <p:cNvPr id="58" name="COACHED REVISION detail"/>
          <p:cNvSpPr txBox="1"/>
          <p:nvPr/>
        </p:nvSpPr>
        <p:spPr>
          <a:xfrm>
            <a:off x="2345436" y="2542032"/>
            <a:ext cx="3527298" cy="731520"/>
          </a:xfrm>
          <a:prstGeom prst="rect">
            <a:avLst/>
          </a:prstGeom>
          <a:noFill/>
        </p:spPr>
        <p:txBody>
          <a:bodyPr wrap="square" lIns="36576" tIns="18288" rIns="36576" bIns="18288" anchor="t">
            <a:spAutoFit/>
          </a:bodyPr>
          <a:lstStyle/>
          <a:p>
            <a:pPr algn="ctr"/>
            <a:r>
              <a:rPr sz="1150" b="0" i="0">
                <a:solidFill>
                  <a:srgbClr val="1A1A1A"/>
                </a:solidFill>
                <a:latin typeface="Calibri"/>
              </a:rPr>
              <a:t>AI asks; the candidate answers, then revises alone and reflects on what changed.</a:t>
            </a:r>
          </a:p>
        </p:txBody>
      </p:sp>
      <p:sp>
        <p:nvSpPr>
          <p:cNvPr id="59" name="PEERS phase"/>
          <p:cNvSpPr/>
          <p:nvPr/>
        </p:nvSpPr>
        <p:spPr>
          <a:xfrm>
            <a:off x="6012179" y="2212848"/>
            <a:ext cx="822960" cy="1097280"/>
          </a:xfrm>
          <a:prstGeom prst="roundRect">
            <a:avLst>
              <a:gd name="adj" fmla="val 8888"/>
            </a:avLst>
          </a:prstGeom>
          <a:solidFill>
            <a:srgbClr val="FFFFFF"/>
          </a:solidFill>
          <a:ln w="15875">
            <a:solidFill>
              <a:srgbClr val="C9CCC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PEERS label"/>
          <p:cNvSpPr txBox="1"/>
          <p:nvPr/>
        </p:nvSpPr>
        <p:spPr>
          <a:xfrm>
            <a:off x="6048755" y="2267712"/>
            <a:ext cx="749808" cy="274320"/>
          </a:xfrm>
          <a:prstGeom prst="rect">
            <a:avLst/>
          </a:prstGeom>
          <a:noFill/>
        </p:spPr>
        <p:txBody>
          <a:bodyPr wrap="square" lIns="36576" tIns="18288" rIns="36576" bIns="18288" anchor="ctr">
            <a:spAutoFit/>
          </a:bodyPr>
          <a:lstStyle/>
          <a:p>
            <a:pPr algn="ctr"/>
            <a:r>
              <a:rPr sz="1200" b="1" i="0">
                <a:solidFill>
                  <a:srgbClr val="154734"/>
                </a:solidFill>
                <a:latin typeface="Calibri"/>
              </a:rPr>
              <a:t>PEERS</a:t>
            </a:r>
          </a:p>
        </p:txBody>
      </p:sp>
      <p:sp>
        <p:nvSpPr>
          <p:cNvPr id="61" name="PEERS detail"/>
          <p:cNvSpPr txBox="1"/>
          <p:nvPr/>
        </p:nvSpPr>
        <p:spPr>
          <a:xfrm>
            <a:off x="6048755" y="2542032"/>
            <a:ext cx="749808" cy="731520"/>
          </a:xfrm>
          <a:prstGeom prst="rect">
            <a:avLst/>
          </a:prstGeom>
          <a:noFill/>
        </p:spPr>
        <p:txBody>
          <a:bodyPr wrap="square" lIns="36576" tIns="18288" rIns="36576" bIns="18288" anchor="t">
            <a:spAutoFit/>
          </a:bodyPr>
          <a:lstStyle/>
          <a:p>
            <a:pPr algn="ctr"/>
            <a:r>
              <a:rPr sz="1150" b="0" i="0">
                <a:solidFill>
                  <a:srgbClr val="1A1A1A"/>
                </a:solidFill>
                <a:latin typeface="Calibri"/>
              </a:rPr>
              <a:t>No AI. Peers ask first.</a:t>
            </a:r>
          </a:p>
        </p:txBody>
      </p:sp>
      <p:sp>
        <p:nvSpPr>
          <p:cNvPr id="62" name="FINALIZE phase"/>
          <p:cNvSpPr/>
          <p:nvPr/>
        </p:nvSpPr>
        <p:spPr>
          <a:xfrm>
            <a:off x="6938009" y="2212848"/>
            <a:ext cx="822959" cy="1097280"/>
          </a:xfrm>
          <a:prstGeom prst="roundRect">
            <a:avLst>
              <a:gd name="adj" fmla="val 8888"/>
            </a:avLst>
          </a:prstGeom>
          <a:solidFill>
            <a:srgbClr val="FFFFFF"/>
          </a:solidFill>
          <a:ln w="15875">
            <a:solidFill>
              <a:srgbClr val="C9CCC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FINALIZE label"/>
          <p:cNvSpPr txBox="1"/>
          <p:nvPr/>
        </p:nvSpPr>
        <p:spPr>
          <a:xfrm>
            <a:off x="6974586" y="2267712"/>
            <a:ext cx="749807" cy="274320"/>
          </a:xfrm>
          <a:prstGeom prst="rect">
            <a:avLst/>
          </a:prstGeom>
          <a:noFill/>
        </p:spPr>
        <p:txBody>
          <a:bodyPr wrap="square" lIns="36576" tIns="18288" rIns="36576" bIns="18288" anchor="ctr">
            <a:spAutoFit/>
          </a:bodyPr>
          <a:lstStyle/>
          <a:p>
            <a:pPr algn="ctr"/>
            <a:r>
              <a:rPr sz="1200" b="1" i="0">
                <a:solidFill>
                  <a:srgbClr val="154734"/>
                </a:solidFill>
                <a:latin typeface="Calibri"/>
              </a:rPr>
              <a:t>FINALIZE</a:t>
            </a:r>
          </a:p>
        </p:txBody>
      </p:sp>
      <p:sp>
        <p:nvSpPr>
          <p:cNvPr id="64" name="FINALIZE detail"/>
          <p:cNvSpPr txBox="1"/>
          <p:nvPr/>
        </p:nvSpPr>
        <p:spPr>
          <a:xfrm>
            <a:off x="6974586" y="2542032"/>
            <a:ext cx="749807" cy="731520"/>
          </a:xfrm>
          <a:prstGeom prst="rect">
            <a:avLst/>
          </a:prstGeom>
          <a:noFill/>
        </p:spPr>
        <p:txBody>
          <a:bodyPr wrap="square" lIns="36576" tIns="18288" rIns="36576" bIns="18288" anchor="t">
            <a:spAutoFit/>
          </a:bodyPr>
          <a:lstStyle/>
          <a:p>
            <a:pPr algn="ctr"/>
            <a:r>
              <a:rPr sz="1150" b="0" i="0">
                <a:solidFill>
                  <a:srgbClr val="1A1A1A"/>
                </a:solidFill>
                <a:latin typeface="Calibri"/>
              </a:rPr>
              <a:t>No AI, except a spelling check.</a:t>
            </a:r>
          </a:p>
        </p:txBody>
      </p:sp>
      <p:sp>
        <p:nvSpPr>
          <p:cNvPr id="65" name="REFLECT phase"/>
          <p:cNvSpPr/>
          <p:nvPr/>
        </p:nvSpPr>
        <p:spPr>
          <a:xfrm>
            <a:off x="7863840" y="2212848"/>
            <a:ext cx="822960" cy="1097280"/>
          </a:xfrm>
          <a:prstGeom prst="roundRect">
            <a:avLst>
              <a:gd name="adj" fmla="val 8888"/>
            </a:avLst>
          </a:prstGeom>
          <a:solidFill>
            <a:srgbClr val="FFFFFF"/>
          </a:solidFill>
          <a:ln w="15875">
            <a:solidFill>
              <a:srgbClr val="C9CCC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REFLECT label"/>
          <p:cNvSpPr txBox="1"/>
          <p:nvPr/>
        </p:nvSpPr>
        <p:spPr>
          <a:xfrm>
            <a:off x="7900415" y="2267712"/>
            <a:ext cx="749808" cy="274320"/>
          </a:xfrm>
          <a:prstGeom prst="rect">
            <a:avLst/>
          </a:prstGeom>
          <a:noFill/>
        </p:spPr>
        <p:txBody>
          <a:bodyPr wrap="square" lIns="36576" tIns="18288" rIns="36576" bIns="18288" anchor="ctr">
            <a:spAutoFit/>
          </a:bodyPr>
          <a:lstStyle/>
          <a:p>
            <a:pPr algn="ctr"/>
            <a:r>
              <a:rPr sz="1200" b="1" i="0">
                <a:solidFill>
                  <a:srgbClr val="154734"/>
                </a:solidFill>
                <a:latin typeface="Calibri"/>
              </a:rPr>
              <a:t>REFLECT</a:t>
            </a:r>
          </a:p>
        </p:txBody>
      </p:sp>
      <p:sp>
        <p:nvSpPr>
          <p:cNvPr id="67" name="REFLECT detail"/>
          <p:cNvSpPr txBox="1"/>
          <p:nvPr/>
        </p:nvSpPr>
        <p:spPr>
          <a:xfrm>
            <a:off x="7900415" y="2542032"/>
            <a:ext cx="749808" cy="731520"/>
          </a:xfrm>
          <a:prstGeom prst="rect">
            <a:avLst/>
          </a:prstGeom>
          <a:noFill/>
        </p:spPr>
        <p:txBody>
          <a:bodyPr wrap="square" lIns="36576" tIns="18288" rIns="36576" bIns="18288" anchor="t">
            <a:spAutoFit/>
          </a:bodyPr>
          <a:lstStyle/>
          <a:p>
            <a:pPr algn="ctr"/>
            <a:r>
              <a:rPr sz="1150" b="0" i="0">
                <a:solidFill>
                  <a:srgbClr val="1A1A1A"/>
                </a:solidFill>
                <a:latin typeface="Calibri"/>
              </a:rPr>
              <a:t>No AI. Every use disclosed.</a:t>
            </a:r>
          </a:p>
        </p:txBody>
      </p:sp>
      <p:sp>
        <p:nvSpPr>
          <p:cNvPr id="68" name="Banner"/>
          <p:cNvSpPr/>
          <p:nvPr/>
        </p:nvSpPr>
        <p:spPr>
          <a:xfrm>
            <a:off x="457200" y="3566160"/>
            <a:ext cx="8229600" cy="475488"/>
          </a:xfrm>
          <a:prstGeom prst="roundRect">
            <a:avLst>
              <a:gd name="adj" fmla="val 15384"/>
            </a:avLst>
          </a:prstGeom>
          <a:solidFill>
            <a:srgbClr val="FFB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Banner text"/>
          <p:cNvSpPr txBox="1"/>
          <p:nvPr/>
        </p:nvSpPr>
        <p:spPr>
          <a:xfrm>
            <a:off x="548640" y="3566160"/>
            <a:ext cx="8046720" cy="475488"/>
          </a:xfrm>
          <a:prstGeom prst="rect">
            <a:avLst/>
          </a:prstGeom>
          <a:noFill/>
        </p:spPr>
        <p:txBody>
          <a:bodyPr wrap="square" lIns="36576" tIns="18288" rIns="36576" bIns="18288" anchor="ctr">
            <a:spAutoFit/>
          </a:bodyPr>
          <a:lstStyle/>
          <a:p>
            <a:pPr algn="ctr"/>
            <a:r>
              <a:rPr sz="1600" b="1" i="0">
                <a:solidFill>
                  <a:srgbClr val="154734"/>
                </a:solidFill>
                <a:latin typeface="Calibri"/>
              </a:rPr>
              <a:t>“Not to write your lesson. To ask you questions about it.”</a:t>
            </a:r>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a:extLst>
              <a:ext uri="{FF2B5EF4-FFF2-40B4-BE49-F238E27FC236}">
                <a16:creationId xmlns:a16="http://schemas.microsoft.com/office/drawing/2014/main" id="{2A754655-9B68-7226-F974-3A396F664AAE}"/>
              </a:ext>
            </a:extLst>
          </p:cNvPr>
          <p:cNvSpPr>
            <a:spLocks noGrp="1"/>
          </p:cNvSpPr>
          <p:nvPr>
            <p:ph type="sldNum" sz="quarter" idx="4294967295"/>
          </p:nvPr>
        </p:nvSpPr>
        <p:spPr>
          <a:xfrm>
            <a:off x="841248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3"/>
                </a:solidFill>
              </a:defRPr>
            </a:lvl1pPr>
          </a:lstStyle>
          <a:p>
            <a:pPr algn="r"/>
            <a:fld id="{F7021451-1387-4CA6-816F-3879F97B5CBC}" type="slidenum">
              <a:rPr lang="en-US" b="0"/>
              <a:t>32</a:t>
            </a:fld>
            <a:endParaRPr lang="en-US"/>
          </a:p>
        </p:txBody>
      </p:sp>
      <p:sp>
        <p:nvSpPr>
          <p:cNvPr id="2" name="Text 0">
            <a:extLst>
              <a:ext uri="{FF2B5EF4-FFF2-40B4-BE49-F238E27FC236}">
                <a16:creationId xmlns:a16="http://schemas.microsoft.com/office/drawing/2014/main" id="{C1DADC6E-9031-3DD6-7882-76A491A01245}"/>
              </a:ext>
            </a:extLst>
          </p:cNvPr>
          <p:cNvSpPr>
            <a:spLocks noGrp="1"/>
          </p:cNvSpPr>
          <p:nvPr>
            <p:ph type="title" idx="100" hasCustomPrompt="1"/>
          </p:nvPr>
        </p:nvSpPr>
        <p:spPr>
          <a:xfrm>
            <a:off x="457200" y="256032"/>
            <a:ext cx="8229600" cy="685800"/>
          </a:xfrm>
          <a:prstGeom prst="rect">
            <a:avLst/>
          </a:prstGeom>
          <a:noFill/>
          <a:ln/>
        </p:spPr>
        <p:txBody>
          <a:bodyPr wrap="square" lIns="0" tIns="0" rIns="0" bIns="0" rtlCol="0" anchor="ctr"/>
          <a:lstStyle/>
          <a:p>
            <a:pPr marL="0" indent="0" algn="ctr">
              <a:buNone/>
            </a:pPr>
            <a:r>
              <a:rPr lang="en-US" sz="3400" b="1" dirty="0">
                <a:solidFill>
                  <a:schemeClr val="tx2"/>
                </a:solidFill>
              </a:rPr>
              <a:t>One assignment, redesigned</a:t>
            </a:r>
            <a:endParaRPr lang="en-US" sz="3400" dirty="0"/>
          </a:p>
        </p:txBody>
      </p:sp>
      <p:sp>
        <p:nvSpPr>
          <p:cNvPr id="26" name="Subtitle"/>
          <p:cNvSpPr txBox="1"/>
          <p:nvPr/>
        </p:nvSpPr>
        <p:spPr>
          <a:xfrm>
            <a:off x="457200" y="914400"/>
            <a:ext cx="8229600" cy="292608"/>
          </a:xfrm>
          <a:prstGeom prst="rect">
            <a:avLst/>
          </a:prstGeom>
          <a:noFill/>
        </p:spPr>
        <p:txBody>
          <a:bodyPr wrap="square" lIns="36576" tIns="18288" rIns="36576" bIns="18288" anchor="ctr">
            <a:spAutoFit/>
          </a:bodyPr>
          <a:lstStyle/>
          <a:p>
            <a:pPr algn="ctr"/>
            <a:r>
              <a:rPr sz="1400" b="0" i="1">
                <a:solidFill>
                  <a:srgbClr val="5F6362"/>
                </a:solidFill>
                <a:latin typeface="Calibri"/>
              </a:rPr>
              <a:t>Continuum levels · 3As (gold) · 4Ds (green): the assignment travels</a:t>
            </a:r>
          </a:p>
        </p:txBody>
      </p:sp>
      <p:sp>
        <p:nvSpPr>
          <p:cNvPr id="27" name="Step 1"/>
          <p:cNvSpPr/>
          <p:nvPr/>
        </p:nvSpPr>
        <p:spPr>
          <a:xfrm>
            <a:off x="457200" y="1261872"/>
            <a:ext cx="822960" cy="640080"/>
          </a:xfrm>
          <a:prstGeom prst="roundRect">
            <a:avLst>
              <a:gd name="adj" fmla="val 11428"/>
            </a:avLst>
          </a:prstGeom>
          <a:solidFill>
            <a:srgbClr val="E3ECE6"/>
          </a:solidFill>
          <a:ln w="15875">
            <a:solidFill>
              <a:srgbClr val="C9CCC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Step 1 label"/>
          <p:cNvSpPr txBox="1"/>
          <p:nvPr/>
        </p:nvSpPr>
        <p:spPr>
          <a:xfrm>
            <a:off x="457200" y="1261872"/>
            <a:ext cx="822960" cy="640080"/>
          </a:xfrm>
          <a:prstGeom prst="rect">
            <a:avLst/>
          </a:prstGeom>
          <a:noFill/>
        </p:spPr>
        <p:txBody>
          <a:bodyPr wrap="square" lIns="36576" tIns="18288" rIns="36576" bIns="18288" anchor="ctr">
            <a:spAutoFit/>
          </a:bodyPr>
          <a:lstStyle/>
          <a:p>
            <a:pPr algn="ctr"/>
            <a:r>
              <a:rPr sz="1200" b="0" i="0">
                <a:solidFill>
                  <a:srgbClr val="1A1A1A"/>
                </a:solidFill>
                <a:latin typeface="Calibri"/>
              </a:rPr>
              <a:t>Class context</a:t>
            </a:r>
          </a:p>
        </p:txBody>
      </p:sp>
      <p:sp>
        <p:nvSpPr>
          <p:cNvPr id="29" name="Arrow 1"/>
          <p:cNvSpPr/>
          <p:nvPr/>
        </p:nvSpPr>
        <p:spPr>
          <a:xfrm>
            <a:off x="1298448" y="1517904"/>
            <a:ext cx="68580" cy="128016"/>
          </a:xfrm>
          <a:prstGeom prst="chevron">
            <a:avLst/>
          </a:prstGeom>
          <a:solidFill>
            <a:srgbClr val="C9C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Step 2"/>
          <p:cNvSpPr/>
          <p:nvPr/>
        </p:nvSpPr>
        <p:spPr>
          <a:xfrm>
            <a:off x="1383030" y="1261872"/>
            <a:ext cx="822960" cy="640080"/>
          </a:xfrm>
          <a:prstGeom prst="roundRect">
            <a:avLst>
              <a:gd name="adj" fmla="val 11428"/>
            </a:avLst>
          </a:prstGeom>
          <a:solidFill>
            <a:srgbClr val="FFB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Step 2 label"/>
          <p:cNvSpPr txBox="1"/>
          <p:nvPr/>
        </p:nvSpPr>
        <p:spPr>
          <a:xfrm>
            <a:off x="1383030" y="1261872"/>
            <a:ext cx="822960" cy="640080"/>
          </a:xfrm>
          <a:prstGeom prst="rect">
            <a:avLst/>
          </a:prstGeom>
          <a:noFill/>
        </p:spPr>
        <p:txBody>
          <a:bodyPr wrap="square" lIns="36576" tIns="18288" rIns="36576" bIns="18288" anchor="ctr">
            <a:spAutoFit/>
          </a:bodyPr>
          <a:lstStyle/>
          <a:p>
            <a:pPr algn="ctr"/>
            <a:r>
              <a:rPr sz="1200" b="1" i="0">
                <a:solidFill>
                  <a:srgbClr val="154734"/>
                </a:solidFill>
                <a:latin typeface="Calibri"/>
              </a:rPr>
              <a:t>Draft 1 + self-check</a:t>
            </a:r>
          </a:p>
        </p:txBody>
      </p:sp>
      <p:sp>
        <p:nvSpPr>
          <p:cNvPr id="32" name="Arrow 2"/>
          <p:cNvSpPr/>
          <p:nvPr/>
        </p:nvSpPr>
        <p:spPr>
          <a:xfrm>
            <a:off x="2224278" y="1517904"/>
            <a:ext cx="68580" cy="128016"/>
          </a:xfrm>
          <a:prstGeom prst="chevron">
            <a:avLst/>
          </a:prstGeom>
          <a:solidFill>
            <a:srgbClr val="C9C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Step 3"/>
          <p:cNvSpPr/>
          <p:nvPr/>
        </p:nvSpPr>
        <p:spPr>
          <a:xfrm>
            <a:off x="2308860" y="1261872"/>
            <a:ext cx="822960" cy="640080"/>
          </a:xfrm>
          <a:prstGeom prst="roundRect">
            <a:avLst>
              <a:gd name="adj" fmla="val 11428"/>
            </a:avLst>
          </a:prstGeom>
          <a:solidFill>
            <a:srgbClr val="FFB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Step 3 label"/>
          <p:cNvSpPr txBox="1"/>
          <p:nvPr/>
        </p:nvSpPr>
        <p:spPr>
          <a:xfrm>
            <a:off x="2308860" y="1261872"/>
            <a:ext cx="822960" cy="640080"/>
          </a:xfrm>
          <a:prstGeom prst="rect">
            <a:avLst/>
          </a:prstGeom>
          <a:noFill/>
        </p:spPr>
        <p:txBody>
          <a:bodyPr wrap="square" lIns="36576" tIns="18288" rIns="36576" bIns="18288" anchor="ctr">
            <a:spAutoFit/>
          </a:bodyPr>
          <a:lstStyle/>
          <a:p>
            <a:pPr algn="ctr"/>
            <a:r>
              <a:rPr sz="1200" b="1" i="0">
                <a:solidFill>
                  <a:srgbClr val="154734"/>
                </a:solidFill>
                <a:latin typeface="Calibri"/>
              </a:rPr>
              <a:t>Coach: alignment</a:t>
            </a:r>
          </a:p>
        </p:txBody>
      </p:sp>
      <p:sp>
        <p:nvSpPr>
          <p:cNvPr id="35" name="Arrow 3"/>
          <p:cNvSpPr/>
          <p:nvPr/>
        </p:nvSpPr>
        <p:spPr>
          <a:xfrm>
            <a:off x="3150108" y="1517904"/>
            <a:ext cx="68580" cy="128016"/>
          </a:xfrm>
          <a:prstGeom prst="chevron">
            <a:avLst/>
          </a:prstGeom>
          <a:solidFill>
            <a:srgbClr val="C9C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Step 4"/>
          <p:cNvSpPr/>
          <p:nvPr/>
        </p:nvSpPr>
        <p:spPr>
          <a:xfrm>
            <a:off x="3234689" y="1261872"/>
            <a:ext cx="822960" cy="640080"/>
          </a:xfrm>
          <a:prstGeom prst="roundRect">
            <a:avLst>
              <a:gd name="adj" fmla="val 11428"/>
            </a:avLst>
          </a:prstGeom>
          <a:solidFill>
            <a:srgbClr val="FFB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Step 4 label"/>
          <p:cNvSpPr txBox="1"/>
          <p:nvPr/>
        </p:nvSpPr>
        <p:spPr>
          <a:xfrm>
            <a:off x="3234689" y="1261872"/>
            <a:ext cx="822960" cy="640080"/>
          </a:xfrm>
          <a:prstGeom prst="rect">
            <a:avLst/>
          </a:prstGeom>
          <a:noFill/>
        </p:spPr>
        <p:txBody>
          <a:bodyPr wrap="square" lIns="36576" tIns="18288" rIns="36576" bIns="18288" anchor="ctr">
            <a:spAutoFit/>
          </a:bodyPr>
          <a:lstStyle/>
          <a:p>
            <a:pPr algn="ctr"/>
            <a:r>
              <a:rPr sz="1200" b="1" i="0">
                <a:solidFill>
                  <a:srgbClr val="154734"/>
                </a:solidFill>
                <a:latin typeface="Calibri"/>
              </a:rPr>
              <a:t>Revise + reflect</a:t>
            </a:r>
          </a:p>
        </p:txBody>
      </p:sp>
      <p:sp>
        <p:nvSpPr>
          <p:cNvPr id="38" name="Arrow 4"/>
          <p:cNvSpPr/>
          <p:nvPr/>
        </p:nvSpPr>
        <p:spPr>
          <a:xfrm>
            <a:off x="4075937" y="1517904"/>
            <a:ext cx="68580" cy="128016"/>
          </a:xfrm>
          <a:prstGeom prst="chevron">
            <a:avLst/>
          </a:prstGeom>
          <a:solidFill>
            <a:srgbClr val="C9C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Step 5"/>
          <p:cNvSpPr/>
          <p:nvPr/>
        </p:nvSpPr>
        <p:spPr>
          <a:xfrm>
            <a:off x="4160520" y="1261872"/>
            <a:ext cx="822960" cy="640080"/>
          </a:xfrm>
          <a:prstGeom prst="roundRect">
            <a:avLst>
              <a:gd name="adj" fmla="val 11428"/>
            </a:avLst>
          </a:prstGeom>
          <a:solidFill>
            <a:srgbClr val="FFB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Step 5 label"/>
          <p:cNvSpPr txBox="1"/>
          <p:nvPr/>
        </p:nvSpPr>
        <p:spPr>
          <a:xfrm>
            <a:off x="4160520" y="1261872"/>
            <a:ext cx="822960" cy="640080"/>
          </a:xfrm>
          <a:prstGeom prst="rect">
            <a:avLst/>
          </a:prstGeom>
          <a:noFill/>
        </p:spPr>
        <p:txBody>
          <a:bodyPr wrap="square" lIns="36576" tIns="18288" rIns="36576" bIns="18288" anchor="ctr">
            <a:spAutoFit/>
          </a:bodyPr>
          <a:lstStyle/>
          <a:p>
            <a:pPr algn="ctr"/>
            <a:r>
              <a:rPr sz="1200" b="1" i="0">
                <a:solidFill>
                  <a:srgbClr val="154734"/>
                </a:solidFill>
                <a:latin typeface="Calibri"/>
              </a:rPr>
              <a:t>Coach: sequencing</a:t>
            </a:r>
          </a:p>
        </p:txBody>
      </p:sp>
      <p:sp>
        <p:nvSpPr>
          <p:cNvPr id="41" name="Arrow 5"/>
          <p:cNvSpPr/>
          <p:nvPr/>
        </p:nvSpPr>
        <p:spPr>
          <a:xfrm>
            <a:off x="5001768" y="1517904"/>
            <a:ext cx="68580" cy="128016"/>
          </a:xfrm>
          <a:prstGeom prst="chevron">
            <a:avLst/>
          </a:prstGeom>
          <a:solidFill>
            <a:srgbClr val="C9C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Step 6"/>
          <p:cNvSpPr/>
          <p:nvPr/>
        </p:nvSpPr>
        <p:spPr>
          <a:xfrm>
            <a:off x="5086350" y="1261872"/>
            <a:ext cx="822960" cy="640080"/>
          </a:xfrm>
          <a:prstGeom prst="roundRect">
            <a:avLst>
              <a:gd name="adj" fmla="val 11428"/>
            </a:avLst>
          </a:prstGeom>
          <a:solidFill>
            <a:srgbClr val="FFB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Step 6 label"/>
          <p:cNvSpPr txBox="1"/>
          <p:nvPr/>
        </p:nvSpPr>
        <p:spPr>
          <a:xfrm>
            <a:off x="5086350" y="1261872"/>
            <a:ext cx="822960" cy="640080"/>
          </a:xfrm>
          <a:prstGeom prst="rect">
            <a:avLst/>
          </a:prstGeom>
          <a:noFill/>
        </p:spPr>
        <p:txBody>
          <a:bodyPr wrap="square" lIns="36576" tIns="18288" rIns="36576" bIns="18288" anchor="ctr">
            <a:spAutoFit/>
          </a:bodyPr>
          <a:lstStyle/>
          <a:p>
            <a:pPr algn="ctr"/>
            <a:r>
              <a:rPr sz="1200" b="1" i="0">
                <a:solidFill>
                  <a:srgbClr val="154734"/>
                </a:solidFill>
                <a:latin typeface="Calibri"/>
              </a:rPr>
              <a:t>Revise + reflect</a:t>
            </a:r>
          </a:p>
        </p:txBody>
      </p:sp>
      <p:sp>
        <p:nvSpPr>
          <p:cNvPr id="44" name="Arrow 6"/>
          <p:cNvSpPr/>
          <p:nvPr/>
        </p:nvSpPr>
        <p:spPr>
          <a:xfrm>
            <a:off x="5927598" y="1517904"/>
            <a:ext cx="68580" cy="128016"/>
          </a:xfrm>
          <a:prstGeom prst="chevron">
            <a:avLst/>
          </a:prstGeom>
          <a:solidFill>
            <a:srgbClr val="C9C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Step 7"/>
          <p:cNvSpPr/>
          <p:nvPr/>
        </p:nvSpPr>
        <p:spPr>
          <a:xfrm>
            <a:off x="6012179" y="1261872"/>
            <a:ext cx="822960" cy="640080"/>
          </a:xfrm>
          <a:prstGeom prst="roundRect">
            <a:avLst>
              <a:gd name="adj" fmla="val 11428"/>
            </a:avLst>
          </a:prstGeom>
          <a:solidFill>
            <a:srgbClr val="FFB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Step 7 label"/>
          <p:cNvSpPr txBox="1"/>
          <p:nvPr/>
        </p:nvSpPr>
        <p:spPr>
          <a:xfrm>
            <a:off x="6012179" y="1261872"/>
            <a:ext cx="822960" cy="640080"/>
          </a:xfrm>
          <a:prstGeom prst="rect">
            <a:avLst/>
          </a:prstGeom>
          <a:noFill/>
        </p:spPr>
        <p:txBody>
          <a:bodyPr wrap="square" lIns="36576" tIns="18288" rIns="36576" bIns="18288" anchor="ctr">
            <a:spAutoFit/>
          </a:bodyPr>
          <a:lstStyle/>
          <a:p>
            <a:pPr algn="ctr"/>
            <a:r>
              <a:rPr sz="1200" b="1" i="0">
                <a:solidFill>
                  <a:srgbClr val="154734"/>
                </a:solidFill>
                <a:latin typeface="Calibri"/>
              </a:rPr>
              <a:t>Peer discussion</a:t>
            </a:r>
          </a:p>
        </p:txBody>
      </p:sp>
      <p:sp>
        <p:nvSpPr>
          <p:cNvPr id="47" name="Arrow 7"/>
          <p:cNvSpPr/>
          <p:nvPr/>
        </p:nvSpPr>
        <p:spPr>
          <a:xfrm>
            <a:off x="6853427" y="1517904"/>
            <a:ext cx="68580" cy="128016"/>
          </a:xfrm>
          <a:prstGeom prst="chevron">
            <a:avLst/>
          </a:prstGeom>
          <a:solidFill>
            <a:srgbClr val="C9C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Step 8"/>
          <p:cNvSpPr/>
          <p:nvPr/>
        </p:nvSpPr>
        <p:spPr>
          <a:xfrm>
            <a:off x="6938009" y="1261872"/>
            <a:ext cx="822960" cy="640080"/>
          </a:xfrm>
          <a:prstGeom prst="roundRect">
            <a:avLst>
              <a:gd name="adj" fmla="val 11428"/>
            </a:avLst>
          </a:prstGeom>
          <a:solidFill>
            <a:srgbClr val="E3ECE6"/>
          </a:solidFill>
          <a:ln w="15875">
            <a:solidFill>
              <a:srgbClr val="C9CCC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Step 8 label"/>
          <p:cNvSpPr txBox="1"/>
          <p:nvPr/>
        </p:nvSpPr>
        <p:spPr>
          <a:xfrm>
            <a:off x="6938009" y="1261872"/>
            <a:ext cx="822960" cy="640080"/>
          </a:xfrm>
          <a:prstGeom prst="rect">
            <a:avLst/>
          </a:prstGeom>
          <a:noFill/>
        </p:spPr>
        <p:txBody>
          <a:bodyPr wrap="square" lIns="36576" tIns="18288" rIns="36576" bIns="18288" anchor="ctr">
            <a:spAutoFit/>
          </a:bodyPr>
          <a:lstStyle/>
          <a:p>
            <a:pPr algn="ctr"/>
            <a:r>
              <a:rPr sz="1200" b="0" i="0">
                <a:solidFill>
                  <a:srgbClr val="1A1A1A"/>
                </a:solidFill>
                <a:latin typeface="Calibri"/>
              </a:rPr>
              <a:t>Draft 2 + rationale</a:t>
            </a:r>
          </a:p>
        </p:txBody>
      </p:sp>
      <p:sp>
        <p:nvSpPr>
          <p:cNvPr id="50" name="Arrow 8"/>
          <p:cNvSpPr/>
          <p:nvPr/>
        </p:nvSpPr>
        <p:spPr>
          <a:xfrm>
            <a:off x="7779257" y="1517904"/>
            <a:ext cx="68580" cy="128016"/>
          </a:xfrm>
          <a:prstGeom prst="chevron">
            <a:avLst/>
          </a:prstGeom>
          <a:solidFill>
            <a:srgbClr val="C9CC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Step 9"/>
          <p:cNvSpPr/>
          <p:nvPr/>
        </p:nvSpPr>
        <p:spPr>
          <a:xfrm>
            <a:off x="7863840" y="1261872"/>
            <a:ext cx="822960" cy="640080"/>
          </a:xfrm>
          <a:prstGeom prst="roundRect">
            <a:avLst>
              <a:gd name="adj" fmla="val 11428"/>
            </a:avLst>
          </a:prstGeom>
          <a:solidFill>
            <a:srgbClr val="FFB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Step 9 label"/>
          <p:cNvSpPr txBox="1"/>
          <p:nvPr/>
        </p:nvSpPr>
        <p:spPr>
          <a:xfrm>
            <a:off x="7863840" y="1261872"/>
            <a:ext cx="822960" cy="640080"/>
          </a:xfrm>
          <a:prstGeom prst="rect">
            <a:avLst/>
          </a:prstGeom>
          <a:noFill/>
        </p:spPr>
        <p:txBody>
          <a:bodyPr wrap="square" lIns="36576" tIns="18288" rIns="36576" bIns="18288" anchor="ctr">
            <a:spAutoFit/>
          </a:bodyPr>
          <a:lstStyle/>
          <a:p>
            <a:pPr algn="ctr"/>
            <a:r>
              <a:rPr sz="1200" b="1" i="0">
                <a:solidFill>
                  <a:srgbClr val="154734"/>
                </a:solidFill>
                <a:latin typeface="Calibri"/>
              </a:rPr>
              <a:t>Disclose &amp; reflect</a:t>
            </a:r>
          </a:p>
        </p:txBody>
      </p:sp>
      <p:sp>
        <p:nvSpPr>
          <p:cNvPr id="53" name="Design band"/>
          <p:cNvSpPr/>
          <p:nvPr/>
        </p:nvSpPr>
        <p:spPr>
          <a:xfrm>
            <a:off x="457200" y="1993392"/>
            <a:ext cx="8229600" cy="329184"/>
          </a:xfrm>
          <a:prstGeom prst="roundRect">
            <a:avLst>
              <a:gd name="adj" fmla="val 22222"/>
            </a:avLst>
          </a:prstGeom>
          <a:solidFill>
            <a:srgbClr val="1547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Design band text"/>
          <p:cNvSpPr txBox="1"/>
          <p:nvPr/>
        </p:nvSpPr>
        <p:spPr>
          <a:xfrm>
            <a:off x="548640" y="1993392"/>
            <a:ext cx="8046720" cy="329184"/>
          </a:xfrm>
          <a:prstGeom prst="rect">
            <a:avLst/>
          </a:prstGeom>
          <a:noFill/>
        </p:spPr>
        <p:txBody>
          <a:bodyPr wrap="square" lIns="36576" tIns="18288" rIns="36576" bIns="18288" anchor="ctr">
            <a:spAutoFit/>
          </a:bodyPr>
          <a:lstStyle/>
          <a:p>
            <a:pPr algn="ctr"/>
            <a:r>
              <a:rPr sz="1200" b="1" i="0">
                <a:solidFill>
                  <a:srgbClr val="FFFFFF"/>
                </a:solidFill>
                <a:latin typeface="Calibri"/>
              </a:rPr>
              <a:t>SET BEFORE CANDIDATES ARRIVE:  </a:t>
            </a:r>
            <a:r>
              <a:rPr sz="1200" b="0" i="0">
                <a:solidFill>
                  <a:srgbClr val="FFFFFF"/>
                </a:solidFill>
                <a:latin typeface="Calibri"/>
              </a:rPr>
              <a:t>Delegation and Agency. I decide what goes to AI and configure the coach.</a:t>
            </a:r>
          </a:p>
        </p:txBody>
      </p:sp>
      <p:sp>
        <p:nvSpPr>
          <p:cNvPr id="55" name="PLAN header"/>
          <p:cNvSpPr/>
          <p:nvPr/>
        </p:nvSpPr>
        <p:spPr>
          <a:xfrm>
            <a:off x="457200" y="2395728"/>
            <a:ext cx="1748790" cy="274320"/>
          </a:xfrm>
          <a:prstGeom prst="roundRect">
            <a:avLst>
              <a:gd name="adj" fmla="val 16666"/>
            </a:avLst>
          </a:prstGeom>
          <a:solidFill>
            <a:srgbClr val="FFFFFF"/>
          </a:solidFill>
          <a:ln w="15875">
            <a:solidFill>
              <a:srgbClr val="C9CCC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PLAN header text"/>
          <p:cNvSpPr txBox="1"/>
          <p:nvPr/>
        </p:nvSpPr>
        <p:spPr>
          <a:xfrm>
            <a:off x="457200" y="2395728"/>
            <a:ext cx="1748790" cy="274320"/>
          </a:xfrm>
          <a:prstGeom prst="rect">
            <a:avLst/>
          </a:prstGeom>
          <a:noFill/>
        </p:spPr>
        <p:txBody>
          <a:bodyPr wrap="square" lIns="36576" tIns="18288" rIns="36576" bIns="18288" anchor="ctr">
            <a:spAutoFit/>
          </a:bodyPr>
          <a:lstStyle/>
          <a:p>
            <a:pPr algn="ctr"/>
            <a:r>
              <a:rPr sz="1050" b="1" i="0">
                <a:solidFill>
                  <a:srgbClr val="154734"/>
                </a:solidFill>
                <a:latin typeface="Calibri"/>
              </a:rPr>
              <a:t>PLAN</a:t>
            </a:r>
          </a:p>
        </p:txBody>
      </p:sp>
      <p:sp>
        <p:nvSpPr>
          <p:cNvPr id="57" name="PLAN level"/>
          <p:cNvSpPr/>
          <p:nvPr/>
        </p:nvSpPr>
        <p:spPr>
          <a:xfrm>
            <a:off x="457200" y="2724912"/>
            <a:ext cx="1748790" cy="457200"/>
          </a:xfrm>
          <a:prstGeom prst="roundRect">
            <a:avLst>
              <a:gd name="adj" fmla="val 16000"/>
            </a:avLst>
          </a:prstGeom>
          <a:solidFill>
            <a:srgbClr val="F1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PLAN level text"/>
          <p:cNvSpPr txBox="1"/>
          <p:nvPr/>
        </p:nvSpPr>
        <p:spPr>
          <a:xfrm>
            <a:off x="457200" y="2724912"/>
            <a:ext cx="1748790" cy="457200"/>
          </a:xfrm>
          <a:prstGeom prst="rect">
            <a:avLst/>
          </a:prstGeom>
          <a:noFill/>
        </p:spPr>
        <p:txBody>
          <a:bodyPr wrap="square" lIns="36576" tIns="18288" rIns="36576" bIns="18288" anchor="ctr">
            <a:spAutoFit/>
          </a:bodyPr>
          <a:lstStyle/>
          <a:p>
            <a:pPr algn="ctr"/>
            <a:r>
              <a:rPr sz="1150" b="1" i="0">
                <a:solidFill>
                  <a:srgbClr val="1A1A1A"/>
                </a:solidFill>
                <a:latin typeface="Calibri"/>
              </a:rPr>
              <a:t>Level 1 · No AI</a:t>
            </a:r>
          </a:p>
        </p:txBody>
      </p:sp>
      <p:sp>
        <p:nvSpPr>
          <p:cNvPr id="59" name="PLAN A (none)"/>
          <p:cNvSpPr/>
          <p:nvPr/>
        </p:nvSpPr>
        <p:spPr>
          <a:xfrm>
            <a:off x="457200" y="3236976"/>
            <a:ext cx="1748790" cy="365760"/>
          </a:xfrm>
          <a:prstGeom prst="roundRect">
            <a:avLst>
              <a:gd name="adj" fmla="val 20000"/>
            </a:avLst>
          </a:prstGeom>
          <a:noFill/>
          <a:ln w="15875">
            <a:solidFill>
              <a:srgbClr val="C9CCC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PLAN A text"/>
          <p:cNvSpPr txBox="1"/>
          <p:nvPr/>
        </p:nvSpPr>
        <p:spPr>
          <a:xfrm>
            <a:off x="457200" y="3236976"/>
            <a:ext cx="1748790" cy="365760"/>
          </a:xfrm>
          <a:prstGeom prst="rect">
            <a:avLst/>
          </a:prstGeom>
          <a:noFill/>
        </p:spPr>
        <p:txBody>
          <a:bodyPr wrap="square" lIns="36576" tIns="18288" rIns="36576" bIns="18288" anchor="ctr">
            <a:spAutoFit/>
          </a:bodyPr>
          <a:lstStyle/>
          <a:p>
            <a:pPr algn="ctr"/>
            <a:r>
              <a:rPr sz="1100" b="0" i="0">
                <a:solidFill>
                  <a:srgbClr val="5F6362"/>
                </a:solidFill>
                <a:latin typeface="Calibri"/>
              </a:rPr>
              <a:t>No AI</a:t>
            </a:r>
          </a:p>
        </p:txBody>
      </p:sp>
      <p:sp>
        <p:nvSpPr>
          <p:cNvPr id="61" name="COACH, REVISE &amp; REFLECT header"/>
          <p:cNvSpPr/>
          <p:nvPr/>
        </p:nvSpPr>
        <p:spPr>
          <a:xfrm>
            <a:off x="2308860" y="2395728"/>
            <a:ext cx="3600450" cy="274320"/>
          </a:xfrm>
          <a:prstGeom prst="roundRect">
            <a:avLst>
              <a:gd name="adj" fmla="val 16666"/>
            </a:avLst>
          </a:prstGeom>
          <a:solidFill>
            <a:srgbClr val="FFFFFF"/>
          </a:solidFill>
          <a:ln w="15875">
            <a:solidFill>
              <a:srgbClr val="C9CCC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COACH, REVISE &amp; REFLECT header text"/>
          <p:cNvSpPr txBox="1"/>
          <p:nvPr/>
        </p:nvSpPr>
        <p:spPr>
          <a:xfrm>
            <a:off x="2308860" y="2395728"/>
            <a:ext cx="3600450" cy="274320"/>
          </a:xfrm>
          <a:prstGeom prst="rect">
            <a:avLst/>
          </a:prstGeom>
          <a:noFill/>
        </p:spPr>
        <p:txBody>
          <a:bodyPr wrap="square" lIns="36576" tIns="18288" rIns="36576" bIns="18288" anchor="ctr">
            <a:spAutoFit/>
          </a:bodyPr>
          <a:lstStyle/>
          <a:p>
            <a:pPr algn="ctr"/>
            <a:r>
              <a:rPr sz="1050" b="1" i="0">
                <a:solidFill>
                  <a:srgbClr val="154734"/>
                </a:solidFill>
                <a:latin typeface="Calibri"/>
              </a:rPr>
              <a:t>COACH, REVISE &amp; REFLECT</a:t>
            </a:r>
          </a:p>
        </p:txBody>
      </p:sp>
      <p:sp>
        <p:nvSpPr>
          <p:cNvPr id="63" name="COACH, REVISE &amp; REFLECT level"/>
          <p:cNvSpPr/>
          <p:nvPr/>
        </p:nvSpPr>
        <p:spPr>
          <a:xfrm>
            <a:off x="2308860" y="2724912"/>
            <a:ext cx="3600450" cy="457200"/>
          </a:xfrm>
          <a:prstGeom prst="roundRect">
            <a:avLst>
              <a:gd name="adj" fmla="val 16000"/>
            </a:avLst>
          </a:prstGeom>
          <a:solidFill>
            <a:srgbClr val="4F7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COACH, REVISE &amp; REFLECT level text"/>
          <p:cNvSpPr txBox="1"/>
          <p:nvPr/>
        </p:nvSpPr>
        <p:spPr>
          <a:xfrm>
            <a:off x="2308860" y="2724912"/>
            <a:ext cx="3600450" cy="457200"/>
          </a:xfrm>
          <a:prstGeom prst="rect">
            <a:avLst/>
          </a:prstGeom>
          <a:noFill/>
        </p:spPr>
        <p:txBody>
          <a:bodyPr wrap="square" lIns="36576" tIns="18288" rIns="36576" bIns="18288" anchor="ctr">
            <a:spAutoFit/>
          </a:bodyPr>
          <a:lstStyle/>
          <a:p>
            <a:pPr algn="ctr"/>
            <a:r>
              <a:rPr sz="1150" b="1" i="0">
                <a:solidFill>
                  <a:srgbClr val="FFFFFF"/>
                </a:solidFill>
                <a:latin typeface="Calibri"/>
              </a:rPr>
              <a:t>Level 3 · Collaborative</a:t>
            </a:r>
          </a:p>
        </p:txBody>
      </p:sp>
      <p:sp>
        <p:nvSpPr>
          <p:cNvPr id="65" name="COACH, REVISE &amp; REFLECT A"/>
          <p:cNvSpPr/>
          <p:nvPr/>
        </p:nvSpPr>
        <p:spPr>
          <a:xfrm>
            <a:off x="2308860" y="3236976"/>
            <a:ext cx="3600450" cy="365760"/>
          </a:xfrm>
          <a:prstGeom prst="roundRect">
            <a:avLst>
              <a:gd name="adj" fmla="val 20000"/>
            </a:avLst>
          </a:prstGeom>
          <a:solidFill>
            <a:srgbClr val="FFB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COACH, REVISE &amp; REFLECT A text"/>
          <p:cNvSpPr txBox="1"/>
          <p:nvPr/>
        </p:nvSpPr>
        <p:spPr>
          <a:xfrm>
            <a:off x="2308860" y="3236976"/>
            <a:ext cx="3600450" cy="365760"/>
          </a:xfrm>
          <a:prstGeom prst="rect">
            <a:avLst/>
          </a:prstGeom>
          <a:noFill/>
        </p:spPr>
        <p:txBody>
          <a:bodyPr wrap="square" lIns="36576" tIns="18288" rIns="36576" bIns="18288" anchor="ctr">
            <a:spAutoFit/>
          </a:bodyPr>
          <a:lstStyle/>
          <a:p>
            <a:pPr algn="ctr"/>
            <a:r>
              <a:rPr sz="1150" b="1" i="0">
                <a:solidFill>
                  <a:srgbClr val="154734"/>
                </a:solidFill>
                <a:latin typeface="Calibri"/>
              </a:rPr>
              <a:t>Augmentation</a:t>
            </a:r>
          </a:p>
        </p:txBody>
      </p:sp>
      <p:sp>
        <p:nvSpPr>
          <p:cNvPr id="67" name="COACH, REVISE &amp; REFLECT D"/>
          <p:cNvSpPr/>
          <p:nvPr/>
        </p:nvSpPr>
        <p:spPr>
          <a:xfrm>
            <a:off x="2308860" y="3657600"/>
            <a:ext cx="3600450" cy="365760"/>
          </a:xfrm>
          <a:prstGeom prst="roundRect">
            <a:avLst>
              <a:gd name="adj" fmla="val 20000"/>
            </a:avLst>
          </a:prstGeom>
          <a:solidFill>
            <a:srgbClr val="1547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8" name="COACH, REVISE &amp; REFLECT D text"/>
          <p:cNvSpPr txBox="1"/>
          <p:nvPr/>
        </p:nvSpPr>
        <p:spPr>
          <a:xfrm>
            <a:off x="2308860" y="3657600"/>
            <a:ext cx="3600450" cy="365760"/>
          </a:xfrm>
          <a:prstGeom prst="rect">
            <a:avLst/>
          </a:prstGeom>
          <a:noFill/>
        </p:spPr>
        <p:txBody>
          <a:bodyPr wrap="square" lIns="36576" tIns="18288" rIns="36576" bIns="18288" anchor="ctr">
            <a:spAutoFit/>
          </a:bodyPr>
          <a:lstStyle/>
          <a:p>
            <a:pPr algn="ctr"/>
            <a:r>
              <a:rPr sz="1150" b="1" i="0">
                <a:solidFill>
                  <a:srgbClr val="FFFFFF"/>
                </a:solidFill>
                <a:latin typeface="Calibri"/>
              </a:rPr>
              <a:t>Discernment</a:t>
            </a:r>
          </a:p>
        </p:txBody>
      </p:sp>
      <p:sp>
        <p:nvSpPr>
          <p:cNvPr id="69" name="PEERS header"/>
          <p:cNvSpPr/>
          <p:nvPr/>
        </p:nvSpPr>
        <p:spPr>
          <a:xfrm>
            <a:off x="6012179" y="2395728"/>
            <a:ext cx="822960" cy="274320"/>
          </a:xfrm>
          <a:prstGeom prst="roundRect">
            <a:avLst>
              <a:gd name="adj" fmla="val 16666"/>
            </a:avLst>
          </a:prstGeom>
          <a:solidFill>
            <a:srgbClr val="FFFFFF"/>
          </a:solidFill>
          <a:ln w="15875">
            <a:solidFill>
              <a:srgbClr val="C9CCC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PEERS header text"/>
          <p:cNvSpPr txBox="1"/>
          <p:nvPr/>
        </p:nvSpPr>
        <p:spPr>
          <a:xfrm>
            <a:off x="6012179" y="2395728"/>
            <a:ext cx="822960" cy="274320"/>
          </a:xfrm>
          <a:prstGeom prst="rect">
            <a:avLst/>
          </a:prstGeom>
          <a:noFill/>
        </p:spPr>
        <p:txBody>
          <a:bodyPr wrap="square" lIns="36576" tIns="18288" rIns="36576" bIns="18288" anchor="ctr">
            <a:spAutoFit/>
          </a:bodyPr>
          <a:lstStyle/>
          <a:p>
            <a:pPr algn="ctr"/>
            <a:r>
              <a:rPr sz="1050" b="1" i="0">
                <a:solidFill>
                  <a:srgbClr val="154734"/>
                </a:solidFill>
                <a:latin typeface="Calibri"/>
              </a:rPr>
              <a:t>PEERS</a:t>
            </a:r>
          </a:p>
        </p:txBody>
      </p:sp>
      <p:sp>
        <p:nvSpPr>
          <p:cNvPr id="71" name="PEERS level"/>
          <p:cNvSpPr/>
          <p:nvPr/>
        </p:nvSpPr>
        <p:spPr>
          <a:xfrm>
            <a:off x="6012179" y="2724912"/>
            <a:ext cx="822960" cy="457200"/>
          </a:xfrm>
          <a:prstGeom prst="roundRect">
            <a:avLst>
              <a:gd name="adj" fmla="val 16000"/>
            </a:avLst>
          </a:prstGeom>
          <a:solidFill>
            <a:srgbClr val="F1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2" name="PEERS level text"/>
          <p:cNvSpPr txBox="1"/>
          <p:nvPr/>
        </p:nvSpPr>
        <p:spPr>
          <a:xfrm>
            <a:off x="6012179" y="2724912"/>
            <a:ext cx="822960" cy="457200"/>
          </a:xfrm>
          <a:prstGeom prst="rect">
            <a:avLst/>
          </a:prstGeom>
          <a:noFill/>
        </p:spPr>
        <p:txBody>
          <a:bodyPr wrap="square" lIns="36576" tIns="18288" rIns="36576" bIns="18288" anchor="ctr">
            <a:spAutoFit/>
          </a:bodyPr>
          <a:lstStyle/>
          <a:p>
            <a:pPr algn="ctr"/>
            <a:r>
              <a:rPr sz="1150" b="1" i="0">
                <a:solidFill>
                  <a:srgbClr val="1A1A1A"/>
                </a:solidFill>
                <a:latin typeface="Calibri"/>
              </a:rPr>
              <a:t>Level 1</a:t>
            </a:r>
          </a:p>
        </p:txBody>
      </p:sp>
      <p:sp>
        <p:nvSpPr>
          <p:cNvPr id="73" name="PEERS A (none)"/>
          <p:cNvSpPr/>
          <p:nvPr/>
        </p:nvSpPr>
        <p:spPr>
          <a:xfrm>
            <a:off x="6012179" y="3236976"/>
            <a:ext cx="822960" cy="365760"/>
          </a:xfrm>
          <a:prstGeom prst="roundRect">
            <a:avLst>
              <a:gd name="adj" fmla="val 20000"/>
            </a:avLst>
          </a:prstGeom>
          <a:noFill/>
          <a:ln w="15875">
            <a:solidFill>
              <a:srgbClr val="C9CCC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4" name="PEERS A text"/>
          <p:cNvSpPr txBox="1"/>
          <p:nvPr/>
        </p:nvSpPr>
        <p:spPr>
          <a:xfrm>
            <a:off x="6012179" y="3236976"/>
            <a:ext cx="822960" cy="365760"/>
          </a:xfrm>
          <a:prstGeom prst="rect">
            <a:avLst/>
          </a:prstGeom>
          <a:noFill/>
        </p:spPr>
        <p:txBody>
          <a:bodyPr wrap="square" lIns="36576" tIns="18288" rIns="36576" bIns="18288" anchor="ctr">
            <a:spAutoFit/>
          </a:bodyPr>
          <a:lstStyle/>
          <a:p>
            <a:pPr algn="ctr"/>
            <a:r>
              <a:rPr sz="1100" b="0" i="0">
                <a:solidFill>
                  <a:srgbClr val="5F6362"/>
                </a:solidFill>
                <a:latin typeface="Calibri"/>
              </a:rPr>
              <a:t>No AI</a:t>
            </a:r>
          </a:p>
        </p:txBody>
      </p:sp>
      <p:sp>
        <p:nvSpPr>
          <p:cNvPr id="75" name="PEERS D"/>
          <p:cNvSpPr/>
          <p:nvPr/>
        </p:nvSpPr>
        <p:spPr>
          <a:xfrm>
            <a:off x="6012179" y="3657600"/>
            <a:ext cx="822960" cy="365760"/>
          </a:xfrm>
          <a:prstGeom prst="roundRect">
            <a:avLst>
              <a:gd name="adj" fmla="val 20000"/>
            </a:avLst>
          </a:prstGeom>
          <a:solidFill>
            <a:srgbClr val="1547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6" name="PEERS D text"/>
          <p:cNvSpPr txBox="1"/>
          <p:nvPr/>
        </p:nvSpPr>
        <p:spPr>
          <a:xfrm>
            <a:off x="6012179" y="3657600"/>
            <a:ext cx="822960" cy="365760"/>
          </a:xfrm>
          <a:prstGeom prst="rect">
            <a:avLst/>
          </a:prstGeom>
          <a:noFill/>
        </p:spPr>
        <p:txBody>
          <a:bodyPr wrap="square" lIns="36576" tIns="18288" rIns="36576" bIns="18288" anchor="ctr">
            <a:spAutoFit/>
          </a:bodyPr>
          <a:lstStyle/>
          <a:p>
            <a:pPr algn="ctr"/>
            <a:r>
              <a:rPr sz="1000" b="1" i="0">
                <a:solidFill>
                  <a:srgbClr val="FFFFFF"/>
                </a:solidFill>
                <a:latin typeface="Calibri"/>
              </a:rPr>
              <a:t>Discernment</a:t>
            </a:r>
          </a:p>
        </p:txBody>
      </p:sp>
      <p:sp>
        <p:nvSpPr>
          <p:cNvPr id="77" name="FINALIZE header"/>
          <p:cNvSpPr/>
          <p:nvPr/>
        </p:nvSpPr>
        <p:spPr>
          <a:xfrm>
            <a:off x="6938009" y="2395728"/>
            <a:ext cx="822959" cy="274320"/>
          </a:xfrm>
          <a:prstGeom prst="roundRect">
            <a:avLst>
              <a:gd name="adj" fmla="val 16666"/>
            </a:avLst>
          </a:prstGeom>
          <a:solidFill>
            <a:srgbClr val="FFFFFF"/>
          </a:solidFill>
          <a:ln w="15875">
            <a:solidFill>
              <a:srgbClr val="C9CCC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8" name="FINALIZE header text"/>
          <p:cNvSpPr txBox="1"/>
          <p:nvPr/>
        </p:nvSpPr>
        <p:spPr>
          <a:xfrm>
            <a:off x="6938009" y="2395728"/>
            <a:ext cx="822959" cy="274320"/>
          </a:xfrm>
          <a:prstGeom prst="rect">
            <a:avLst/>
          </a:prstGeom>
          <a:noFill/>
        </p:spPr>
        <p:txBody>
          <a:bodyPr wrap="square" lIns="36576" tIns="18288" rIns="36576" bIns="18288" anchor="ctr">
            <a:spAutoFit/>
          </a:bodyPr>
          <a:lstStyle/>
          <a:p>
            <a:pPr algn="ctr"/>
            <a:r>
              <a:rPr sz="1050" b="1" i="0">
                <a:solidFill>
                  <a:srgbClr val="154734"/>
                </a:solidFill>
                <a:latin typeface="Calibri"/>
              </a:rPr>
              <a:t>FINALIZE</a:t>
            </a:r>
          </a:p>
        </p:txBody>
      </p:sp>
      <p:sp>
        <p:nvSpPr>
          <p:cNvPr id="79" name="FINALIZE level"/>
          <p:cNvSpPr/>
          <p:nvPr/>
        </p:nvSpPr>
        <p:spPr>
          <a:xfrm>
            <a:off x="6938009" y="2724912"/>
            <a:ext cx="822959" cy="457200"/>
          </a:xfrm>
          <a:prstGeom prst="roundRect">
            <a:avLst>
              <a:gd name="adj" fmla="val 16000"/>
            </a:avLst>
          </a:prstGeom>
          <a:solidFill>
            <a:srgbClr val="E3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0" name="FINALIZE level text"/>
          <p:cNvSpPr txBox="1"/>
          <p:nvPr/>
        </p:nvSpPr>
        <p:spPr>
          <a:xfrm>
            <a:off x="6938009" y="2724912"/>
            <a:ext cx="822959" cy="457200"/>
          </a:xfrm>
          <a:prstGeom prst="rect">
            <a:avLst/>
          </a:prstGeom>
          <a:noFill/>
        </p:spPr>
        <p:txBody>
          <a:bodyPr wrap="square" lIns="36576" tIns="18288" rIns="36576" bIns="18288" anchor="ctr">
            <a:spAutoFit/>
          </a:bodyPr>
          <a:lstStyle/>
          <a:p>
            <a:pPr algn="ctr"/>
            <a:r>
              <a:rPr sz="1150" b="1" i="0">
                <a:solidFill>
                  <a:srgbClr val="154734"/>
                </a:solidFill>
                <a:latin typeface="Calibri"/>
              </a:rPr>
              <a:t>Level 1, then 2</a:t>
            </a:r>
          </a:p>
        </p:txBody>
      </p:sp>
      <p:sp>
        <p:nvSpPr>
          <p:cNvPr id="81" name="FINALIZE A"/>
          <p:cNvSpPr/>
          <p:nvPr/>
        </p:nvSpPr>
        <p:spPr>
          <a:xfrm>
            <a:off x="6938009" y="3236976"/>
            <a:ext cx="822959" cy="365760"/>
          </a:xfrm>
          <a:prstGeom prst="roundRect">
            <a:avLst>
              <a:gd name="adj" fmla="val 20000"/>
            </a:avLst>
          </a:prstGeom>
          <a:solidFill>
            <a:srgbClr val="FFB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 name="FINALIZE A text"/>
          <p:cNvSpPr txBox="1"/>
          <p:nvPr/>
        </p:nvSpPr>
        <p:spPr>
          <a:xfrm>
            <a:off x="6938009" y="3236976"/>
            <a:ext cx="822959" cy="365760"/>
          </a:xfrm>
          <a:prstGeom prst="rect">
            <a:avLst/>
          </a:prstGeom>
          <a:noFill/>
        </p:spPr>
        <p:txBody>
          <a:bodyPr wrap="square" lIns="36576" tIns="18288" rIns="36576" bIns="18288" anchor="ctr">
            <a:spAutoFit/>
          </a:bodyPr>
          <a:lstStyle/>
          <a:p>
            <a:pPr algn="ctr"/>
            <a:r>
              <a:rPr sz="1000" b="1" i="0">
                <a:solidFill>
                  <a:srgbClr val="154734"/>
                </a:solidFill>
                <a:latin typeface="Calibri"/>
              </a:rPr>
              <a:t>Automation</a:t>
            </a:r>
          </a:p>
        </p:txBody>
      </p:sp>
      <p:sp>
        <p:nvSpPr>
          <p:cNvPr id="83" name="FINALIZE D"/>
          <p:cNvSpPr/>
          <p:nvPr/>
        </p:nvSpPr>
        <p:spPr>
          <a:xfrm>
            <a:off x="6938009" y="3657600"/>
            <a:ext cx="822959" cy="365760"/>
          </a:xfrm>
          <a:prstGeom prst="roundRect">
            <a:avLst>
              <a:gd name="adj" fmla="val 20000"/>
            </a:avLst>
          </a:prstGeom>
          <a:solidFill>
            <a:srgbClr val="1547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4" name="FINALIZE D text"/>
          <p:cNvSpPr txBox="1"/>
          <p:nvPr/>
        </p:nvSpPr>
        <p:spPr>
          <a:xfrm>
            <a:off x="6938009" y="3657600"/>
            <a:ext cx="822959" cy="365760"/>
          </a:xfrm>
          <a:prstGeom prst="rect">
            <a:avLst/>
          </a:prstGeom>
          <a:noFill/>
        </p:spPr>
        <p:txBody>
          <a:bodyPr wrap="square" lIns="36576" tIns="18288" rIns="36576" bIns="18288" anchor="ctr">
            <a:spAutoFit/>
          </a:bodyPr>
          <a:lstStyle/>
          <a:p>
            <a:pPr algn="ctr"/>
            <a:r>
              <a:rPr sz="1000" b="1" i="0">
                <a:solidFill>
                  <a:srgbClr val="FFFFFF"/>
                </a:solidFill>
                <a:latin typeface="Calibri"/>
              </a:rPr>
              <a:t>Diligence</a:t>
            </a:r>
          </a:p>
        </p:txBody>
      </p:sp>
      <p:sp>
        <p:nvSpPr>
          <p:cNvPr id="85" name="REFLECT header"/>
          <p:cNvSpPr/>
          <p:nvPr/>
        </p:nvSpPr>
        <p:spPr>
          <a:xfrm>
            <a:off x="7863840" y="2395728"/>
            <a:ext cx="822960" cy="274320"/>
          </a:xfrm>
          <a:prstGeom prst="roundRect">
            <a:avLst>
              <a:gd name="adj" fmla="val 16666"/>
            </a:avLst>
          </a:prstGeom>
          <a:solidFill>
            <a:srgbClr val="FFFFFF"/>
          </a:solidFill>
          <a:ln w="15875">
            <a:solidFill>
              <a:srgbClr val="C9CCC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6" name="REFLECT header text"/>
          <p:cNvSpPr txBox="1"/>
          <p:nvPr/>
        </p:nvSpPr>
        <p:spPr>
          <a:xfrm>
            <a:off x="7863840" y="2395728"/>
            <a:ext cx="822960" cy="274320"/>
          </a:xfrm>
          <a:prstGeom prst="rect">
            <a:avLst/>
          </a:prstGeom>
          <a:noFill/>
        </p:spPr>
        <p:txBody>
          <a:bodyPr wrap="square" lIns="36576" tIns="18288" rIns="36576" bIns="18288" anchor="ctr">
            <a:spAutoFit/>
          </a:bodyPr>
          <a:lstStyle/>
          <a:p>
            <a:pPr algn="ctr"/>
            <a:r>
              <a:rPr sz="1050" b="1" i="0">
                <a:solidFill>
                  <a:srgbClr val="154734"/>
                </a:solidFill>
                <a:latin typeface="Calibri"/>
              </a:rPr>
              <a:t>REFLECT</a:t>
            </a:r>
          </a:p>
        </p:txBody>
      </p:sp>
      <p:sp>
        <p:nvSpPr>
          <p:cNvPr id="87" name="REFLECT level"/>
          <p:cNvSpPr/>
          <p:nvPr/>
        </p:nvSpPr>
        <p:spPr>
          <a:xfrm>
            <a:off x="7863840" y="2724912"/>
            <a:ext cx="822960" cy="457200"/>
          </a:xfrm>
          <a:prstGeom prst="roundRect">
            <a:avLst>
              <a:gd name="adj" fmla="val 16000"/>
            </a:avLst>
          </a:prstGeom>
          <a:solidFill>
            <a:srgbClr val="F1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8" name="REFLECT level text"/>
          <p:cNvSpPr txBox="1"/>
          <p:nvPr/>
        </p:nvSpPr>
        <p:spPr>
          <a:xfrm>
            <a:off x="7863840" y="2724912"/>
            <a:ext cx="822960" cy="457200"/>
          </a:xfrm>
          <a:prstGeom prst="rect">
            <a:avLst/>
          </a:prstGeom>
          <a:noFill/>
        </p:spPr>
        <p:txBody>
          <a:bodyPr wrap="square" lIns="36576" tIns="18288" rIns="36576" bIns="18288" anchor="ctr">
            <a:spAutoFit/>
          </a:bodyPr>
          <a:lstStyle/>
          <a:p>
            <a:pPr algn="ctr"/>
            <a:r>
              <a:rPr sz="1150" b="1" i="0">
                <a:solidFill>
                  <a:srgbClr val="1A1A1A"/>
                </a:solidFill>
                <a:latin typeface="Calibri"/>
              </a:rPr>
              <a:t>Level 1</a:t>
            </a:r>
          </a:p>
        </p:txBody>
      </p:sp>
      <p:sp>
        <p:nvSpPr>
          <p:cNvPr id="89" name="REFLECT A (none)"/>
          <p:cNvSpPr/>
          <p:nvPr/>
        </p:nvSpPr>
        <p:spPr>
          <a:xfrm>
            <a:off x="7863840" y="3236976"/>
            <a:ext cx="822960" cy="365760"/>
          </a:xfrm>
          <a:prstGeom prst="roundRect">
            <a:avLst>
              <a:gd name="adj" fmla="val 20000"/>
            </a:avLst>
          </a:prstGeom>
          <a:noFill/>
          <a:ln w="15875">
            <a:solidFill>
              <a:srgbClr val="C9CCC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0" name="REFLECT A text"/>
          <p:cNvSpPr txBox="1"/>
          <p:nvPr/>
        </p:nvSpPr>
        <p:spPr>
          <a:xfrm>
            <a:off x="7863840" y="3236976"/>
            <a:ext cx="822960" cy="365760"/>
          </a:xfrm>
          <a:prstGeom prst="rect">
            <a:avLst/>
          </a:prstGeom>
          <a:noFill/>
        </p:spPr>
        <p:txBody>
          <a:bodyPr wrap="square" lIns="36576" tIns="18288" rIns="36576" bIns="18288" anchor="ctr">
            <a:spAutoFit/>
          </a:bodyPr>
          <a:lstStyle/>
          <a:p>
            <a:pPr algn="ctr"/>
            <a:r>
              <a:rPr sz="1100" b="0" i="0">
                <a:solidFill>
                  <a:srgbClr val="5F6362"/>
                </a:solidFill>
                <a:latin typeface="Calibri"/>
              </a:rPr>
              <a:t>No AI</a:t>
            </a:r>
          </a:p>
        </p:txBody>
      </p:sp>
      <p:sp>
        <p:nvSpPr>
          <p:cNvPr id="91" name="REFLECT D"/>
          <p:cNvSpPr/>
          <p:nvPr/>
        </p:nvSpPr>
        <p:spPr>
          <a:xfrm>
            <a:off x="7863840" y="3657600"/>
            <a:ext cx="822960" cy="365760"/>
          </a:xfrm>
          <a:prstGeom prst="roundRect">
            <a:avLst>
              <a:gd name="adj" fmla="val 20000"/>
            </a:avLst>
          </a:prstGeom>
          <a:solidFill>
            <a:srgbClr val="1547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2" name="REFLECT D text"/>
          <p:cNvSpPr txBox="1"/>
          <p:nvPr/>
        </p:nvSpPr>
        <p:spPr>
          <a:xfrm>
            <a:off x="7863840" y="3657600"/>
            <a:ext cx="822960" cy="365760"/>
          </a:xfrm>
          <a:prstGeom prst="rect">
            <a:avLst/>
          </a:prstGeom>
          <a:noFill/>
        </p:spPr>
        <p:txBody>
          <a:bodyPr wrap="square" lIns="36576" tIns="18288" rIns="36576" bIns="18288" anchor="ctr">
            <a:spAutoFit/>
          </a:bodyPr>
          <a:lstStyle/>
          <a:p>
            <a:pPr algn="ctr"/>
            <a:r>
              <a:rPr sz="1000" b="1" i="0">
                <a:solidFill>
                  <a:srgbClr val="FFFFFF"/>
                </a:solidFill>
                <a:latin typeface="Calibri"/>
              </a:rPr>
              <a:t>Diligence</a:t>
            </a:r>
          </a:p>
        </p:txBody>
      </p:sp>
      <p:sp>
        <p:nvSpPr>
          <p:cNvPr id="93" name="Banner"/>
          <p:cNvSpPr/>
          <p:nvPr/>
        </p:nvSpPr>
        <p:spPr>
          <a:xfrm>
            <a:off x="457200" y="4160520"/>
            <a:ext cx="8229600" cy="475488"/>
          </a:xfrm>
          <a:prstGeom prst="roundRect">
            <a:avLst>
              <a:gd name="adj" fmla="val 15384"/>
            </a:avLst>
          </a:prstGeom>
          <a:solidFill>
            <a:srgbClr val="FFB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4" name="Banner text"/>
          <p:cNvSpPr txBox="1"/>
          <p:nvPr/>
        </p:nvSpPr>
        <p:spPr>
          <a:xfrm>
            <a:off x="548640" y="4160520"/>
            <a:ext cx="8046720" cy="475488"/>
          </a:xfrm>
          <a:prstGeom prst="rect">
            <a:avLst/>
          </a:prstGeom>
          <a:noFill/>
        </p:spPr>
        <p:txBody>
          <a:bodyPr wrap="square" lIns="36576" tIns="18288" rIns="36576" bIns="18288" anchor="ctr">
            <a:spAutoFit/>
          </a:bodyPr>
          <a:lstStyle/>
          <a:p>
            <a:pPr algn="ctr"/>
            <a:r>
              <a:rPr sz="1600" b="1" i="0">
                <a:solidFill>
                  <a:srgbClr val="154734"/>
                </a:solidFill>
                <a:latin typeface="Calibri"/>
              </a:rPr>
              <a:t>One assignment, three levels of the continuum.</a:t>
            </a:r>
          </a:p>
        </p:txBody>
      </p:sp>
      <p:sp>
        <p:nvSpPr>
          <p:cNvPr id="95" name="Citation"/>
          <p:cNvSpPr txBox="1"/>
          <p:nvPr/>
        </p:nvSpPr>
        <p:spPr>
          <a:xfrm>
            <a:off x="457200" y="4754880"/>
            <a:ext cx="7772400" cy="256032"/>
          </a:xfrm>
          <a:prstGeom prst="rect">
            <a:avLst/>
          </a:prstGeom>
          <a:noFill/>
        </p:spPr>
        <p:txBody>
          <a:bodyPr wrap="square" lIns="36576" tIns="18288" rIns="36576" bIns="18288" anchor="ctr">
            <a:spAutoFit/>
          </a:bodyPr>
          <a:lstStyle/>
          <a:p>
            <a:pPr algn="l"/>
            <a:r>
              <a:rPr sz="1000" b="0" i="0">
                <a:solidFill>
                  <a:srgbClr val="5F6362"/>
                </a:solidFill>
                <a:latin typeface="Calibri"/>
              </a:rPr>
              <a:t>IWU AI Literacy Continuum (Bleistein &amp; Snyder, 2026); Dakan, Feller, &amp; Anthropic (2025), CC BY-NC-SA 4.0</a:t>
            </a:r>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Loop motif"/>
          <p:cNvSpPr/>
          <p:nvPr/>
        </p:nvSpPr>
        <p:spPr>
          <a:xfrm>
            <a:off x="7360920" y="-1417320"/>
            <a:ext cx="3017520" cy="3017520"/>
          </a:xfrm>
          <a:prstGeom prst="ellipse">
            <a:avLst/>
          </a:prstGeom>
          <a:ln w="177800">
            <a:solidFill>
              <a:schemeClr val="accent2">
                <a:alpha val="45000"/>
              </a:schemeClr>
            </a:solidFill>
            <a:prstDash val="solid"/>
          </a:ln>
        </p:spPr>
        <p:txBody>
          <a:bodyPr/>
          <a:lstStyle/>
          <a:p>
            <a:endParaRPr lang="en-US"/>
          </a:p>
        </p:txBody>
      </p:sp>
      <p:sp>
        <p:nvSpPr>
          <p:cNvPr id="3" name="Part 1 kicker"/>
          <p:cNvSpPr txBox="1"/>
          <p:nvPr/>
        </p:nvSpPr>
        <p:spPr>
          <a:xfrm>
            <a:off x="548640" y="822960"/>
            <a:ext cx="6858000" cy="292608"/>
          </a:xfrm>
          <a:prstGeom prst="rect">
            <a:avLst/>
          </a:prstGeom>
          <a:noFill/>
          <a:ln/>
        </p:spPr>
        <p:txBody>
          <a:bodyPr wrap="square" lIns="0" tIns="0" rIns="0" bIns="0" rtlCol="0" anchor="t"/>
          <a:lstStyle/>
          <a:p>
            <a:pPr marL="0" indent="0">
              <a:buNone/>
            </a:pPr>
            <a:r>
              <a:rPr lang="en-US" sz="1200" b="1" kern="0" spc="200" dirty="0">
                <a:solidFill>
                  <a:schemeClr val="accent2"/>
                </a:solidFill>
                <a:latin typeface="Calibri" pitchFamily="34" charset="0"/>
                <a:ea typeface="Calibri" pitchFamily="34" charset="-122"/>
                <a:cs typeface="Calibri" pitchFamily="34" charset="-120"/>
              </a:rPr>
              <a:t>PART 1  ·  HUMAN IN THE LOOP FOR LEARNING</a:t>
            </a:r>
            <a:endParaRPr lang="en-US" sz="1200" dirty="0"/>
          </a:p>
        </p:txBody>
      </p:sp>
      <p:sp>
        <p:nvSpPr>
          <p:cNvPr id="4" name="Part 1 line"/>
          <p:cNvSpPr txBox="1"/>
          <p:nvPr/>
        </p:nvSpPr>
        <p:spPr>
          <a:xfrm>
            <a:off x="548640" y="1170432"/>
            <a:ext cx="6583680" cy="914400"/>
          </a:xfrm>
          <a:prstGeom prst="rect">
            <a:avLst/>
          </a:prstGeom>
          <a:noFill/>
          <a:ln/>
        </p:spPr>
        <p:txBody>
          <a:bodyPr wrap="square" lIns="0" tIns="0" rIns="0" bIns="0" rtlCol="0" anchor="t"/>
          <a:lstStyle/>
          <a:p>
            <a:pPr marL="0" indent="0">
              <a:buNone/>
            </a:pPr>
            <a:r>
              <a:rPr lang="en-US" sz="2800" dirty="0">
                <a:solidFill>
                  <a:schemeClr val="bg1"/>
                </a:solidFill>
                <a:latin typeface="Calibri" pitchFamily="34" charset="0"/>
                <a:ea typeface="Calibri" pitchFamily="34" charset="-122"/>
                <a:cs typeface="Calibri" pitchFamily="34" charset="-120"/>
              </a:rPr>
              <a:t>In students' learning, AI asks. Students think.</a:t>
            </a:r>
            <a:endParaRPr lang="en-US" sz="2800" dirty="0"/>
          </a:p>
        </p:txBody>
      </p:sp>
      <p:sp>
        <p:nvSpPr>
          <p:cNvPr id="5" name="Part 2 kicker"/>
          <p:cNvSpPr txBox="1"/>
          <p:nvPr/>
        </p:nvSpPr>
        <p:spPr>
          <a:xfrm>
            <a:off x="548640" y="2514600"/>
            <a:ext cx="6858000" cy="292608"/>
          </a:xfrm>
          <a:prstGeom prst="rect">
            <a:avLst/>
          </a:prstGeom>
          <a:noFill/>
          <a:ln/>
        </p:spPr>
        <p:txBody>
          <a:bodyPr wrap="square" lIns="0" tIns="0" rIns="0" bIns="0" rtlCol="0" anchor="t"/>
          <a:lstStyle/>
          <a:p>
            <a:pPr marL="0" indent="0">
              <a:buNone/>
            </a:pPr>
            <a:r>
              <a:rPr lang="en-US" sz="1200" b="1" kern="0" spc="200" dirty="0">
                <a:solidFill>
                  <a:schemeClr val="accent2"/>
                </a:solidFill>
                <a:latin typeface="Calibri" pitchFamily="34" charset="0"/>
                <a:ea typeface="Calibri" pitchFamily="34" charset="-122"/>
                <a:cs typeface="Calibri" pitchFamily="34" charset="-120"/>
              </a:rPr>
              <a:t>NEXT  ·  HUMAN IN THE LOOP FOR RESEARCH</a:t>
            </a:r>
            <a:endParaRPr lang="en-US" sz="1200" dirty="0"/>
          </a:p>
        </p:txBody>
      </p:sp>
      <p:sp>
        <p:nvSpPr>
          <p:cNvPr id="6" name="Part 2 line"/>
          <p:cNvSpPr txBox="1"/>
          <p:nvPr/>
        </p:nvSpPr>
        <p:spPr>
          <a:xfrm>
            <a:off x="548640" y="2862072"/>
            <a:ext cx="6858000" cy="914400"/>
          </a:xfrm>
          <a:prstGeom prst="rect">
            <a:avLst/>
          </a:prstGeom>
          <a:noFill/>
          <a:ln/>
        </p:spPr>
        <p:txBody>
          <a:bodyPr wrap="square" lIns="0" tIns="0" rIns="0" bIns="0" rtlCol="0" anchor="t"/>
          <a:lstStyle/>
          <a:p>
            <a:pPr marL="0" indent="0">
              <a:buNone/>
            </a:pPr>
            <a:r>
              <a:rPr lang="en-US" sz="2800" b="1" dirty="0">
                <a:solidFill>
                  <a:schemeClr val="accent2"/>
                </a:solidFill>
                <a:latin typeface="Calibri" pitchFamily="34" charset="0"/>
                <a:ea typeface="Calibri" pitchFamily="34" charset="-122"/>
                <a:cs typeface="Calibri" pitchFamily="34" charset="-120"/>
              </a:rPr>
              <a:t>The model assists. The researcher decides.</a:t>
            </a:r>
            <a:endParaRPr lang="en-US" sz="2800" dirty="0"/>
          </a:p>
        </p:txBody>
      </p:sp>
      <p:sp>
        <p:nvSpPr>
          <p:cNvPr id="7" name="Part 2 presenter"/>
          <p:cNvSpPr txBox="1"/>
          <p:nvPr/>
        </p:nvSpPr>
        <p:spPr>
          <a:xfrm>
            <a:off x="548640" y="4023360"/>
            <a:ext cx="6858000" cy="320040"/>
          </a:xfrm>
          <a:prstGeom prst="rect">
            <a:avLst/>
          </a:prstGeom>
          <a:noFill/>
          <a:ln/>
        </p:spPr>
        <p:txBody>
          <a:bodyPr wrap="square" lIns="0" tIns="0" rIns="0" bIns="0" rtlCol="0" anchor="t"/>
          <a:lstStyle/>
          <a:p>
            <a:pPr marL="0" indent="0">
              <a:buNone/>
            </a:pPr>
            <a:r>
              <a:rPr lang="en-US" sz="1400" dirty="0">
                <a:solidFill>
                  <a:srgbClr val="E3ECE6"/>
                </a:solidFill>
                <a:latin typeface="Calibri" pitchFamily="34" charset="0"/>
                <a:ea typeface="Calibri" pitchFamily="34" charset="-122"/>
                <a:cs typeface="Calibri" pitchFamily="34" charset="-120"/>
              </a:rPr>
              <a:t>[Amy: full name, unit]</a:t>
            </a:r>
            <a:endParaRPr lang="en-US" sz="1400" dirty="0"/>
          </a:p>
        </p:txBody>
      </p:sp>
      <p:sp>
        <p:nvSpPr>
          <p:cNvPr id="25" name="Slide Number Placeholder 0"/>
          <p:cNvSpPr>
            <a:spLocks noGrp="1"/>
          </p:cNvSpPr>
          <p:nvPr>
            <p:ph type="sldNum" sz="quarter" idx="4294967295"/>
          </p:nvPr>
        </p:nvSpPr>
        <p:spPr>
          <a:xfrm>
            <a:off x="841248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C9CCCA"/>
                </a:solidFill>
              </a:defRPr>
            </a:lvl1pPr>
          </a:lstStyle>
          <a:p>
            <a:pPr algn="r"/>
            <a:fld id="{F7021451-1387-4CA6-816F-3879F97B5CBC}" type="slidenum">
              <a:rPr lang="en-US" b="0"/>
              <a:t>33</a:t>
            </a:fld>
            <a:endParaRPr lang="en-US"/>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85800"/>
          </a:xfrm>
          <a:prstGeom prst="rect">
            <a:avLst/>
          </a:prstGeom>
          <a:noFill/>
          <a:ln/>
        </p:spPr>
        <p:txBody>
          <a:bodyPr wrap="square" lIns="0" tIns="0" rIns="0" bIns="0" rtlCol="0" anchor="ctr"/>
          <a:lstStyle/>
          <a:p>
            <a:pPr marL="0" indent="0" algn="ctr">
              <a:buNone/>
            </a:pPr>
            <a:r>
              <a:rPr lang="en-US" sz="3400" b="1" dirty="0">
                <a:solidFill>
                  <a:schemeClr val="tx2"/>
                </a:solidFill>
              </a:rPr>
              <a:t>Work time  ·  20 minutes</a:t>
            </a:r>
            <a:endParaRPr lang="en-US" sz="3400" dirty="0"/>
          </a:p>
        </p:txBody>
      </p:sp>
      <p:sp>
        <p:nvSpPr>
          <p:cNvPr id="3" name="OPTION A card"/>
          <p:cNvSpPr/>
          <p:nvPr/>
        </p:nvSpPr>
        <p:spPr>
          <a:xfrm>
            <a:off x="457200" y="1143000"/>
            <a:ext cx="3977640" cy="3111500"/>
          </a:xfrm>
          <a:prstGeom prst="roundRect">
            <a:avLst>
              <a:gd name="adj" fmla="val 2712"/>
            </a:avLst>
          </a:prstGeom>
          <a:solidFill>
            <a:schemeClr val="accent4"/>
          </a:solidFill>
          <a:ln w="12700">
            <a:solidFill>
              <a:schemeClr val="accent4"/>
            </a:solidFill>
            <a:prstDash val="solid"/>
          </a:ln>
          <a:effectLst>
            <a:outerShdw blurRad="76200" dist="19050" dir="5400000" algn="bl" rotWithShape="0">
              <a:srgbClr val="000000">
                <a:alpha val="12000"/>
              </a:srgbClr>
            </a:outerShdw>
          </a:effectLst>
        </p:spPr>
        <p:txBody>
          <a:bodyPr/>
          <a:lstStyle/>
          <a:p>
            <a:endParaRPr lang="en-US"/>
          </a:p>
        </p:txBody>
      </p:sp>
      <p:sp>
        <p:nvSpPr>
          <p:cNvPr id="4" name="Stress-test an assignment circle"/>
          <p:cNvSpPr/>
          <p:nvPr/>
        </p:nvSpPr>
        <p:spPr>
          <a:xfrm>
            <a:off x="685800" y="1325880"/>
            <a:ext cx="566928" cy="566928"/>
          </a:xfrm>
          <a:prstGeom prst="ellipse">
            <a:avLst/>
          </a:prstGeom>
          <a:solidFill>
            <a:schemeClr val="accent1"/>
          </a:solidFill>
          <a:ln w="12700">
            <a:solidFill>
              <a:schemeClr val="accent1"/>
            </a:solidFill>
            <a:prstDash val="solid"/>
          </a:ln>
        </p:spPr>
        <p:txBody>
          <a:bodyPr/>
          <a:lstStyle/>
          <a:p>
            <a:endParaRPr lang="en-US"/>
          </a:p>
        </p:txBody>
      </p:sp>
      <p:pic>
        <p:nvPicPr>
          <p:cNvPr id="5" name="Stress-test an assignment icon" descr="Stress-test an assignment"/>
          <p:cNvPicPr>
            <a:picLocks noChangeAspect="1"/>
          </p:cNvPicPr>
          <p:nvPr/>
        </p:nvPicPr>
        <p:blipFill>
          <a:blip r:embed="rId3"/>
          <a:stretch>
            <a:fillRect/>
          </a:stretch>
        </p:blipFill>
        <p:spPr>
          <a:xfrm>
            <a:off x="833201" y="1473281"/>
            <a:ext cx="272125" cy="272125"/>
          </a:xfrm>
          <a:prstGeom prst="rect">
            <a:avLst/>
          </a:prstGeom>
        </p:spPr>
      </p:pic>
      <p:sp>
        <p:nvSpPr>
          <p:cNvPr id="6" name="OPTION A kicker"/>
          <p:cNvSpPr txBox="1"/>
          <p:nvPr/>
        </p:nvSpPr>
        <p:spPr>
          <a:xfrm>
            <a:off x="1417320" y="1325880"/>
            <a:ext cx="2834640" cy="228600"/>
          </a:xfrm>
          <a:prstGeom prst="rect">
            <a:avLst/>
          </a:prstGeom>
          <a:noFill/>
          <a:ln/>
        </p:spPr>
        <p:txBody>
          <a:bodyPr wrap="square" lIns="0" tIns="0" rIns="0" bIns="0" rtlCol="0" anchor="t"/>
          <a:lstStyle/>
          <a:p>
            <a:pPr marL="0" indent="0">
              <a:buNone/>
            </a:pPr>
            <a:r>
              <a:rPr lang="en-US" sz="1100" b="1" kern="0" spc="200" dirty="0">
                <a:solidFill>
                  <a:schemeClr val="accent3"/>
                </a:solidFill>
                <a:latin typeface="Calibri" pitchFamily="34" charset="0"/>
                <a:ea typeface="Calibri" pitchFamily="34" charset="-122"/>
                <a:cs typeface="Calibri" pitchFamily="34" charset="-120"/>
              </a:rPr>
              <a:t>OPTION A</a:t>
            </a:r>
            <a:endParaRPr lang="en-US" sz="1100" dirty="0"/>
          </a:p>
        </p:txBody>
      </p:sp>
      <p:sp>
        <p:nvSpPr>
          <p:cNvPr id="7" name="OPTION A heading"/>
          <p:cNvSpPr txBox="1"/>
          <p:nvPr/>
        </p:nvSpPr>
        <p:spPr>
          <a:xfrm>
            <a:off x="1417320" y="1554480"/>
            <a:ext cx="2834640" cy="365760"/>
          </a:xfrm>
          <a:prstGeom prst="rect">
            <a:avLst/>
          </a:prstGeom>
          <a:noFill/>
          <a:ln/>
        </p:spPr>
        <p:txBody>
          <a:bodyPr wrap="square" lIns="0" tIns="0" rIns="0" bIns="0" rtlCol="0" anchor="t"/>
          <a:lstStyle/>
          <a:p>
            <a:pPr marL="0" indent="0">
              <a:buNone/>
            </a:pPr>
            <a:r>
              <a:rPr lang="en-US" sz="1800" b="1" dirty="0">
                <a:solidFill>
                  <a:schemeClr val="tx2"/>
                </a:solidFill>
                <a:latin typeface="Calibri" pitchFamily="34" charset="0"/>
                <a:ea typeface="Calibri" pitchFamily="34" charset="-122"/>
                <a:cs typeface="Calibri" pitchFamily="34" charset="-120"/>
              </a:rPr>
              <a:t>Stress-test an assignment</a:t>
            </a:r>
            <a:endParaRPr lang="en-US" sz="1800" dirty="0"/>
          </a:p>
        </p:txBody>
      </p:sp>
      <p:sp>
        <p:nvSpPr>
          <p:cNvPr id="8" name="OPTION A steps"/>
          <p:cNvSpPr txBox="1"/>
          <p:nvPr/>
        </p:nvSpPr>
        <p:spPr>
          <a:xfrm>
            <a:off x="731520" y="2148840"/>
            <a:ext cx="3520440" cy="1905000"/>
          </a:xfrm>
          <a:prstGeom prst="rect">
            <a:avLst/>
          </a:prstGeom>
          <a:noFill/>
          <a:ln/>
        </p:spPr>
        <p:txBody>
          <a:bodyPr wrap="square" lIns="0" tIns="0" rIns="0" bIns="0" rtlCol="0" anchor="t"/>
          <a:lstStyle/>
          <a:p>
            <a:pPr marL="342900" indent="-342900">
              <a:spcAft>
                <a:spcPts val="600"/>
              </a:spcAft>
              <a:buSzPct val="100000"/>
              <a:buFont typeface="+mj-lt"/>
              <a:buAutoNum type="arabicPeriod"/>
            </a:pPr>
            <a:r>
              <a:rPr lang="en-US" sz="1400" dirty="0">
                <a:solidFill>
                  <a:schemeClr val="tx1"/>
                </a:solidFill>
                <a:latin typeface="Calibri" pitchFamily="34" charset="0"/>
                <a:ea typeface="Calibri" pitchFamily="34" charset="-122"/>
                <a:cs typeface="Calibri" pitchFamily="34" charset="-120"/>
              </a:rPr>
              <a:t>Open Copilot or any chatbot</a:t>
            </a:r>
            <a:endParaRPr lang="en-US" sz="1400" dirty="0"/>
          </a:p>
          <a:p>
            <a:pPr marL="342900" indent="-342900">
              <a:spcAft>
                <a:spcPts val="600"/>
              </a:spcAft>
              <a:buSzPct val="100000"/>
              <a:buFont typeface="+mj-lt"/>
              <a:buAutoNum type="arabicPeriod"/>
            </a:pPr>
            <a:r>
              <a:rPr lang="en-US" sz="1400" dirty="0">
                <a:solidFill>
                  <a:schemeClr val="tx1"/>
                </a:solidFill>
                <a:latin typeface="Calibri" pitchFamily="34" charset="0"/>
                <a:ea typeface="Calibri" pitchFamily="34" charset="-122"/>
                <a:cs typeface="Calibri" pitchFamily="34" charset="-120"/>
              </a:rPr>
              <a:t>Open the Stress Test Guide and run the test</a:t>
            </a:r>
            <a:endParaRPr lang="en-US" sz="1400" dirty="0"/>
          </a:p>
          <a:p>
            <a:pPr marL="342900" indent="-342900">
              <a:spcAft>
                <a:spcPts val="600"/>
              </a:spcAft>
              <a:buSzPct val="100000"/>
              <a:buFont typeface="+mj-lt"/>
              <a:buAutoNum type="arabicPeriod"/>
            </a:pPr>
            <a:r>
              <a:rPr lang="en-US" sz="1400" dirty="0">
                <a:solidFill>
                  <a:schemeClr val="tx1"/>
                </a:solidFill>
                <a:latin typeface="Calibri" pitchFamily="34" charset="0"/>
                <a:ea typeface="Calibri" pitchFamily="34" charset="-122"/>
                <a:cs typeface="Calibri" pitchFamily="34" charset="-120"/>
              </a:rPr>
              <a:t>While it runs, work on What students do and Thinking it develops (columns B and C)</a:t>
            </a:r>
            <a:endParaRPr lang="en-US" sz="1400" dirty="0"/>
          </a:p>
        </p:txBody>
      </p:sp>
      <p:sp>
        <p:nvSpPr>
          <p:cNvPr id="9" name="OPTION B card"/>
          <p:cNvSpPr/>
          <p:nvPr/>
        </p:nvSpPr>
        <p:spPr>
          <a:xfrm>
            <a:off x="4709160" y="1143000"/>
            <a:ext cx="3977640" cy="3111500"/>
          </a:xfrm>
          <a:prstGeom prst="roundRect">
            <a:avLst>
              <a:gd name="adj" fmla="val 2712"/>
            </a:avLst>
          </a:prstGeom>
          <a:solidFill>
            <a:schemeClr val="bg2"/>
          </a:solidFill>
          <a:ln w="12700">
            <a:solidFill>
              <a:schemeClr val="bg2"/>
            </a:solidFill>
            <a:prstDash val="solid"/>
          </a:ln>
          <a:effectLst>
            <a:outerShdw blurRad="76200" dist="19050" dir="5400000" algn="bl" rotWithShape="0">
              <a:srgbClr val="000000">
                <a:alpha val="12000"/>
              </a:srgbClr>
            </a:outerShdw>
          </a:effectLst>
        </p:spPr>
        <p:txBody>
          <a:bodyPr/>
          <a:lstStyle/>
          <a:p>
            <a:endParaRPr lang="en-US"/>
          </a:p>
        </p:txBody>
      </p:sp>
      <p:sp>
        <p:nvSpPr>
          <p:cNvPr id="10" name="Build research guidance circle"/>
          <p:cNvSpPr/>
          <p:nvPr/>
        </p:nvSpPr>
        <p:spPr>
          <a:xfrm>
            <a:off x="4937760" y="1325880"/>
            <a:ext cx="566928" cy="566928"/>
          </a:xfrm>
          <a:prstGeom prst="ellipse">
            <a:avLst/>
          </a:prstGeom>
          <a:solidFill>
            <a:schemeClr val="accent1"/>
          </a:solidFill>
          <a:ln w="12700">
            <a:solidFill>
              <a:schemeClr val="accent1"/>
            </a:solidFill>
            <a:prstDash val="solid"/>
          </a:ln>
        </p:spPr>
        <p:txBody>
          <a:bodyPr/>
          <a:lstStyle/>
          <a:p>
            <a:endParaRPr lang="en-US"/>
          </a:p>
        </p:txBody>
      </p:sp>
      <p:pic>
        <p:nvPicPr>
          <p:cNvPr id="11" name="Build research guidance icon" descr="Build research guidance"/>
          <p:cNvPicPr>
            <a:picLocks noChangeAspect="1"/>
          </p:cNvPicPr>
          <p:nvPr/>
        </p:nvPicPr>
        <p:blipFill>
          <a:blip r:embed="rId4"/>
          <a:stretch>
            <a:fillRect/>
          </a:stretch>
        </p:blipFill>
        <p:spPr>
          <a:xfrm>
            <a:off x="5085161" y="1473281"/>
            <a:ext cx="272125" cy="272125"/>
          </a:xfrm>
          <a:prstGeom prst="rect">
            <a:avLst/>
          </a:prstGeom>
        </p:spPr>
      </p:pic>
      <p:sp>
        <p:nvSpPr>
          <p:cNvPr id="12" name="OPTION B kicker"/>
          <p:cNvSpPr txBox="1"/>
          <p:nvPr/>
        </p:nvSpPr>
        <p:spPr>
          <a:xfrm>
            <a:off x="5669280" y="1325880"/>
            <a:ext cx="2834640" cy="228600"/>
          </a:xfrm>
          <a:prstGeom prst="rect">
            <a:avLst/>
          </a:prstGeom>
          <a:noFill/>
          <a:ln/>
        </p:spPr>
        <p:txBody>
          <a:bodyPr wrap="square" lIns="0" tIns="0" rIns="0" bIns="0" rtlCol="0" anchor="t"/>
          <a:lstStyle/>
          <a:p>
            <a:pPr marL="0" indent="0">
              <a:buNone/>
            </a:pPr>
            <a:r>
              <a:rPr lang="en-US" sz="1100" b="1" kern="0" spc="200" dirty="0">
                <a:solidFill>
                  <a:schemeClr val="accent3"/>
                </a:solidFill>
                <a:latin typeface="Calibri" pitchFamily="34" charset="0"/>
                <a:ea typeface="Calibri" pitchFamily="34" charset="-122"/>
                <a:cs typeface="Calibri" pitchFamily="34" charset="-120"/>
              </a:rPr>
              <a:t>OPTION B</a:t>
            </a:r>
            <a:endParaRPr lang="en-US" sz="1100" dirty="0"/>
          </a:p>
        </p:txBody>
      </p:sp>
      <p:sp>
        <p:nvSpPr>
          <p:cNvPr id="13" name="OPTION B heading"/>
          <p:cNvSpPr txBox="1"/>
          <p:nvPr/>
        </p:nvSpPr>
        <p:spPr>
          <a:xfrm>
            <a:off x="5669280" y="1554480"/>
            <a:ext cx="2834640" cy="365760"/>
          </a:xfrm>
          <a:prstGeom prst="rect">
            <a:avLst/>
          </a:prstGeom>
          <a:noFill/>
          <a:ln/>
        </p:spPr>
        <p:txBody>
          <a:bodyPr wrap="square" lIns="0" tIns="0" rIns="0" bIns="0" rtlCol="0" anchor="t"/>
          <a:lstStyle/>
          <a:p>
            <a:pPr marL="0" indent="0">
              <a:buNone/>
            </a:pPr>
            <a:r>
              <a:rPr lang="en-US" sz="1800" b="1" dirty="0">
                <a:solidFill>
                  <a:schemeClr val="tx2"/>
                </a:solidFill>
                <a:latin typeface="Calibri" pitchFamily="34" charset="0"/>
                <a:ea typeface="Calibri" pitchFamily="34" charset="-122"/>
                <a:cs typeface="Calibri" pitchFamily="34" charset="-120"/>
              </a:rPr>
              <a:t>Build research guidance</a:t>
            </a:r>
            <a:endParaRPr lang="en-US" sz="1800" dirty="0"/>
          </a:p>
        </p:txBody>
      </p:sp>
      <p:sp>
        <p:nvSpPr>
          <p:cNvPr id="14" name="OPTION B steps"/>
          <p:cNvSpPr txBox="1"/>
          <p:nvPr/>
        </p:nvSpPr>
        <p:spPr>
          <a:xfrm>
            <a:off x="4983480" y="2148840"/>
            <a:ext cx="3520440" cy="1905000"/>
          </a:xfrm>
          <a:prstGeom prst="rect">
            <a:avLst/>
          </a:prstGeom>
          <a:noFill/>
          <a:ln/>
        </p:spPr>
        <p:txBody>
          <a:bodyPr wrap="square" lIns="0" tIns="0" rIns="0" bIns="0" rtlCol="0" anchor="t"/>
          <a:lstStyle/>
          <a:p>
            <a:pPr marL="342900" indent="-342900">
              <a:spcAft>
                <a:spcPts val="600"/>
              </a:spcAft>
              <a:buSzPct val="100000"/>
              <a:buFont typeface="+mj-lt"/>
              <a:buAutoNum type="arabicPeriod"/>
            </a:pPr>
            <a:r>
              <a:rPr lang="en-US" sz="1400" dirty="0">
                <a:solidFill>
                  <a:schemeClr val="tx1"/>
                </a:solidFill>
                <a:latin typeface="Calibri" pitchFamily="34" charset="0"/>
                <a:ea typeface="Calibri" pitchFamily="34" charset="-122"/>
                <a:cs typeface="Calibri" pitchFamily="34" charset="-120"/>
              </a:rPr>
              <a:t>Open Scopus AI</a:t>
            </a:r>
            <a:endParaRPr lang="en-US" sz="1400" dirty="0"/>
          </a:p>
          <a:p>
            <a:pPr marL="342900" indent="-342900">
              <a:spcAft>
                <a:spcPts val="600"/>
              </a:spcAft>
              <a:buSzPct val="100000"/>
              <a:buFont typeface="+mj-lt"/>
              <a:buAutoNum type="arabicPeriod"/>
            </a:pPr>
            <a:r>
              <a:rPr lang="en-US" sz="1400" dirty="0">
                <a:solidFill>
                  <a:schemeClr val="tx1"/>
                </a:solidFill>
                <a:latin typeface="Calibri" pitchFamily="34" charset="0"/>
                <a:ea typeface="Calibri" pitchFamily="34" charset="-122"/>
                <a:cs typeface="Calibri" pitchFamily="34" charset="-120"/>
              </a:rPr>
              <a:t>Open the </a:t>
            </a:r>
            <a:r>
              <a:rPr lang="en-US" sz="1400" dirty="0">
                <a:solidFill>
                  <a:schemeClr val="tx1"/>
                </a:solidFill>
                <a:latin typeface="Calibri" pitchFamily="34" charset="0"/>
                <a:ea typeface="Calibri" pitchFamily="34" charset="-122"/>
                <a:cs typeface="Calibri" pitchFamily="34" charset="-120"/>
                <a:hlinkClick r:id="rId5" tooltip="Scopus AI Sandbox Checklist"/>
              </a:rPr>
              <a:t>Scopus AI Sandbox Checklist</a:t>
            </a:r>
            <a:endParaRPr lang="en-US" sz="1400" dirty="0"/>
          </a:p>
          <a:p>
            <a:pPr marL="342900" indent="-342900">
              <a:spcAft>
                <a:spcPts val="600"/>
              </a:spcAft>
              <a:buSzPct val="100000"/>
              <a:buFont typeface="+mj-lt"/>
              <a:buAutoNum type="arabicPeriod"/>
            </a:pPr>
            <a:r>
              <a:rPr lang="en-US" sz="1400" dirty="0">
                <a:solidFill>
                  <a:schemeClr val="tx1"/>
                </a:solidFill>
                <a:latin typeface="Calibri" pitchFamily="34" charset="0"/>
                <a:ea typeface="Calibri" pitchFamily="34" charset="-122"/>
                <a:cs typeface="Calibri" pitchFamily="34" charset="-120"/>
              </a:rPr>
              <a:t>Choose 2–3 prompts that align with your discipline from the sandbox checklist (or create your own). Enter them into Scopus AI and critically evaluate the generated Topic Summary, Concept Map, and Foundational Documents.</a:t>
            </a:r>
            <a:endParaRPr lang="en-US" sz="1400" dirty="0"/>
          </a:p>
        </p:txBody>
      </p:sp>
      <p:sp>
        <p:nvSpPr>
          <p:cNvPr id="25" name="Slide Number Placeholder 0"/>
          <p:cNvSpPr>
            <a:spLocks noGrp="1"/>
          </p:cNvSpPr>
          <p:nvPr>
            <p:ph type="sldNum" sz="quarter" idx="4294967295"/>
          </p:nvPr>
        </p:nvSpPr>
        <p:spPr>
          <a:xfrm>
            <a:off x="841248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3"/>
                </a:solidFill>
              </a:defRPr>
            </a:lvl1pPr>
          </a:lstStyle>
          <a:p>
            <a:pPr algn="r"/>
            <a:fld id="{F7021451-1387-4CA6-816F-3879F97B5CBC}" type="slidenum">
              <a:rPr lang="en-US" b="0"/>
              <a:t>34</a:t>
            </a:fld>
            <a:endParaRPr lang="en-US"/>
          </a:p>
        </p:txBody>
      </p:sp>
    </p:spTree>
    <p:extLst>
      <p:ext uri="{BB962C8B-B14F-4D97-AF65-F5344CB8AC3E}">
        <p14:creationId xmlns:p14="http://schemas.microsoft.com/office/powerpoint/2010/main" val="2425539552"/>
      </p:ext>
    </p:extLst>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Loop motif"/>
          <p:cNvSpPr/>
          <p:nvPr/>
        </p:nvSpPr>
        <p:spPr>
          <a:xfrm>
            <a:off x="7360920" y="-1417320"/>
            <a:ext cx="3017520" cy="3017520"/>
          </a:xfrm>
          <a:prstGeom prst="ellipse">
            <a:avLst/>
          </a:prstGeom>
          <a:ln w="177800">
            <a:solidFill>
              <a:schemeClr val="accent2">
                <a:alpha val="45000"/>
              </a:schemeClr>
            </a:solidFill>
            <a:prstDash val="solid"/>
          </a:ln>
        </p:spPr>
        <p:txBody>
          <a:bodyPr/>
          <a:lstStyle/>
          <a:p>
            <a:endParaRPr lang="en-US"/>
          </a:p>
        </p:txBody>
      </p:sp>
      <p:sp>
        <p:nvSpPr>
          <p:cNvPr id="3" name="Debrief title"/>
          <p:cNvSpPr txBox="1"/>
          <p:nvPr/>
        </p:nvSpPr>
        <p:spPr>
          <a:xfrm>
            <a:off x="548640" y="502920"/>
            <a:ext cx="6400800" cy="685800"/>
          </a:xfrm>
          <a:prstGeom prst="rect">
            <a:avLst/>
          </a:prstGeom>
          <a:noFill/>
          <a:ln/>
        </p:spPr>
        <p:txBody>
          <a:bodyPr wrap="square" lIns="0" tIns="0" rIns="0" bIns="0" rtlCol="0" anchor="t"/>
          <a:lstStyle/>
          <a:p>
            <a:pPr marL="0" indent="0">
              <a:buNone/>
            </a:pPr>
            <a:r>
              <a:rPr lang="en-US" sz="3600" b="1" dirty="0">
                <a:solidFill>
                  <a:schemeClr val="bg1"/>
                </a:solidFill>
                <a:latin typeface="Calibri" pitchFamily="34" charset="0"/>
                <a:ea typeface="Calibri" pitchFamily="34" charset="-122"/>
                <a:cs typeface="Calibri" pitchFamily="34" charset="-120"/>
              </a:rPr>
              <a:t>Debrief</a:t>
            </a:r>
            <a:endParaRPr lang="en-US" sz="3600" dirty="0"/>
          </a:p>
        </p:txBody>
      </p:sp>
      <p:sp>
        <p:nvSpPr>
          <p:cNvPr id="4" name="Question 1 circle"/>
          <p:cNvSpPr/>
          <p:nvPr/>
        </p:nvSpPr>
        <p:spPr>
          <a:xfrm>
            <a:off x="548640" y="1417320"/>
            <a:ext cx="502920" cy="502920"/>
          </a:xfrm>
          <a:prstGeom prst="ellipse">
            <a:avLst/>
          </a:prstGeom>
          <a:solidFill>
            <a:schemeClr val="accent2"/>
          </a:solidFill>
          <a:ln w="12700">
            <a:solidFill>
              <a:schemeClr val="accent2"/>
            </a:solidFill>
            <a:prstDash val="solid"/>
          </a:ln>
        </p:spPr>
        <p:txBody>
          <a:bodyPr/>
          <a:lstStyle/>
          <a:p>
            <a:endParaRPr lang="en-US"/>
          </a:p>
        </p:txBody>
      </p:sp>
      <p:sp>
        <p:nvSpPr>
          <p:cNvPr id="5" name="Question 1 number"/>
          <p:cNvSpPr txBox="1"/>
          <p:nvPr/>
        </p:nvSpPr>
        <p:spPr>
          <a:xfrm>
            <a:off x="548640" y="1417320"/>
            <a:ext cx="502920" cy="502920"/>
          </a:xfrm>
          <a:prstGeom prst="rect">
            <a:avLst/>
          </a:prstGeom>
          <a:noFill/>
          <a:ln/>
        </p:spPr>
        <p:txBody>
          <a:bodyPr wrap="square" lIns="0" tIns="0" rIns="0" bIns="0" rtlCol="0" anchor="ctr"/>
          <a:lstStyle/>
          <a:p>
            <a:pPr marL="0" indent="0" algn="ctr">
              <a:buNone/>
            </a:pPr>
            <a:r>
              <a:rPr lang="en-US" sz="1800" b="1" dirty="0">
                <a:solidFill>
                  <a:schemeClr val="tx2"/>
                </a:solidFill>
                <a:latin typeface="Calibri" pitchFamily="34" charset="0"/>
                <a:ea typeface="Calibri" pitchFamily="34" charset="-122"/>
                <a:cs typeface="Calibri" pitchFamily="34" charset="-120"/>
              </a:rPr>
              <a:t>1</a:t>
            </a:r>
            <a:endParaRPr lang="en-US" sz="1800" dirty="0"/>
          </a:p>
        </p:txBody>
      </p:sp>
      <p:sp>
        <p:nvSpPr>
          <p:cNvPr id="6" name="Question 1"/>
          <p:cNvSpPr txBox="1"/>
          <p:nvPr/>
        </p:nvSpPr>
        <p:spPr>
          <a:xfrm>
            <a:off x="1280160" y="1417320"/>
            <a:ext cx="6400800" cy="502920"/>
          </a:xfrm>
          <a:prstGeom prst="rect">
            <a:avLst/>
          </a:prstGeom>
          <a:noFill/>
          <a:ln/>
        </p:spPr>
        <p:txBody>
          <a:bodyPr wrap="square" lIns="0" tIns="0" rIns="0" bIns="0" rtlCol="0" anchor="ctr"/>
          <a:lstStyle/>
          <a:p>
            <a:pPr marL="0" indent="0">
              <a:buNone/>
            </a:pPr>
            <a:r>
              <a:rPr lang="en-US" sz="1800" dirty="0">
                <a:solidFill>
                  <a:schemeClr val="bg1"/>
                </a:solidFill>
                <a:latin typeface="Calibri" pitchFamily="34" charset="0"/>
                <a:ea typeface="Calibri" pitchFamily="34" charset="-122"/>
                <a:cs typeface="Calibri" pitchFamily="34" charset="-120"/>
              </a:rPr>
              <a:t>What surprised you when AI ran your assignment?</a:t>
            </a:r>
            <a:endParaRPr lang="en-US" sz="1800" dirty="0"/>
          </a:p>
        </p:txBody>
      </p:sp>
      <p:sp>
        <p:nvSpPr>
          <p:cNvPr id="7" name="Question 2 circle"/>
          <p:cNvSpPr/>
          <p:nvPr/>
        </p:nvSpPr>
        <p:spPr>
          <a:xfrm>
            <a:off x="548640" y="2194560"/>
            <a:ext cx="502920" cy="502920"/>
          </a:xfrm>
          <a:prstGeom prst="ellipse">
            <a:avLst/>
          </a:prstGeom>
          <a:solidFill>
            <a:schemeClr val="accent2"/>
          </a:solidFill>
          <a:ln w="12700">
            <a:solidFill>
              <a:schemeClr val="accent2"/>
            </a:solidFill>
            <a:prstDash val="solid"/>
          </a:ln>
        </p:spPr>
        <p:txBody>
          <a:bodyPr/>
          <a:lstStyle/>
          <a:p>
            <a:endParaRPr lang="en-US"/>
          </a:p>
        </p:txBody>
      </p:sp>
      <p:sp>
        <p:nvSpPr>
          <p:cNvPr id="8" name="Question 2 number"/>
          <p:cNvSpPr txBox="1"/>
          <p:nvPr/>
        </p:nvSpPr>
        <p:spPr>
          <a:xfrm>
            <a:off x="548640" y="2194560"/>
            <a:ext cx="502920" cy="502920"/>
          </a:xfrm>
          <a:prstGeom prst="rect">
            <a:avLst/>
          </a:prstGeom>
          <a:noFill/>
          <a:ln/>
        </p:spPr>
        <p:txBody>
          <a:bodyPr wrap="square" lIns="0" tIns="0" rIns="0" bIns="0" rtlCol="0" anchor="ctr"/>
          <a:lstStyle/>
          <a:p>
            <a:pPr marL="0" indent="0" algn="ctr">
              <a:buNone/>
            </a:pPr>
            <a:r>
              <a:rPr lang="en-US" sz="1800" b="1" dirty="0">
                <a:solidFill>
                  <a:schemeClr val="tx2"/>
                </a:solidFill>
                <a:latin typeface="Calibri" pitchFamily="34" charset="0"/>
                <a:ea typeface="Calibri" pitchFamily="34" charset="-122"/>
                <a:cs typeface="Calibri" pitchFamily="34" charset="-120"/>
              </a:rPr>
              <a:t>2</a:t>
            </a:r>
            <a:endParaRPr lang="en-US" sz="1800" dirty="0"/>
          </a:p>
        </p:txBody>
      </p:sp>
      <p:sp>
        <p:nvSpPr>
          <p:cNvPr id="9" name="Question 2"/>
          <p:cNvSpPr txBox="1"/>
          <p:nvPr/>
        </p:nvSpPr>
        <p:spPr>
          <a:xfrm>
            <a:off x="1280160" y="2194560"/>
            <a:ext cx="6400800" cy="502920"/>
          </a:xfrm>
          <a:prstGeom prst="rect">
            <a:avLst/>
          </a:prstGeom>
          <a:noFill/>
          <a:ln/>
        </p:spPr>
        <p:txBody>
          <a:bodyPr wrap="square" lIns="0" tIns="0" rIns="0" bIns="0" rtlCol="0" anchor="ctr"/>
          <a:lstStyle/>
          <a:p>
            <a:pPr marL="0" indent="0">
              <a:buNone/>
            </a:pPr>
            <a:r>
              <a:rPr lang="en-US" sz="1800" dirty="0">
                <a:solidFill>
                  <a:schemeClr val="bg1"/>
                </a:solidFill>
                <a:latin typeface="Calibri" pitchFamily="34" charset="0"/>
                <a:ea typeface="Calibri" pitchFamily="34" charset="-122"/>
                <a:cs typeface="Calibri" pitchFamily="34" charset="-120"/>
              </a:rPr>
              <a:t>Where is your assignment most vulnerable, and what will you decide there?</a:t>
            </a:r>
            <a:endParaRPr lang="en-US" sz="1800" dirty="0"/>
          </a:p>
        </p:txBody>
      </p:sp>
      <p:sp>
        <p:nvSpPr>
          <p:cNvPr id="10" name="Question 3 circle"/>
          <p:cNvSpPr/>
          <p:nvPr/>
        </p:nvSpPr>
        <p:spPr>
          <a:xfrm>
            <a:off x="548640" y="2971800"/>
            <a:ext cx="502920" cy="502920"/>
          </a:xfrm>
          <a:prstGeom prst="ellipse">
            <a:avLst/>
          </a:prstGeom>
          <a:solidFill>
            <a:schemeClr val="accent2"/>
          </a:solidFill>
          <a:ln w="12700">
            <a:solidFill>
              <a:schemeClr val="accent2"/>
            </a:solidFill>
            <a:prstDash val="solid"/>
          </a:ln>
        </p:spPr>
        <p:txBody>
          <a:bodyPr/>
          <a:lstStyle/>
          <a:p>
            <a:endParaRPr lang="en-US"/>
          </a:p>
        </p:txBody>
      </p:sp>
      <p:sp>
        <p:nvSpPr>
          <p:cNvPr id="11" name="Question 3 number"/>
          <p:cNvSpPr txBox="1"/>
          <p:nvPr/>
        </p:nvSpPr>
        <p:spPr>
          <a:xfrm>
            <a:off x="548640" y="2971800"/>
            <a:ext cx="502920" cy="502920"/>
          </a:xfrm>
          <a:prstGeom prst="rect">
            <a:avLst/>
          </a:prstGeom>
          <a:noFill/>
          <a:ln/>
        </p:spPr>
        <p:txBody>
          <a:bodyPr wrap="square" lIns="0" tIns="0" rIns="0" bIns="0" rtlCol="0" anchor="ctr"/>
          <a:lstStyle/>
          <a:p>
            <a:pPr marL="0" indent="0" algn="ctr">
              <a:buNone/>
            </a:pPr>
            <a:r>
              <a:rPr lang="en-US" sz="1800" b="1" dirty="0">
                <a:solidFill>
                  <a:schemeClr val="tx2"/>
                </a:solidFill>
                <a:latin typeface="Calibri" pitchFamily="34" charset="0"/>
                <a:ea typeface="Calibri" pitchFamily="34" charset="-122"/>
                <a:cs typeface="Calibri" pitchFamily="34" charset="-120"/>
              </a:rPr>
              <a:t>3</a:t>
            </a:r>
            <a:endParaRPr lang="en-US" sz="1800" dirty="0"/>
          </a:p>
        </p:txBody>
      </p:sp>
      <p:sp>
        <p:nvSpPr>
          <p:cNvPr id="12" name="Question 3"/>
          <p:cNvSpPr txBox="1"/>
          <p:nvPr/>
        </p:nvSpPr>
        <p:spPr>
          <a:xfrm>
            <a:off x="1280160" y="2971800"/>
            <a:ext cx="6400800" cy="502920"/>
          </a:xfrm>
          <a:prstGeom prst="rect">
            <a:avLst/>
          </a:prstGeom>
          <a:noFill/>
          <a:ln/>
        </p:spPr>
        <p:txBody>
          <a:bodyPr wrap="square" lIns="0" tIns="0" rIns="0" bIns="0" rtlCol="0" anchor="ctr"/>
          <a:lstStyle/>
          <a:p>
            <a:pPr marL="0" indent="0">
              <a:buNone/>
            </a:pPr>
            <a:r>
              <a:rPr lang="en-US" sz="1800" dirty="0">
                <a:solidFill>
                  <a:schemeClr val="bg1"/>
                </a:solidFill>
                <a:latin typeface="Calibri" pitchFamily="34" charset="0"/>
                <a:ea typeface="Calibri" pitchFamily="34" charset="-122"/>
                <a:cs typeface="Calibri" pitchFamily="34" charset="-120"/>
              </a:rPr>
              <a:t>What is one next step you will take?</a:t>
            </a:r>
            <a:endParaRPr lang="en-US" sz="1800" dirty="0"/>
          </a:p>
        </p:txBody>
      </p:sp>
      <p:sp>
        <p:nvSpPr>
          <p:cNvPr id="13" name="Contacts"/>
          <p:cNvSpPr txBox="1"/>
          <p:nvPr/>
        </p:nvSpPr>
        <p:spPr>
          <a:xfrm>
            <a:off x="548640" y="4114800"/>
            <a:ext cx="7315200" cy="320040"/>
          </a:xfrm>
          <a:prstGeom prst="rect">
            <a:avLst/>
          </a:prstGeom>
          <a:noFill/>
          <a:ln/>
        </p:spPr>
        <p:txBody>
          <a:bodyPr wrap="square" lIns="0" tIns="0" rIns="0" bIns="0" rtlCol="0" anchor="t"/>
          <a:lstStyle/>
          <a:p>
            <a:pPr marL="0" indent="0">
              <a:buNone/>
            </a:pPr>
            <a:r>
              <a:rPr lang="en-US" sz="1400" dirty="0">
                <a:solidFill>
                  <a:srgbClr val="E3ECE6"/>
                </a:solidFill>
                <a:latin typeface="Calibri" pitchFamily="34" charset="0"/>
                <a:ea typeface="Calibri" pitchFamily="34" charset="-122"/>
                <a:cs typeface="Calibri" pitchFamily="34" charset="-120"/>
              </a:rPr>
              <a:t>megan_alstot@baylor.edu   ·   [Amy: email]</a:t>
            </a:r>
            <a:endParaRPr lang="en-US" sz="1400" dirty="0"/>
          </a:p>
        </p:txBody>
      </p:sp>
      <p:sp>
        <p:nvSpPr>
          <p:cNvPr id="25" name="Slide Number Placeholder 0"/>
          <p:cNvSpPr>
            <a:spLocks noGrp="1"/>
          </p:cNvSpPr>
          <p:nvPr>
            <p:ph type="sldNum" sz="quarter" idx="4294967295"/>
          </p:nvPr>
        </p:nvSpPr>
        <p:spPr>
          <a:xfrm>
            <a:off x="841248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C9CCCA"/>
                </a:solidFill>
              </a:defRPr>
            </a:lvl1pPr>
          </a:lstStyle>
          <a:p>
            <a:pPr algn="r"/>
            <a:fld id="{F7021451-1387-4CA6-816F-3879F97B5CBC}" type="slidenum">
              <a:rPr lang="en-US" b="0"/>
              <a:t>35</a:t>
            </a:fld>
            <a:endParaRPr lang="en-US"/>
          </a:p>
        </p:txBody>
      </p:sp>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85800"/>
          </a:xfrm>
          <a:prstGeom prst="rect">
            <a:avLst/>
          </a:prstGeom>
          <a:noFill/>
          <a:ln/>
        </p:spPr>
        <p:txBody>
          <a:bodyPr wrap="square" lIns="0" tIns="0" rIns="0" bIns="0" rtlCol="0" anchor="ctr"/>
          <a:lstStyle/>
          <a:p>
            <a:pPr marL="0" indent="0" algn="ctr">
              <a:buNone/>
            </a:pPr>
            <a:r>
              <a:rPr lang="en-US" sz="3400" b="1" dirty="0">
                <a:solidFill>
                  <a:schemeClr val="tx2"/>
                </a:solidFill>
              </a:rPr>
              <a:t>References</a:t>
            </a:r>
            <a:endParaRPr lang="en-US" sz="3400" dirty="0"/>
          </a:p>
        </p:txBody>
      </p:sp>
      <p:sp>
        <p:nvSpPr>
          <p:cNvPr id="3" name="Reference list"/>
          <p:cNvSpPr txBox="1"/>
          <p:nvPr/>
        </p:nvSpPr>
        <p:spPr>
          <a:xfrm>
            <a:off x="457200" y="1005840"/>
            <a:ext cx="8229600" cy="3703320"/>
          </a:xfrm>
          <a:prstGeom prst="rect">
            <a:avLst/>
          </a:prstGeom>
          <a:noFill/>
          <a:ln/>
        </p:spPr>
        <p:txBody>
          <a:bodyPr wrap="square" lIns="0" tIns="0" rIns="0" bIns="0" rtlCol="0" anchor="t"/>
          <a:lstStyle/>
          <a:p>
            <a:pPr marL="0" indent="0">
              <a:spcAft>
                <a:spcPts val="500"/>
              </a:spcAft>
              <a:buNone/>
            </a:pPr>
            <a:r>
              <a:rPr lang="en-US" sz="1100" dirty="0">
                <a:solidFill>
                  <a:schemeClr val="tx1"/>
                </a:solidFill>
                <a:latin typeface="Calibri" pitchFamily="34" charset="0"/>
                <a:ea typeface="Calibri" pitchFamily="34" charset="-122"/>
                <a:cs typeface="Calibri" pitchFamily="34" charset="-120"/>
              </a:rPr>
              <a:t>Alstot, M. (2026). </a:t>
            </a:r>
            <a:r>
              <a:rPr lang="en-US" sz="1100" i="1" dirty="0">
                <a:solidFill>
                  <a:schemeClr val="tx1"/>
                </a:solidFill>
                <a:latin typeface="Calibri" pitchFamily="34" charset="0"/>
                <a:ea typeface="Calibri" pitchFamily="34" charset="-122"/>
                <a:cs typeface="Calibri" pitchFamily="34" charset="-120"/>
              </a:rPr>
              <a:t>Generative artificial intelligence and the metaliterate learner: A mixed methods study of AI-literacy and US undergraduate students' interaction within an AI-integrated knowledge economy</a:t>
            </a:r>
            <a:r>
              <a:rPr lang="en-US" sz="1100" dirty="0">
                <a:solidFill>
                  <a:schemeClr val="tx1"/>
                </a:solidFill>
                <a:latin typeface="Calibri" pitchFamily="34" charset="0"/>
                <a:ea typeface="Calibri" pitchFamily="34" charset="-122"/>
                <a:cs typeface="Calibri" pitchFamily="34" charset="-120"/>
              </a:rPr>
              <a:t> (Publication No. 32582165) [Doctoral dissertation, Pepperdine University]. ProQuest Dissertations and Theses Global.</a:t>
            </a:r>
            <a:endParaRPr lang="en-US" sz="1100" dirty="0"/>
          </a:p>
          <a:p>
            <a:pPr marL="0" indent="0">
              <a:spcAft>
                <a:spcPts val="500"/>
              </a:spcAft>
              <a:buNone/>
            </a:pPr>
            <a:r>
              <a:rPr lang="en-US" sz="1100" dirty="0">
                <a:solidFill>
                  <a:schemeClr val="tx1"/>
                </a:solidFill>
                <a:latin typeface="Calibri" pitchFamily="34" charset="0"/>
                <a:ea typeface="Calibri" pitchFamily="34" charset="-122"/>
                <a:cs typeface="Calibri" pitchFamily="34" charset="-120"/>
              </a:rPr>
              <a:t>Bleistein, T., &amp; Snyder, T. (2026, March 31). Advancing AI literacy: A faculty course refresh institute at Indiana Wesleyan University. </a:t>
            </a:r>
            <a:r>
              <a:rPr lang="en-US" sz="1100" i="1" dirty="0">
                <a:solidFill>
                  <a:schemeClr val="tx1"/>
                </a:solidFill>
                <a:latin typeface="Calibri" pitchFamily="34" charset="0"/>
                <a:ea typeface="Calibri" pitchFamily="34" charset="-122"/>
                <a:cs typeface="Calibri" pitchFamily="34" charset="-120"/>
              </a:rPr>
              <a:t>EDUCAUSE Review</a:t>
            </a:r>
            <a:r>
              <a:rPr lang="en-US" sz="1100" dirty="0">
                <a:solidFill>
                  <a:schemeClr val="tx1"/>
                </a:solidFill>
                <a:latin typeface="Calibri" pitchFamily="34" charset="0"/>
                <a:ea typeface="Calibri" pitchFamily="34" charset="-122"/>
                <a:cs typeface="Calibri" pitchFamily="34" charset="-120"/>
              </a:rPr>
              <a:t>.</a:t>
            </a:r>
            <a:endParaRPr lang="en-US" sz="1100" dirty="0"/>
          </a:p>
          <a:p>
            <a:pPr marL="0" indent="0">
              <a:spcAft>
                <a:spcPts val="500"/>
              </a:spcAft>
              <a:buNone/>
            </a:pPr>
            <a:r>
              <a:rPr lang="en-US" sz="1100" dirty="0">
                <a:solidFill>
                  <a:schemeClr val="tx1"/>
                </a:solidFill>
                <a:latin typeface="Calibri" pitchFamily="34" charset="0"/>
                <a:ea typeface="Calibri" pitchFamily="34" charset="-122"/>
                <a:cs typeface="Calibri" pitchFamily="34" charset="-120"/>
              </a:rPr>
              <a:t>Dakan, R., Feller, J., &amp; Anthropic. (2025). </a:t>
            </a:r>
            <a:r>
              <a:rPr lang="en-US" sz="1100" i="1" dirty="0">
                <a:solidFill>
                  <a:schemeClr val="tx1"/>
                </a:solidFill>
                <a:latin typeface="Calibri" pitchFamily="34" charset="0"/>
                <a:ea typeface="Calibri" pitchFamily="34" charset="-122"/>
                <a:cs typeface="Calibri" pitchFamily="34" charset="-120"/>
              </a:rPr>
              <a:t>AI fluency: Framework &amp; foundations</a:t>
            </a:r>
            <a:r>
              <a:rPr lang="en-US" sz="1100" dirty="0">
                <a:solidFill>
                  <a:schemeClr val="tx1"/>
                </a:solidFill>
                <a:latin typeface="Calibri" pitchFamily="34" charset="0"/>
                <a:ea typeface="Calibri" pitchFamily="34" charset="-122"/>
                <a:cs typeface="Calibri" pitchFamily="34" charset="-120"/>
              </a:rPr>
              <a:t>. CC BY-NC-SA 4.0.</a:t>
            </a:r>
            <a:endParaRPr lang="en-US" sz="1100" dirty="0"/>
          </a:p>
          <a:p>
            <a:pPr marL="0" indent="0">
              <a:spcAft>
                <a:spcPts val="500"/>
              </a:spcAft>
              <a:buNone/>
            </a:pPr>
            <a:r>
              <a:rPr lang="en-US" sz="1100" dirty="0">
                <a:solidFill>
                  <a:schemeClr val="tx1"/>
                </a:solidFill>
                <a:latin typeface="Calibri" pitchFamily="34" charset="0"/>
                <a:ea typeface="Calibri" pitchFamily="34" charset="-122"/>
                <a:cs typeface="Calibri" pitchFamily="34" charset="-120"/>
              </a:rPr>
              <a:t>Fisher, M., Goddu, M. K., &amp; Keil, F. C. (2015). Searching for explanations: How the internet inflates estimates of internal knowledge. </a:t>
            </a:r>
            <a:r>
              <a:rPr lang="en-US" sz="1100" i="1" dirty="0">
                <a:solidFill>
                  <a:schemeClr val="tx1"/>
                </a:solidFill>
                <a:latin typeface="Calibri" pitchFamily="34" charset="0"/>
                <a:ea typeface="Calibri" pitchFamily="34" charset="-122"/>
                <a:cs typeface="Calibri" pitchFamily="34" charset="-120"/>
              </a:rPr>
              <a:t>Journal of Experimental Psychology: General, 144</a:t>
            </a:r>
            <a:r>
              <a:rPr lang="en-US" sz="1100" dirty="0">
                <a:solidFill>
                  <a:schemeClr val="tx1"/>
                </a:solidFill>
                <a:latin typeface="Calibri" pitchFamily="34" charset="0"/>
                <a:ea typeface="Calibri" pitchFamily="34" charset="-122"/>
                <a:cs typeface="Calibri" pitchFamily="34" charset="-120"/>
              </a:rPr>
              <a:t>(3), 674–687. https://doi.org/10.1037/xge0000070</a:t>
            </a:r>
            <a:endParaRPr lang="en-US" sz="1100" dirty="0"/>
          </a:p>
          <a:p>
            <a:pPr marL="0" indent="0">
              <a:spcAft>
                <a:spcPts val="500"/>
              </a:spcAft>
              <a:buNone/>
            </a:pPr>
            <a:r>
              <a:rPr lang="en-US" sz="1100" dirty="0">
                <a:solidFill>
                  <a:schemeClr val="tx1"/>
                </a:solidFill>
                <a:latin typeface="Calibri" pitchFamily="34" charset="0"/>
                <a:ea typeface="Calibri" pitchFamily="34" charset="-122"/>
                <a:cs typeface="Calibri" pitchFamily="34" charset="-120"/>
              </a:rPr>
              <a:t>Klein, C. R., &amp; Klein, R. (2025). The extended hollowed mind: Why foundational knowledge is indispensable in the age of AI. </a:t>
            </a:r>
            <a:r>
              <a:rPr lang="en-US" sz="1100" i="1" dirty="0">
                <a:solidFill>
                  <a:schemeClr val="tx1"/>
                </a:solidFill>
                <a:latin typeface="Calibri" pitchFamily="34" charset="0"/>
                <a:ea typeface="Calibri" pitchFamily="34" charset="-122"/>
                <a:cs typeface="Calibri" pitchFamily="34" charset="-120"/>
              </a:rPr>
              <a:t>Frontiers in Artificial Intelligence, 8</a:t>
            </a:r>
            <a:r>
              <a:rPr lang="en-US" sz="1100" dirty="0">
                <a:solidFill>
                  <a:schemeClr val="tx1"/>
                </a:solidFill>
                <a:latin typeface="Calibri" pitchFamily="34" charset="0"/>
                <a:ea typeface="Calibri" pitchFamily="34" charset="-122"/>
                <a:cs typeface="Calibri" pitchFamily="34" charset="-120"/>
              </a:rPr>
              <a:t>, Article 1719019. https://doi.org/10.3389/frai.2025.1719019</a:t>
            </a:r>
            <a:endParaRPr lang="en-US" sz="1100" dirty="0"/>
          </a:p>
          <a:p>
            <a:pPr marL="0" indent="0">
              <a:spcAft>
                <a:spcPts val="500"/>
              </a:spcAft>
              <a:buNone/>
            </a:pPr>
            <a:r>
              <a:rPr lang="en-US" sz="1100" dirty="0">
                <a:solidFill>
                  <a:schemeClr val="tx1"/>
                </a:solidFill>
                <a:latin typeface="Calibri" pitchFamily="34" charset="0"/>
                <a:ea typeface="Calibri" pitchFamily="34" charset="-122"/>
                <a:cs typeface="Calibri" pitchFamily="34" charset="-120"/>
              </a:rPr>
              <a:t>Ludwig, D. L., &amp; Zakrajsek, T. D. (2026). </a:t>
            </a:r>
            <a:r>
              <a:rPr lang="en-US" sz="1100" i="1" dirty="0">
                <a:solidFill>
                  <a:schemeClr val="tx1"/>
                </a:solidFill>
                <a:latin typeface="Calibri" pitchFamily="34" charset="0"/>
                <a:ea typeface="Calibri" pitchFamily="34" charset="-122"/>
                <a:cs typeface="Calibri" pitchFamily="34" charset="-120"/>
              </a:rPr>
              <a:t>The science of learning meets AI</a:t>
            </a:r>
            <a:r>
              <a:rPr lang="en-US" sz="1100" dirty="0">
                <a:solidFill>
                  <a:schemeClr val="tx1"/>
                </a:solidFill>
                <a:latin typeface="Calibri" pitchFamily="34" charset="0"/>
                <a:ea typeface="Calibri" pitchFamily="34" charset="-122"/>
                <a:cs typeface="Calibri" pitchFamily="34" charset="-120"/>
              </a:rPr>
              <a:t>. Routledge.</a:t>
            </a:r>
            <a:endParaRPr lang="en-US" sz="1100" dirty="0"/>
          </a:p>
          <a:p>
            <a:pPr marL="0" indent="0">
              <a:spcAft>
                <a:spcPts val="500"/>
              </a:spcAft>
              <a:buNone/>
            </a:pPr>
            <a:r>
              <a:rPr lang="en-US" sz="1100" dirty="0">
                <a:solidFill>
                  <a:schemeClr val="tx1"/>
                </a:solidFill>
                <a:latin typeface="Calibri" pitchFamily="34" charset="0"/>
                <a:ea typeface="Calibri" pitchFamily="34" charset="-122"/>
                <a:cs typeface="Calibri" pitchFamily="34" charset="-120"/>
              </a:rPr>
              <a:t>Middendorf, J., &amp; Pace, D. (2004). Decoding the disciplines: A model for helping students learn disciplinary ways of thinking. </a:t>
            </a:r>
            <a:r>
              <a:rPr lang="en-US" sz="1100" i="1" dirty="0">
                <a:solidFill>
                  <a:schemeClr val="tx1"/>
                </a:solidFill>
                <a:latin typeface="Calibri" pitchFamily="34" charset="0"/>
                <a:ea typeface="Calibri" pitchFamily="34" charset="-122"/>
                <a:cs typeface="Calibri" pitchFamily="34" charset="-120"/>
              </a:rPr>
              <a:t>New Directions for Teaching and Learning, 2004</a:t>
            </a:r>
            <a:r>
              <a:rPr lang="en-US" sz="1100" dirty="0">
                <a:solidFill>
                  <a:schemeClr val="tx1"/>
                </a:solidFill>
                <a:latin typeface="Calibri" pitchFamily="34" charset="0"/>
                <a:ea typeface="Calibri" pitchFamily="34" charset="-122"/>
                <a:cs typeface="Calibri" pitchFamily="34" charset="-120"/>
              </a:rPr>
              <a:t>(98), 1–12. https://doi.org/10.1002/tl.142</a:t>
            </a:r>
            <a:endParaRPr lang="en-US" sz="1100" dirty="0"/>
          </a:p>
          <a:p>
            <a:pPr marL="0" indent="0">
              <a:spcAft>
                <a:spcPts val="500"/>
              </a:spcAft>
              <a:buNone/>
            </a:pPr>
            <a:r>
              <a:rPr lang="en-US" sz="1100" dirty="0">
                <a:solidFill>
                  <a:schemeClr val="tx1"/>
                </a:solidFill>
                <a:latin typeface="Calibri" pitchFamily="34" charset="0"/>
                <a:ea typeface="Calibri" pitchFamily="34" charset="-122"/>
                <a:cs typeface="Calibri" pitchFamily="34" charset="-120"/>
              </a:rPr>
              <a:t>Perkins, M., Furze, L., Roe, J., &amp; MacVaugh, J. (2024). The Artificial Intelligence Assessment Scale (AIAS): A framework for ethical integration of generative AI in educational assessment. </a:t>
            </a:r>
            <a:r>
              <a:rPr lang="en-US" sz="1100" i="1" dirty="0">
                <a:solidFill>
                  <a:schemeClr val="tx1"/>
                </a:solidFill>
                <a:latin typeface="Calibri" pitchFamily="34" charset="0"/>
                <a:ea typeface="Calibri" pitchFamily="34" charset="-122"/>
                <a:cs typeface="Calibri" pitchFamily="34" charset="-120"/>
              </a:rPr>
              <a:t>Journal of University Teaching and Learning Practice, 21</a:t>
            </a:r>
            <a:r>
              <a:rPr lang="en-US" sz="1100" dirty="0">
                <a:solidFill>
                  <a:schemeClr val="tx1"/>
                </a:solidFill>
                <a:latin typeface="Calibri" pitchFamily="34" charset="0"/>
                <a:ea typeface="Calibri" pitchFamily="34" charset="-122"/>
                <a:cs typeface="Calibri" pitchFamily="34" charset="-120"/>
              </a:rPr>
              <a:t>(6). https://doi.org/10.53761/q3azde36</a:t>
            </a:r>
            <a:endParaRPr lang="en-US" sz="1100" dirty="0"/>
          </a:p>
          <a:p>
            <a:pPr marL="0" indent="0">
              <a:spcAft>
                <a:spcPts val="500"/>
              </a:spcAft>
              <a:buNone/>
            </a:pPr>
            <a:r>
              <a:rPr lang="en-US" sz="1100" dirty="0">
                <a:solidFill>
                  <a:schemeClr val="tx1"/>
                </a:solidFill>
                <a:latin typeface="Calibri" pitchFamily="34" charset="0"/>
                <a:ea typeface="Calibri" pitchFamily="34" charset="-122"/>
                <a:cs typeface="Calibri" pitchFamily="34" charset="-120"/>
              </a:rPr>
              <a:t>Scott, I. (2026, February 16). </a:t>
            </a:r>
            <a:r>
              <a:rPr lang="en-US" sz="1100" i="1" dirty="0">
                <a:solidFill>
                  <a:schemeClr val="tx1"/>
                </a:solidFill>
                <a:latin typeface="Calibri" pitchFamily="34" charset="0"/>
                <a:ea typeface="Calibri" pitchFamily="34" charset="-122"/>
                <a:cs typeface="Calibri" pitchFamily="34" charset="-120"/>
              </a:rPr>
              <a:t>The AI cognitive use pyramid</a:t>
            </a:r>
            <a:r>
              <a:rPr lang="en-US" sz="1100" dirty="0">
                <a:solidFill>
                  <a:schemeClr val="tx1"/>
                </a:solidFill>
                <a:latin typeface="Calibri" pitchFamily="34" charset="0"/>
                <a:ea typeface="Calibri" pitchFamily="34" charset="-122"/>
                <a:cs typeface="Calibri" pitchFamily="34" charset="-120"/>
              </a:rPr>
              <a:t>. LinkedIn. https://www.linkedin.com/pulse/ai-cognitive-use-pyramid-inara-scott-mzvvc/</a:t>
            </a:r>
            <a:endParaRPr lang="en-US" sz="1100" dirty="0"/>
          </a:p>
          <a:p>
            <a:pPr marL="0" indent="0">
              <a:spcAft>
                <a:spcPts val="500"/>
              </a:spcAft>
              <a:buNone/>
            </a:pPr>
            <a:r>
              <a:rPr lang="en-US" sz="1100" dirty="0">
                <a:solidFill>
                  <a:schemeClr val="tx1"/>
                </a:solidFill>
                <a:latin typeface="Calibri" pitchFamily="34" charset="0"/>
                <a:ea typeface="Calibri" pitchFamily="34" charset="-122"/>
                <a:cs typeface="Calibri" pitchFamily="34" charset="-120"/>
              </a:rPr>
              <a:t>Sweller, J., van Merriënboer, J. J. G., &amp; Paas, F. G. W. C. (1998). Cognitive architecture and instructional design. </a:t>
            </a:r>
            <a:r>
              <a:rPr lang="en-US" sz="1100" i="1" dirty="0">
                <a:solidFill>
                  <a:schemeClr val="tx1"/>
                </a:solidFill>
                <a:latin typeface="Calibri" pitchFamily="34" charset="0"/>
                <a:ea typeface="Calibri" pitchFamily="34" charset="-122"/>
                <a:cs typeface="Calibri" pitchFamily="34" charset="-120"/>
              </a:rPr>
              <a:t>Educational Psychology Review, 10</a:t>
            </a:r>
            <a:r>
              <a:rPr lang="en-US" sz="1100" dirty="0">
                <a:solidFill>
                  <a:schemeClr val="tx1"/>
                </a:solidFill>
                <a:latin typeface="Calibri" pitchFamily="34" charset="0"/>
                <a:ea typeface="Calibri" pitchFamily="34" charset="-122"/>
                <a:cs typeface="Calibri" pitchFamily="34" charset="-120"/>
              </a:rPr>
              <a:t>(3), 251–296. https://doi.org/10.1023/A:1022193728205</a:t>
            </a:r>
            <a:endParaRPr lang="en-US" sz="1100" dirty="0"/>
          </a:p>
        </p:txBody>
      </p:sp>
      <p:sp>
        <p:nvSpPr>
          <p:cNvPr id="25" name="Slide Number Placeholder 0"/>
          <p:cNvSpPr>
            <a:spLocks noGrp="1"/>
          </p:cNvSpPr>
          <p:nvPr>
            <p:ph type="sldNum" sz="quarter" idx="4294967295"/>
          </p:nvPr>
        </p:nvSpPr>
        <p:spPr>
          <a:xfrm>
            <a:off x="841248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3"/>
                </a:solidFill>
              </a:defRPr>
            </a:lvl1pPr>
          </a:lstStyle>
          <a:p>
            <a:pPr algn="r"/>
            <a:fld id="{F7021451-1387-4CA6-816F-3879F97B5CBC}" type="slidenum">
              <a:rPr lang="en-US" b="0"/>
              <a:t>36</a:t>
            </a:fld>
            <a:endParaRPr lang="en-US"/>
          </a:p>
        </p:txBody>
      </p:sp>
    </p:spTree>
  </p:cSld>
  <p:clrMapOvr>
    <a:masterClrMapping/>
  </p:clrMapOvr>
  <p:transition spd="med">
    <p:fade/>
  </p:transition>
</p:sld>
</file>

<file path=ppt/tags/tag1.xml><?xml version="1.0" encoding="utf-8"?>
<p:tagLst xmlns:a="http://schemas.openxmlformats.org/drawingml/2006/main" xmlns:r="http://schemas.openxmlformats.org/officeDocument/2006/relationships" xmlns:p="http://schemas.openxmlformats.org/presentationml/2006/main">
  <p:tag name="MENTIMETER_SERIES_ID_KEY" val="blbskrob448td7sep5gdggftxvhcbffe"/>
</p:tagLst>
</file>

<file path=ppt/theme/theme1.xml><?xml version="1.0" encoding="utf-8"?>
<a:theme xmlns:a="http://schemas.openxmlformats.org/drawingml/2006/main" name="Baylor HITL">
  <a:themeElements>
    <a:clrScheme name="Baylor HITL">
      <a:dk1>
        <a:srgbClr val="1A1A1A"/>
      </a:dk1>
      <a:lt1>
        <a:srgbClr val="FFFFFF"/>
      </a:lt1>
      <a:dk2>
        <a:srgbClr val="154734"/>
      </a:dk2>
      <a:lt2>
        <a:srgbClr val="F1F2F1"/>
      </a:lt2>
      <a:accent1>
        <a:srgbClr val="154734"/>
      </a:accent1>
      <a:accent2>
        <a:srgbClr val="FFB81C"/>
      </a:accent2>
      <a:accent3>
        <a:srgbClr val="5F6362"/>
      </a:accent3>
      <a:accent4>
        <a:srgbClr val="E3ECE6"/>
      </a:accent4>
      <a:accent5>
        <a:srgbClr val="FFF3D6"/>
      </a:accent5>
      <a:accent6>
        <a:srgbClr val="C9CCCA"/>
      </a:accent6>
      <a:hlink>
        <a:srgbClr val="154734"/>
      </a:hlink>
      <a:folHlink>
        <a:srgbClr val="5F6362"/>
      </a:folHlink>
    </a:clrScheme>
    <a:fontScheme name="Baylor HIT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7DB8252-3822-A14E-A4BD-3D8CA3EA4BE4}">
  <we:reference id="WA200010001" version="1.0.0.1" store="Omex" storeType="OMEX"/>
  <we:alternateReferences>
    <we:reference id="WA200010001" version="1.0.0.1" store="WA200010001" storeType="OMEX"/>
  </we:alternateReferences>
  <we:properties>
    <we:property name="claude.fileId" value="&quot;c29857a6-e55e-4722-894b-b47be122d770&quot;"/>
  </we:properties>
  <we:bindings/>
  <we:snapshot xmlns:r="http://schemas.openxmlformats.org/officeDocument/2006/relationships"/>
</we:webextension>
</file>

<file path=ppt/webextensions/webextension2.xml><?xml version="1.0" encoding="utf-8"?>
<we:webextension xmlns:we="http://schemas.microsoft.com/office/webextensions/webextension/2010/11" id="{49D98123-309B-8740-B4B9-39375735BD2A}">
  <we:reference id="wa104381526" version="1.0.0.2" store="en-US" storeType="OMEX"/>
  <we:alternateReferences>
    <we:reference id="WA104381526" version="1.0.0.2" store="WA104381526" storeType="OMEX"/>
  </we:alternateReferences>
  <we:properties/>
  <we:bindings/>
  <we:snapshot xmlns:r="http://schemas.openxmlformats.org/officeDocument/2006/relationships"/>
</we:webextension>
</file>

<file path=ppt/webextensions/webextension3.xml><?xml version="1.0" encoding="utf-8"?>
<we:webextension xmlns:we="http://schemas.microsoft.com/office/webextensions/webextension/2010/11" id="{9AF19B21-D90C-3C4B-BD7B-2C6F1E4FEE19}">
  <we:reference id="wa104381526" version="1.0.0.3" store="en-US" storeType="OMEX"/>
  <we:alternateReferences>
    <we:reference id="WA104381526" version="1.0.0.3" store="WA104381526" storeType="OMEX"/>
  </we:alternateReferences>
  <we:properties>
    <we:property name="FormID" value="&quot;NfvSImolm0W89Nwj1C3ApFSahGzEGZVKtW1ldnCgeL1URVQxQzlYSE9GWEFVRktIVjBaTko1ODk4Qi4u&quot;"/>
    <we:property name="FormMode" value="&quot;DesignTime&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1144</TotalTime>
  <Words>6732</Words>
  <Application>Microsoft Macintosh PowerPoint</Application>
  <PresentationFormat>On-screen Show (16:9)</PresentationFormat>
  <Paragraphs>645</Paragraphs>
  <Slides>36</Slides>
  <Notes>35</Notes>
  <HiddenSlides>2</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Baylor HITL</vt:lpstr>
      <vt:lpstr>Humans in the Loop: AI for Learning and Research</vt:lpstr>
      <vt:lpstr>Our session</vt:lpstr>
      <vt:lpstr>PowerPoint Presentation</vt:lpstr>
      <vt:lpstr>PowerPoint Presentation</vt:lpstr>
      <vt:lpstr>The human stays in the loop</vt:lpstr>
      <vt:lpstr>The 4Ds of AI Fluency</vt:lpstr>
      <vt:lpstr>The 3As and 4Ds of AI Fluency</vt:lpstr>
      <vt:lpstr>The AI Literacy Continuum</vt:lpstr>
      <vt:lpstr>The cognitive connection at each level</vt:lpstr>
      <vt:lpstr>PowerPoint Presentation</vt:lpstr>
      <vt:lpstr>Three kinds of cognitive load</vt:lpstr>
      <vt:lpstr>PowerPoint Presentation</vt:lpstr>
      <vt:lpstr>PowerPoint Presentation</vt:lpstr>
      <vt:lpstr>The illusion of learning</vt:lpstr>
      <vt:lpstr>learning is painful!</vt:lpstr>
      <vt:lpstr>Fortified or fragile?</vt:lpstr>
      <vt:lpstr>The AI Literacy Continuum</vt:lpstr>
      <vt:lpstr>Assignment Stress Test</vt:lpstr>
      <vt:lpstr>Worked example: EDMS 523 Bundle 1</vt:lpstr>
      <vt:lpstr>Start where students get stuck</vt:lpstr>
      <vt:lpstr>Worked example: EDMS 523 Bundle 1</vt:lpstr>
      <vt:lpstr>Read each task on two axes</vt:lpstr>
      <vt:lpstr>Worked example: EDMS 523 Bundle 1</vt:lpstr>
      <vt:lpstr>The rationale row, up close</vt:lpstr>
      <vt:lpstr>The AI Literacy Continuum</vt:lpstr>
      <vt:lpstr>Roles AI can take at the vulnerable point</vt:lpstr>
      <vt:lpstr>The 3As and 4Ds in Instructional Design</vt:lpstr>
      <vt:lpstr>From stress test to student interaction</vt:lpstr>
      <vt:lpstr>One assignment, redesigned</vt:lpstr>
      <vt:lpstr>One assignment, redesigned</vt:lpstr>
      <vt:lpstr>One assignment, redesigned</vt:lpstr>
      <vt:lpstr>One assignment, redesigned</vt:lpstr>
      <vt:lpstr>PowerPoint Presentation</vt:lpstr>
      <vt:lpstr>Work time  ·  20 minutes</vt:lpstr>
      <vt:lpstr>PowerPoint Presentation</vt:lpstr>
      <vt:lpstr>References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Humans in the Loop: AI for Learning and Research</dc:title>
  <dc:subject>PptxGenJS Presentation</dc:subject>
  <dc:creator>Megan Alstot</dc:creator>
  <cp:lastModifiedBy>Alstot, Megan</cp:lastModifiedBy>
  <cp:revision>26</cp:revision>
  <dcterms:created xsi:type="dcterms:W3CDTF">2026-10-13T14:34:28Z</dcterms:created>
  <dcterms:modified xsi:type="dcterms:W3CDTF">2026-10-16T13:05:15Z</dcterms:modified>
</cp:coreProperties>
</file>